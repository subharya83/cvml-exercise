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4" r:id="rId18"/>
    <p:sldId id="275" r:id="rId19"/>
    <p:sldId id="270" r:id="rId20"/>
    <p:sldId id="271"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10"/>
  </p:normalViewPr>
  <p:slideViewPr>
    <p:cSldViewPr snapToGrid="0" snapToObjects="1">
      <p:cViewPr varScale="1">
        <p:scale>
          <a:sx n="116" d="100"/>
          <a:sy n="116" d="100"/>
        </p:scale>
        <p:origin x="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93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personal connection: graduated CSE from this college in 2003, now working in ML/computer vision. Set the promise: by the end of this hour, a VLM will look like a sequence of matrix operations you already have the tools to understand, not a black box. Keep this to 2-3 minutes.
---
IMAGE PROMPT (for AI image generator):
A dark navy-to-teal gradient background with a subtle abstract network of glowing nodes and connecting lines forming a loose neural network pattern in the upper right corner, minimalist, professional tech conference title slide aesthetic, no text, no logos, soft amber accent light source, 16:9 wide composition with empty space on the left two-thirds for text overlay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Establish the frame: not going to derive transformer math from scratch — instead connect concepts they already have (vectors, matrices, derivatives) to what actually happens inside a VLM. Ask a rhetorical question: 'How many of you have taken a linear algebra course? Now — how many of you know that's 80% of what runs inside GPT-4V?' Use this to build energy.
---
IMAGE PROMPT (for AI image generator):
A clean minimalist illustration showing a bridge made of geometric shapes (matrices, vectors as arrows, sigma symbols) connecting a university lecture hall icon on the left to a futuristic AI chip/neural network icon on the right, flat design, teal and navy color palette, editorial infographic style, no text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Draw the pipeline verbally: image -&gt; patches -&gt; embeddings -&gt; transformer layers -&gt; fused with text tokens -&gt; next-token prediction. Plant the core insight early since everything after this slide is unpacking these three boxes mathematically.
---
IMAGE PROMPT (for AI image generator):
A clean flat-design technical diagram showing three connected rectangular boxes in a horizontal pipeline: first box contains a simple image icon transforming into a grid of small squares (patches), second box shows a funnel/adapter shape with vector arrows passing through, third box shows a stack of horizontal bars representing a language model with a speech bubble output, connected by bold arrows, navy and teal color scheme, white background, infographic style, no text labels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Use the cat/kitten/airplane example on screen: 'cat' and 'kitten' point in nearly the same direction (small angle, high cosine similarity), 'airplane' points elsewhere. This is literally what similarity search and retrieval in VLMs relies on.
---
IMAGE PROMPT (for AI image generator):
A minimalist 2D vector diagram on white background: an origin point with three arrows radiating outward at different angles, two arrows (labeled conceptually as similar concepts) close together in navy and teal, one arrow far apart in amber/orange, small angle arc marked between the two close vectors, clean geometric educational textbook illustration style, thin grid lines, no clutter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Walk through the matrix-vector diagram on the right: the highlighted row of W combines with the whole vector x to produce one highlighted output value in y. Emphasize: every linear layer in every neural network is this operation, over and over, at different scales.
---
IMAGE PROMPT (for AI image generator):
A clean educational diagram showing matrix-vector multiplication: a 3x3 grid of small squares in light blue with one row highlighted in amber, multiplication symbol, a 3x1 column vector in teal, equals symbol, resulting 3x1 output vector with one highlighted amber cell, flat vector graphic style on white background, thin dividing lines between grid cells, textbook diagram aesthetic, no text labels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Keep this intuitive, not derivational — show the ellipse of scattered data with its principal axes. Connect forward: this is the same idea behind why we can compress embeddings and why variance-preserving directions matter for representation quality.
---
IMAGE PROMPT (for AI image generator):
A statistical scatter plot illustration on white background showing an elongated cloud of data points in light blue forming an ellipse shape tilted diagonally, with two perpendicular arrows overlaid showing the major axis in navy blue (longer, labeled as principal direction) and minor axis in amber/orange (shorter), clean scientific infographic style, thin axis lines, minimalist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 the most important slide of the section. Walk left to right across the four boxes slowly. This is the mechanism that lets a VLM connect a patch of pixels to a word. Reassure students: they already know matrix multiply and softmax (a normalized exponential) separately — attention is just composing the two they know.
---
IMAGE PROMPT (for AI image generator):
A dark navy background technical diagram showing a horizontal flow of four glowing geometric icons connected by arrows: a small trio of colored blocks labeled conceptually Q K V, then a grid/matrix icon, then a curve resembling a normalization function, then a fused glowing vector icon, amber and teal glow accents, futuristic scientific diagram style, high contrast, no text labels, clean minimal line 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Show the patch grid: an image is cut into a fixed grid, each patch flattened and passed through a linear layer to get a vector — same y = Wx + b from the earlier slide. Mention this is exactly the Vision Transformer (ViT) approach used in most modern VLM vision encoders.
---
IMAGE PROMPT (for AI image generator):
A step by step flat design diagram: on the left a photograph icon divided by grid lines into 16 equal square patches in light blue, an arrow pointing right showing the patches unfolding into a horizontal row of small rectangular vector blocks in navy blue, clean infographic educational style on white background, no text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Show the bowl-shaped loss curve with a ball resting at the bottom — the simplest possible mental model before adding gradient descent mechanics on the next slide.
---
IMAGE PROMPT (for AI image generator):
A simple clean 2D illustration of a smooth U-shaped bowl curve (parabola) drawn in navy blue on a white background, with a small glowing amber ball resting at the very bottom of the curve, minimal coordinate axes, textbook physics/optimization diagram style, soft shadow under the ball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Point at the dots descending the curve — each step is one gradient update. Ask: what happens if the steps are too big? (jump over the minimum, or off the curve entirely). Too small? (takes forever). This motivates the next slide on smarter optimizers.
---
IMAGE PROMPT (for AI image generator):
A clean 2D line graph on white background showing a downward curving line (like a ski slope) in teal, with a sequence of 5 connected dots getting progressively smaller/closer together as they descend toward the bottom, the last dot highlighted in amber/gold at the bottom, small arrows between each dot indicating direction of movement, minimalist scientific diagram, thin axis lines, no 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This is the mechanical engine behind all of training. Emphasize: they already know the chain rule from calculus — backprop is just applying it systematically across a huge graph of composed functions, and storing intermediate values efficiently. Don't derive it symbolically; keep it conceptual given time constraints.
---
IMAGE PROMPT (for AI image generator):
A dark background technical diagram showing a small directed graph with 4 circular nodes connected by arrows flowing left to right and top to bottom representing a neural network computation graph, teal glowing edges for forward pass, a second set of arrows in amber glowing color flowing in the reverse direction beneath representing backpropagation, minimalist futuristic diagram, high contrast dark theme, no text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Keep this at intuition level, not derivation. Momentum: like a ball rolling downhill gaining inertia. Adam: adapts the step size differently for each parameter based on how noisy/consistent its gradient has been. Loss landscape point is reassuring — counters the common misconception that training gets stuck in bad local minima.
---
IMAGE PROMPT (for AI image generator):
A flat layout infographic on white background with three rounded rectangle cards each containing a simple relevant icon: a rolling ball with motion trail for momentum, an adaptive dial/gauge icon for Adam optimizer, a wide card with a 3D saddle-shaped surface mesh for loss landscape, navy teal and amber color coding, clean modern icon set style, no text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Keep architectural detail light — this slide is conceptual sequencing, not implementation. Emphasize how the loss function itself changes shape across stages: contrastive loss, then supervised cross-entropy, then a preference-based objective. Same optimization machinery (gradient descent + backprop), different target.
---
IMAGE PROMPT (for AI image generator):
A horizontal three-stage pipeline infographic on white background, three rounded rectangle panels connected by amber arrows, each panel containing a distinct simple icon: a magnet pulling two shapes together for alignment stage, a checklist with a pencil for instruction tuning stage, a thumbs up and thumbs down balance scale for preference optimization stage, navy and teal color palette, clean flat icon illustration style, no text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Bring the talk full circle — these industry-standard efficiency techniques are direct applications of the linear algebra fundamentals from Section 2, not separate magic. Add a compute reality check verbally: this is exactly why matrix multiply parallelism is why we need GPUs.
---
IMAGE PROMPT (for AI image generator):
A dark themed technical infographic showing three horizontal glowing panels stacked vertically, each panel containing an abstract icon: a large matrix splitting into two smaller thin matrices for LoRA, a stack of numbered precision blocks shrinking in size for quantization, a speedometer/gauge icon for mixed precision, teal and amber glow on navy background, futuristic dashboard aesthetic, no text, high contrast minimal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interactive. Actually pause and take answers from the audience for the left question before revealing the guided answer. For the right panel, sketch a tiny concrete example on the whiteboard live if possible — 3 word tokens, 2 image patch tokens, and walk through one attention computation numerically or diagrammatically. This is the payoff moment where the abstract math becomes tangible.
---
IMAGE PROMPT (for AI image generator):
A friendly classroom illustration showing a whiteboard with a simple hand-drawn style diagram of small vector arrows and a grid connecting to speech bubble word tokens, chalk-style navy and amber lines on a white board background, warm inviting educational sketch aesthetic, no legible text, loose hand-drawn diagram feel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for close, then open 5 minutes for Q&amp;A (reserve this explicitly — technical audiences often want to probe specific math points). End on the personal note connecting your own journey from this exact college to this work today. Thank the department and organizers.
---
IMAGE PROMPT (for AI image generator):
A dark navy gradient background with a subtle glowing pathway or road made of small connected geometric nodes leading from a simple graduation cap icon in the lower left toward a glowing abstract AI brain/network icon in the upper right, minimal elegant motivational closing slide aesthetic, amber light trail, plenty of empty space for text overlay on the left, no text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6096000" y="0"/>
            <a:ext cx="5943600" cy="5943600"/>
          </a:xfrm>
          <a:prstGeom prst="ellipse">
            <a:avLst/>
          </a:prstGeom>
          <a:solidFill>
            <a:srgbClr val="065A82">
              <a:alpha val="45000"/>
            </a:srgbClr>
          </a:solidFill>
          <a:ln/>
        </p:spPr>
        <p:txBody>
          <a:bodyPr/>
          <a:lstStyle/>
          <a:p>
            <a:endParaRPr lang="en-US">
              <a:latin typeface="Aharoni" panose="02010803020104030203" pitchFamily="2" charset="-79"/>
              <a:cs typeface="Aharoni" panose="02010803020104030203" pitchFamily="2" charset="-79"/>
            </a:endParaRPr>
          </a:p>
        </p:txBody>
      </p:sp>
      <p:sp>
        <p:nvSpPr>
          <p:cNvPr id="3" name="Shape 1"/>
          <p:cNvSpPr/>
          <p:nvPr/>
        </p:nvSpPr>
        <p:spPr>
          <a:xfrm>
            <a:off x="8024343" y="2651760"/>
            <a:ext cx="4114800" cy="4114800"/>
          </a:xfrm>
          <a:prstGeom prst="ellipse">
            <a:avLst/>
          </a:prstGeom>
          <a:solidFill>
            <a:srgbClr val="1C7293">
              <a:alpha val="40000"/>
            </a:srgbClr>
          </a:solidFill>
          <a:ln/>
        </p:spPr>
        <p:txBody>
          <a:bodyPr/>
          <a:lstStyle/>
          <a:p>
            <a:endParaRPr lang="en-US">
              <a:latin typeface="Aharoni" panose="02010803020104030203" pitchFamily="2" charset="-79"/>
              <a:cs typeface="Aharoni" panose="02010803020104030203" pitchFamily="2" charset="-79"/>
            </a:endParaRPr>
          </a:p>
        </p:txBody>
      </p:sp>
      <p:sp>
        <p:nvSpPr>
          <p:cNvPr id="4" name="Text 2"/>
          <p:cNvSpPr/>
          <p:nvPr/>
        </p:nvSpPr>
        <p:spPr>
          <a:xfrm>
            <a:off x="731520" y="914400"/>
            <a:ext cx="82296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ASANSOL ENGINEERING COLLEGE  ·  ALUMNI TALK</a:t>
            </a:r>
            <a:endParaRPr lang="en-US" sz="1300" dirty="0">
              <a:latin typeface="Aharoni" panose="02010803020104030203" pitchFamily="2" charset="-79"/>
              <a:cs typeface="Aharoni" panose="02010803020104030203" pitchFamily="2" charset="-79"/>
            </a:endParaRPr>
          </a:p>
        </p:txBody>
      </p:sp>
      <p:sp>
        <p:nvSpPr>
          <p:cNvPr id="5" name="Text 3"/>
          <p:cNvSpPr/>
          <p:nvPr/>
        </p:nvSpPr>
        <p:spPr>
          <a:xfrm>
            <a:off x="731520" y="1371600"/>
            <a:ext cx="8686800" cy="2194560"/>
          </a:xfrm>
          <a:prstGeom prst="rect">
            <a:avLst/>
          </a:prstGeom>
          <a:noFill/>
          <a:ln/>
        </p:spPr>
        <p:txBody>
          <a:bodyPr wrap="square" rtlCol="0" anchor="ctr"/>
          <a:lstStyle/>
          <a:p>
            <a:pPr marL="0" indent="0">
              <a:lnSpc>
                <a:spcPts val="5000"/>
              </a:lnSpc>
              <a:buNone/>
            </a:pPr>
            <a:r>
              <a:rPr lang="en-US" sz="4400" b="1" dirty="0">
                <a:solidFill>
                  <a:srgbClr val="FFFFFF"/>
                </a:solidFill>
                <a:latin typeface="Aharoni" panose="02010803020104030203" pitchFamily="2" charset="-79"/>
                <a:ea typeface="Cambria" pitchFamily="34" charset="-122"/>
                <a:cs typeface="Aharoni" panose="02010803020104030203" pitchFamily="2" charset="-79"/>
              </a:rPr>
              <a:t>The Mathematics Behind</a:t>
            </a:r>
            <a:endParaRPr lang="en-US" sz="4400" dirty="0">
              <a:latin typeface="Aharoni" panose="02010803020104030203" pitchFamily="2" charset="-79"/>
              <a:cs typeface="Aharoni" panose="02010803020104030203" pitchFamily="2" charset="-79"/>
            </a:endParaRPr>
          </a:p>
          <a:p>
            <a:pPr marL="0" indent="0">
              <a:lnSpc>
                <a:spcPts val="5000"/>
              </a:lnSpc>
              <a:buNone/>
            </a:pPr>
            <a:r>
              <a:rPr lang="en-US" sz="4400" b="1" dirty="0">
                <a:solidFill>
                  <a:srgbClr val="FFFFFF"/>
                </a:solidFill>
                <a:latin typeface="Aharoni" panose="02010803020104030203" pitchFamily="2" charset="-79"/>
                <a:ea typeface="Cambria" pitchFamily="34" charset="-122"/>
                <a:cs typeface="Aharoni" panose="02010803020104030203" pitchFamily="2" charset="-79"/>
              </a:rPr>
              <a:t>Visual Language Models</a:t>
            </a:r>
            <a:endParaRPr lang="en-US" sz="4400" dirty="0">
              <a:latin typeface="Aharoni" panose="02010803020104030203" pitchFamily="2" charset="-79"/>
              <a:cs typeface="Aharoni" panose="02010803020104030203" pitchFamily="2" charset="-79"/>
            </a:endParaRPr>
          </a:p>
        </p:txBody>
      </p:sp>
      <p:sp>
        <p:nvSpPr>
          <p:cNvPr id="6" name="Text 4"/>
          <p:cNvSpPr/>
          <p:nvPr/>
        </p:nvSpPr>
        <p:spPr>
          <a:xfrm>
            <a:off x="731520" y="3566160"/>
            <a:ext cx="7772400" cy="548640"/>
          </a:xfrm>
          <a:prstGeom prst="rect">
            <a:avLst/>
          </a:prstGeom>
          <a:noFill/>
          <a:ln/>
        </p:spPr>
        <p:txBody>
          <a:bodyPr wrap="square" rtlCol="0" anchor="ctr"/>
          <a:lstStyle/>
          <a:p>
            <a:pPr marL="0" indent="0">
              <a:buNone/>
            </a:pPr>
            <a:r>
              <a:rPr lang="en-US" sz="1700" i="1" dirty="0">
                <a:solidFill>
                  <a:srgbClr val="CADCFC"/>
                </a:solidFill>
                <a:latin typeface="Aharoni" panose="02010803020104030203" pitchFamily="2" charset="-79"/>
                <a:ea typeface="Calibri" pitchFamily="34" charset="-122"/>
                <a:cs typeface="Aharoni" panose="02010803020104030203" pitchFamily="2" charset="-79"/>
              </a:rPr>
              <a:t>Linear algebra, calculus, and optimization — from your 2nd-year syllabus to GPT-4V</a:t>
            </a:r>
            <a:endParaRPr lang="en-US" sz="1700" dirty="0">
              <a:latin typeface="Aharoni" panose="02010803020104030203" pitchFamily="2" charset="-79"/>
              <a:cs typeface="Aharoni" panose="02010803020104030203" pitchFamily="2" charset="-79"/>
            </a:endParaRPr>
          </a:p>
        </p:txBody>
      </p:sp>
      <p:sp>
        <p:nvSpPr>
          <p:cNvPr id="7" name="Shape 5"/>
          <p:cNvSpPr/>
          <p:nvPr/>
        </p:nvSpPr>
        <p:spPr>
          <a:xfrm>
            <a:off x="731520" y="4343400"/>
            <a:ext cx="1280160" cy="0"/>
          </a:xfrm>
          <a:prstGeom prst="line">
            <a:avLst/>
          </a:prstGeom>
          <a:noFill/>
          <a:ln w="38100">
            <a:solidFill>
              <a:srgbClr val="F2A541"/>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8" name="Text 6"/>
          <p:cNvSpPr/>
          <p:nvPr/>
        </p:nvSpPr>
        <p:spPr>
          <a:xfrm>
            <a:off x="731520" y="4526280"/>
            <a:ext cx="5486400" cy="640080"/>
          </a:xfrm>
          <a:prstGeom prst="rect">
            <a:avLst/>
          </a:prstGeom>
          <a:noFill/>
          <a:ln/>
        </p:spPr>
        <p:txBody>
          <a:bodyPr wrap="square" rtlCol="0" anchor="ctr"/>
          <a:lstStyle/>
          <a:p>
            <a:pPr marL="0" indent="0">
              <a:buNone/>
            </a:pPr>
            <a:r>
              <a:rPr lang="en-US" sz="1300" dirty="0">
                <a:solidFill>
                  <a:srgbClr val="CADCFC"/>
                </a:solidFill>
                <a:latin typeface="Aharoni" panose="02010803020104030203" pitchFamily="2" charset="-79"/>
                <a:ea typeface="Calibri" pitchFamily="34" charset="-122"/>
                <a:cs typeface="Aharoni" panose="02010803020104030203" pitchFamily="2" charset="-79"/>
              </a:rPr>
              <a:t>Subhabrata Bhattacharya  ·  B.Tech CSE, Class of 2003</a:t>
            </a:r>
            <a:endParaRPr lang="en-US" sz="1300" dirty="0">
              <a:latin typeface="Aharoni" panose="02010803020104030203" pitchFamily="2" charset="-79"/>
              <a:cs typeface="Aharoni" panose="02010803020104030203" pitchFamily="2" charset="-79"/>
            </a:endParaRPr>
          </a:p>
          <a:p>
            <a:pPr marL="0" indent="0">
              <a:buNone/>
            </a:pPr>
            <a:r>
              <a:rPr lang="en-US" sz="1300" dirty="0">
                <a:solidFill>
                  <a:srgbClr val="CADCFC"/>
                </a:solidFill>
                <a:latin typeface="Aharoni" panose="02010803020104030203" pitchFamily="2" charset="-79"/>
                <a:ea typeface="Calibri" pitchFamily="34" charset="-122"/>
                <a:cs typeface="Aharoni" panose="02010803020104030203" pitchFamily="2" charset="-79"/>
              </a:rPr>
              <a:t>Machine Learning &amp; Computer Vision</a:t>
            </a:r>
            <a:endParaRPr lang="en-US" sz="1300" dirty="0">
              <a:latin typeface="Aharoni" panose="02010803020104030203" pitchFamily="2" charset="-79"/>
              <a:cs typeface="Aharoni" panose="02010803020104030203" pitchFamily="2" charset="-79"/>
            </a:endParaRPr>
          </a:p>
        </p:txBody>
      </p:sp>
      <p:sp>
        <p:nvSpPr>
          <p:cNvPr id="9" name="Text 7"/>
          <p:cNvSpPr/>
          <p:nvPr/>
        </p:nvSpPr>
        <p:spPr>
          <a:xfrm>
            <a:off x="731520" y="6126480"/>
            <a:ext cx="6500000" cy="365760"/>
          </a:xfrm>
          <a:prstGeom prst="rect">
            <a:avLst/>
          </a:prstGeom>
          <a:noFill/>
          <a:ln/>
        </p:spPr>
        <p:txBody>
          <a:bodyPr wrap="square" rtlCol="0" anchor="ctr"/>
          <a:lstStyle/>
          <a:p>
            <a:pPr marL="0" indent="0">
              <a:buNone/>
            </a:pPr>
            <a:r>
              <a:rPr lang="en-US" sz="1100" dirty="0">
                <a:solidFill>
                  <a:srgbClr val="6B7B85"/>
                </a:solidFill>
                <a:latin typeface="Aharoni" panose="02010803020104030203" pitchFamily="2" charset="-79"/>
                <a:ea typeface="Calibri" pitchFamily="34" charset="-122"/>
                <a:cs typeface="Aharoni" panose="02010803020104030203" pitchFamily="2" charset="-79"/>
              </a:rPr>
              <a:t>60-minute session  ·  Talk 1 of 3: Math → Build → Deploy</a:t>
            </a:r>
            <a:endParaRPr lang="en-US" sz="1100" dirty="0">
              <a:latin typeface="Aharoni" panose="02010803020104030203" pitchFamily="2" charset="-79"/>
              <a:cs typeface="Aharoni" panose="02010803020104030203" pitchFamily="2" charset="-79"/>
            </a:endParaRPr>
          </a:p>
        </p:txBody>
      </p:sp>
      <p:sp>
        <p:nvSpPr>
          <p:cNvPr id="11"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01</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Why this talk?</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1920240"/>
            <a:ext cx="502920" cy="502920"/>
          </a:xfrm>
          <a:prstGeom prst="ellipse">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548640" y="1920240"/>
            <a:ext cx="502920" cy="502920"/>
          </a:xfrm>
          <a:prstGeom prst="rect">
            <a:avLst/>
          </a:prstGeom>
          <a:noFill/>
          <a:ln/>
        </p:spPr>
        <p:txBody>
          <a:bodyPr wrap="square" rtlCol="0" anchor="ctr"/>
          <a:lstStyle/>
          <a:p>
            <a:pPr marL="0" indent="0" algn="ctr">
              <a:buNone/>
            </a:pPr>
            <a:r>
              <a:rPr lang="en-US" b="1" dirty="0">
                <a:solidFill>
                  <a:srgbClr val="FFFFFF"/>
                </a:solidFill>
                <a:latin typeface="Aharoni" panose="02010803020104030203" pitchFamily="2" charset="-79"/>
                <a:ea typeface="Calibri" pitchFamily="34" charset="-122"/>
                <a:cs typeface="Aharoni" panose="02010803020104030203" pitchFamily="2" charset="-79"/>
              </a:rPr>
              <a:t>1</a:t>
            </a:r>
            <a:endParaRPr lang="en-US" dirty="0">
              <a:latin typeface="Aharoni" panose="02010803020104030203" pitchFamily="2" charset="-79"/>
              <a:cs typeface="Aharoni" panose="02010803020104030203" pitchFamily="2" charset="-79"/>
            </a:endParaRPr>
          </a:p>
        </p:txBody>
      </p:sp>
      <p:sp>
        <p:nvSpPr>
          <p:cNvPr id="6" name="Text 4"/>
          <p:cNvSpPr/>
          <p:nvPr/>
        </p:nvSpPr>
        <p:spPr>
          <a:xfrm>
            <a:off x="1280160" y="1874520"/>
            <a:ext cx="9601200" cy="41148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VLMs look like magic</a:t>
            </a:r>
            <a:endParaRPr lang="en-US" dirty="0">
              <a:latin typeface="Aharoni" panose="02010803020104030203" pitchFamily="2" charset="-79"/>
              <a:cs typeface="Aharoni" panose="02010803020104030203" pitchFamily="2" charset="-79"/>
            </a:endParaRPr>
          </a:p>
        </p:txBody>
      </p:sp>
      <p:sp>
        <p:nvSpPr>
          <p:cNvPr id="7" name="Text 5"/>
          <p:cNvSpPr/>
          <p:nvPr/>
        </p:nvSpPr>
        <p:spPr>
          <a:xfrm>
            <a:off x="1280160" y="2304288"/>
            <a:ext cx="9601200" cy="54864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who's used ChatGPT, uploaded an image, and wondered what's happening inside?</a:t>
            </a:r>
            <a:endParaRPr lang="en-US" dirty="0">
              <a:latin typeface="Aharoni" panose="02010803020104030203" pitchFamily="2" charset="-79"/>
              <a:cs typeface="Aharoni" panose="02010803020104030203" pitchFamily="2" charset="-79"/>
            </a:endParaRPr>
          </a:p>
        </p:txBody>
      </p:sp>
      <p:sp>
        <p:nvSpPr>
          <p:cNvPr id="8" name="Shape 6"/>
          <p:cNvSpPr/>
          <p:nvPr/>
        </p:nvSpPr>
        <p:spPr>
          <a:xfrm>
            <a:off x="548640" y="3291840"/>
            <a:ext cx="502920" cy="502920"/>
          </a:xfrm>
          <a:prstGeom prst="ellipse">
            <a:avLst/>
          </a:prstGeom>
          <a:solidFill>
            <a:srgbClr val="1C7293"/>
          </a:solidFill>
          <a:ln/>
        </p:spPr>
        <p:txBody>
          <a:bodyPr/>
          <a:lstStyle/>
          <a:p>
            <a:endParaRPr lang="en-US">
              <a:latin typeface="Aharoni" panose="02010803020104030203" pitchFamily="2" charset="-79"/>
              <a:cs typeface="Aharoni" panose="02010803020104030203" pitchFamily="2" charset="-79"/>
            </a:endParaRPr>
          </a:p>
        </p:txBody>
      </p:sp>
      <p:sp>
        <p:nvSpPr>
          <p:cNvPr id="9" name="Text 7"/>
          <p:cNvSpPr/>
          <p:nvPr/>
        </p:nvSpPr>
        <p:spPr>
          <a:xfrm>
            <a:off x="548640" y="3291840"/>
            <a:ext cx="502920" cy="502920"/>
          </a:xfrm>
          <a:prstGeom prst="rect">
            <a:avLst/>
          </a:prstGeom>
          <a:noFill/>
          <a:ln/>
        </p:spPr>
        <p:txBody>
          <a:bodyPr wrap="square" rtlCol="0" anchor="ctr"/>
          <a:lstStyle/>
          <a:p>
            <a:pPr marL="0" indent="0" algn="ctr">
              <a:buNone/>
            </a:pPr>
            <a:r>
              <a:rPr lang="en-US" b="1" dirty="0">
                <a:solidFill>
                  <a:srgbClr val="FFFFFF"/>
                </a:solidFill>
                <a:latin typeface="Aharoni" panose="02010803020104030203" pitchFamily="2" charset="-79"/>
                <a:ea typeface="Calibri" pitchFamily="34" charset="-122"/>
                <a:cs typeface="Aharoni" panose="02010803020104030203" pitchFamily="2" charset="-79"/>
              </a:rPr>
              <a:t>2</a:t>
            </a:r>
            <a:endParaRPr lang="en-US" dirty="0">
              <a:latin typeface="Aharoni" panose="02010803020104030203" pitchFamily="2" charset="-79"/>
              <a:cs typeface="Aharoni" panose="02010803020104030203" pitchFamily="2" charset="-79"/>
            </a:endParaRPr>
          </a:p>
        </p:txBody>
      </p:sp>
      <p:sp>
        <p:nvSpPr>
          <p:cNvPr id="10" name="Text 8"/>
          <p:cNvSpPr/>
          <p:nvPr/>
        </p:nvSpPr>
        <p:spPr>
          <a:xfrm>
            <a:off x="1280160" y="3246120"/>
            <a:ext cx="9601200" cy="41148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Underneath: math you already study</a:t>
            </a:r>
            <a:endParaRPr lang="en-US" dirty="0">
              <a:latin typeface="Aharoni" panose="02010803020104030203" pitchFamily="2" charset="-79"/>
              <a:cs typeface="Aharoni" panose="02010803020104030203" pitchFamily="2" charset="-79"/>
            </a:endParaRPr>
          </a:p>
        </p:txBody>
      </p:sp>
      <p:sp>
        <p:nvSpPr>
          <p:cNvPr id="11" name="Text 9"/>
          <p:cNvSpPr/>
          <p:nvPr/>
        </p:nvSpPr>
        <p:spPr>
          <a:xfrm>
            <a:off x="1280160" y="3675888"/>
            <a:ext cx="9601200" cy="54864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Linear algebra + multivariable calculus + probability — applied at massive scale, not replaced by something new.</a:t>
            </a:r>
            <a:endParaRPr lang="en-US" dirty="0">
              <a:latin typeface="Aharoni" panose="02010803020104030203" pitchFamily="2" charset="-79"/>
              <a:cs typeface="Aharoni" panose="02010803020104030203" pitchFamily="2" charset="-79"/>
            </a:endParaRPr>
          </a:p>
        </p:txBody>
      </p:sp>
      <p:sp>
        <p:nvSpPr>
          <p:cNvPr id="12" name="Shape 10"/>
          <p:cNvSpPr/>
          <p:nvPr/>
        </p:nvSpPr>
        <p:spPr>
          <a:xfrm>
            <a:off x="548640" y="4663440"/>
            <a:ext cx="502920" cy="502920"/>
          </a:xfrm>
          <a:prstGeom prst="ellipse">
            <a:avLst/>
          </a:prstGeom>
          <a:solidFill>
            <a:srgbClr val="F2A541"/>
          </a:solidFill>
          <a:ln/>
        </p:spPr>
        <p:txBody>
          <a:bodyPr/>
          <a:lstStyle/>
          <a:p>
            <a:endParaRPr lang="en-US">
              <a:latin typeface="Aharoni" panose="02010803020104030203" pitchFamily="2" charset="-79"/>
              <a:cs typeface="Aharoni" panose="02010803020104030203" pitchFamily="2" charset="-79"/>
            </a:endParaRPr>
          </a:p>
        </p:txBody>
      </p:sp>
      <p:sp>
        <p:nvSpPr>
          <p:cNvPr id="13" name="Text 11"/>
          <p:cNvSpPr/>
          <p:nvPr/>
        </p:nvSpPr>
        <p:spPr>
          <a:xfrm>
            <a:off x="548640" y="4663440"/>
            <a:ext cx="502920" cy="502920"/>
          </a:xfrm>
          <a:prstGeom prst="rect">
            <a:avLst/>
          </a:prstGeom>
          <a:noFill/>
          <a:ln/>
        </p:spPr>
        <p:txBody>
          <a:bodyPr wrap="square" rtlCol="0" anchor="ctr"/>
          <a:lstStyle/>
          <a:p>
            <a:pPr marL="0" indent="0" algn="ctr">
              <a:buNone/>
            </a:pPr>
            <a:r>
              <a:rPr lang="en-US" b="1" dirty="0">
                <a:solidFill>
                  <a:srgbClr val="FFFFFF"/>
                </a:solidFill>
                <a:latin typeface="Aharoni" panose="02010803020104030203" pitchFamily="2" charset="-79"/>
                <a:ea typeface="Calibri" pitchFamily="34" charset="-122"/>
                <a:cs typeface="Aharoni" panose="02010803020104030203" pitchFamily="2" charset="-79"/>
              </a:rPr>
              <a:t>3</a:t>
            </a:r>
            <a:endParaRPr lang="en-US" dirty="0">
              <a:latin typeface="Aharoni" panose="02010803020104030203" pitchFamily="2" charset="-79"/>
              <a:cs typeface="Aharoni" panose="02010803020104030203" pitchFamily="2" charset="-79"/>
            </a:endParaRPr>
          </a:p>
        </p:txBody>
      </p:sp>
      <p:sp>
        <p:nvSpPr>
          <p:cNvPr id="14" name="Text 12"/>
          <p:cNvSpPr/>
          <p:nvPr/>
        </p:nvSpPr>
        <p:spPr>
          <a:xfrm>
            <a:off x="1280160" y="4617720"/>
            <a:ext cx="9601200" cy="41148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Goal for today</a:t>
            </a:r>
            <a:endParaRPr lang="en-US" dirty="0">
              <a:latin typeface="Aharoni" panose="02010803020104030203" pitchFamily="2" charset="-79"/>
              <a:cs typeface="Aharoni" panose="02010803020104030203" pitchFamily="2" charset="-79"/>
            </a:endParaRPr>
          </a:p>
        </p:txBody>
      </p:sp>
      <p:sp>
        <p:nvSpPr>
          <p:cNvPr id="15" name="Text 13"/>
          <p:cNvSpPr/>
          <p:nvPr/>
        </p:nvSpPr>
        <p:spPr>
          <a:xfrm>
            <a:off x="1280160" y="5047488"/>
            <a:ext cx="9601200" cy="54864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In 2003 I sat where you sit. The math didn't change — let's trace it through one red car.</a:t>
            </a:r>
            <a:endParaRPr lang="en-US" dirty="0">
              <a:latin typeface="Aharoni" panose="02010803020104030203" pitchFamily="2" charset="-79"/>
              <a:cs typeface="Aharoni" panose="02010803020104030203" pitchFamily="2" charset="-79"/>
            </a:endParaRPr>
          </a:p>
        </p:txBody>
      </p:sp>
      <p:sp>
        <p:nvSpPr>
          <p:cNvPr id="20" name="SeriesNote"/>
          <p:cNvSpPr/>
          <p:nvPr/>
        </p:nvSpPr>
        <p:spPr>
          <a:xfrm>
            <a:off x="548640" y="5852160"/>
            <a:ext cx="10515600" cy="365760"/>
          </a:xfrm>
          <a:prstGeom prst="rect">
            <a:avLst/>
          </a:prstGeom>
          <a:noFill/>
          <a:ln/>
        </p:spPr>
        <p:txBody>
          <a:bodyPr wrap="square" rtlCol="0" anchor="ctr"/>
          <a:lstStyle/>
          <a:p>
            <a:pPr marL="0" indent="0">
              <a:buNone/>
            </a:pPr>
            <a:r>
              <a:rPr lang="en-US" sz="1300" i="1" dirty="0">
                <a:solidFill>
                  <a:srgbClr val="6B7B85"/>
                </a:solidFill>
                <a:latin typeface="Aharoni" panose="02010803020104030203" pitchFamily="2" charset="-79"/>
                <a:ea typeface="Calibri" pitchFamily="34" charset="-122"/>
                <a:cs typeface="Aharoni" panose="02010803020104030203" pitchFamily="2" charset="-79"/>
              </a:rPr>
              <a:t>This talk: the math. Talks 2–3: building and deploying a VLM yourself.</a:t>
            </a:r>
          </a:p>
        </p:txBody>
      </p:sp>
      <p:sp>
        <p:nvSpPr>
          <p:cNvPr id="17"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02</a:t>
            </a:r>
            <a:endParaRPr lang="en-US" sz="1000" dirty="0">
              <a:latin typeface="Aharoni" panose="02010803020104030203" pitchFamily="2" charset="-79"/>
              <a:cs typeface="Aharoni" panose="02010803020104030203" pitchFamily="2" charset="-79"/>
            </a:endParaRPr>
          </a:p>
        </p:txBody>
      </p:sp>
      <p:pic>
        <p:nvPicPr>
          <p:cNvPr id="2" name="Picture 1" descr="Cartoon Moving Red Car Stock Footage Video (100% Royalty-free) 1016450806 |  Shutterstock">
            <a:extLst>
              <a:ext uri="{FF2B5EF4-FFF2-40B4-BE49-F238E27FC236}">
                <a16:creationId xmlns:a16="http://schemas.microsoft.com/office/drawing/2014/main" id="{A4C5F833-3BFD-8FDD-672E-11E4AE8AC0F5}"/>
              </a:ext>
            </a:extLst>
          </p:cNvPr>
          <p:cNvPicPr>
            <a:picLocks noChangeAspect="1"/>
          </p:cNvPicPr>
          <p:nvPr/>
        </p:nvPicPr>
        <p:blipFill>
          <a:blip r:embed="rId3"/>
          <a:stretch>
            <a:fillRect/>
          </a:stretch>
        </p:blipFill>
        <p:spPr>
          <a:xfrm>
            <a:off x="7477638" y="5422392"/>
            <a:ext cx="2090482" cy="1175896"/>
          </a:xfrm>
          <a:prstGeom prst="rect">
            <a:avLst/>
          </a:prstGeom>
        </p:spPr>
      </p:pic>
      <p:sp>
        <p:nvSpPr>
          <p:cNvPr id="16" name="Text 4">
            <a:extLst>
              <a:ext uri="{FF2B5EF4-FFF2-40B4-BE49-F238E27FC236}">
                <a16:creationId xmlns:a16="http://schemas.microsoft.com/office/drawing/2014/main" id="{E3270E02-4EC2-F587-F1E9-4DE428606E64}"/>
              </a:ext>
            </a:extLst>
          </p:cNvPr>
          <p:cNvSpPr/>
          <p:nvPr/>
        </p:nvSpPr>
        <p:spPr>
          <a:xfrm>
            <a:off x="9842440" y="5661189"/>
            <a:ext cx="1267520" cy="746134"/>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One red car</a:t>
            </a:r>
            <a:endParaRPr lang="en-US" sz="1500" dirty="0">
              <a:latin typeface="Aharoni" panose="02010803020104030203" pitchFamily="2" charset="-79"/>
              <a:cs typeface="Aharoni" panose="02010803020104030203" pitchFamily="2" charset="-79"/>
            </a:endParaRPr>
          </a:p>
        </p:txBody>
      </p:sp>
      <p:cxnSp>
        <p:nvCxnSpPr>
          <p:cNvPr id="18" name="Straight Connector 17">
            <a:extLst>
              <a:ext uri="{FF2B5EF4-FFF2-40B4-BE49-F238E27FC236}">
                <a16:creationId xmlns:a16="http://schemas.microsoft.com/office/drawing/2014/main" id="{B3ED4393-A937-DB84-F4C4-C11F602DE978}"/>
              </a:ext>
            </a:extLst>
          </p:cNvPr>
          <p:cNvCxnSpPr/>
          <p:nvPr/>
        </p:nvCxnSpPr>
        <p:spPr>
          <a:xfrm>
            <a:off x="8531057" y="5392562"/>
            <a:ext cx="0" cy="12266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Text 4">
            <a:extLst>
              <a:ext uri="{FF2B5EF4-FFF2-40B4-BE49-F238E27FC236}">
                <a16:creationId xmlns:a16="http://schemas.microsoft.com/office/drawing/2014/main" id="{9C3618E6-8699-1597-B063-B3EBED8FA9DB}"/>
              </a:ext>
            </a:extLst>
          </p:cNvPr>
          <p:cNvSpPr/>
          <p:nvPr/>
        </p:nvSpPr>
        <p:spPr>
          <a:xfrm>
            <a:off x="7248297" y="6368793"/>
            <a:ext cx="1267520" cy="746134"/>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Patch 1</a:t>
            </a:r>
            <a:endParaRPr lang="en-US" sz="1500" dirty="0">
              <a:latin typeface="Aharoni" panose="02010803020104030203" pitchFamily="2" charset="-79"/>
              <a:cs typeface="Aharoni" panose="02010803020104030203" pitchFamily="2" charset="-79"/>
            </a:endParaRPr>
          </a:p>
        </p:txBody>
      </p:sp>
      <p:sp>
        <p:nvSpPr>
          <p:cNvPr id="21" name="Text 4">
            <a:extLst>
              <a:ext uri="{FF2B5EF4-FFF2-40B4-BE49-F238E27FC236}">
                <a16:creationId xmlns:a16="http://schemas.microsoft.com/office/drawing/2014/main" id="{6A85AA99-9F32-D773-7350-A45CBD0D59D6}"/>
              </a:ext>
            </a:extLst>
          </p:cNvPr>
          <p:cNvSpPr/>
          <p:nvPr/>
        </p:nvSpPr>
        <p:spPr>
          <a:xfrm>
            <a:off x="8686247" y="6361486"/>
            <a:ext cx="1267520" cy="746134"/>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Patch 2</a:t>
            </a:r>
            <a:endParaRPr lang="en-US" sz="1500" dirty="0">
              <a:latin typeface="Aharoni" panose="02010803020104030203" pitchFamily="2" charset="-79"/>
              <a:cs typeface="Aharoni" panose="02010803020104030203" pitchFamily="2" charset="-79"/>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1</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What is a Visual Language Model, structurally?</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2103120"/>
            <a:ext cx="3566160" cy="2377440"/>
          </a:xfrm>
          <a:prstGeom prst="roundRect">
            <a:avLst>
              <a:gd name="adj" fmla="val 4615"/>
            </a:avLst>
          </a:prstGeom>
          <a:solidFill>
            <a:srgbClr val="F4F7F9"/>
          </a:solidFill>
          <a:ln w="190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5" name="Shape 3"/>
          <p:cNvSpPr/>
          <p:nvPr/>
        </p:nvSpPr>
        <p:spPr>
          <a:xfrm>
            <a:off x="822960" y="2377440"/>
            <a:ext cx="457200" cy="457200"/>
          </a:xfrm>
          <a:prstGeom prst="ellipse">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6" name="Text 4"/>
          <p:cNvSpPr/>
          <p:nvPr/>
        </p:nvSpPr>
        <p:spPr>
          <a:xfrm>
            <a:off x="822960" y="2377440"/>
            <a:ext cx="457200" cy="457200"/>
          </a:xfrm>
          <a:prstGeom prst="rect">
            <a:avLst/>
          </a:prstGeom>
          <a:noFill/>
          <a:ln/>
        </p:spPr>
        <p:txBody>
          <a:bodyPr wrap="square" rtlCol="0" anchor="ctr"/>
          <a:lstStyle/>
          <a:p>
            <a:pPr marL="0" indent="0" algn="ctr">
              <a:buNone/>
            </a:pPr>
            <a:r>
              <a:rPr lang="en-US" b="1" dirty="0">
                <a:solidFill>
                  <a:srgbClr val="FFFFFF"/>
                </a:solidFill>
                <a:latin typeface="Aharoni" panose="02010803020104030203" pitchFamily="2" charset="-79"/>
                <a:ea typeface="Calibri" pitchFamily="34" charset="-122"/>
                <a:cs typeface="Aharoni" panose="02010803020104030203" pitchFamily="2" charset="-79"/>
              </a:rPr>
              <a:t>1</a:t>
            </a:r>
            <a:endParaRPr lang="en-US" dirty="0">
              <a:latin typeface="Aharoni" panose="02010803020104030203" pitchFamily="2" charset="-79"/>
              <a:cs typeface="Aharoni" panose="02010803020104030203" pitchFamily="2" charset="-79"/>
            </a:endParaRPr>
          </a:p>
        </p:txBody>
      </p:sp>
      <p:sp>
        <p:nvSpPr>
          <p:cNvPr id="7" name="Text 5"/>
          <p:cNvSpPr/>
          <p:nvPr/>
        </p:nvSpPr>
        <p:spPr>
          <a:xfrm>
            <a:off x="822960" y="2971800"/>
            <a:ext cx="3017520" cy="45720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Vision Encoder</a:t>
            </a:r>
            <a:endParaRPr lang="en-US" dirty="0">
              <a:latin typeface="Aharoni" panose="02010803020104030203" pitchFamily="2" charset="-79"/>
              <a:cs typeface="Aharoni" panose="02010803020104030203" pitchFamily="2" charset="-79"/>
            </a:endParaRPr>
          </a:p>
        </p:txBody>
      </p:sp>
      <p:sp>
        <p:nvSpPr>
          <p:cNvPr id="8" name="Text 6"/>
          <p:cNvSpPr/>
          <p:nvPr/>
        </p:nvSpPr>
        <p:spPr>
          <a:xfrm>
            <a:off x="822960" y="3429000"/>
            <a:ext cx="3017520" cy="91440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Image → patches → vectors</a:t>
            </a:r>
            <a:endParaRPr lang="en-US" dirty="0">
              <a:latin typeface="Aharoni" panose="02010803020104030203" pitchFamily="2" charset="-79"/>
              <a:cs typeface="Aharoni" panose="02010803020104030203" pitchFamily="2" charset="-79"/>
            </a:endParaRPr>
          </a:p>
        </p:txBody>
      </p:sp>
      <p:sp>
        <p:nvSpPr>
          <p:cNvPr id="9" name="Text 7"/>
          <p:cNvSpPr/>
          <p:nvPr/>
        </p:nvSpPr>
        <p:spPr>
          <a:xfrm>
            <a:off x="4133088" y="2926080"/>
            <a:ext cx="457200" cy="548640"/>
          </a:xfrm>
          <a:prstGeom prst="rect">
            <a:avLst/>
          </a:prstGeom>
          <a:noFill/>
          <a:ln/>
        </p:spPr>
        <p:txBody>
          <a:bodyPr wrap="square" rtlCol="0" anchor="ctr"/>
          <a:lstStyle/>
          <a:p>
            <a:pPr marL="0" indent="0" algn="ctr">
              <a:buNone/>
            </a:pPr>
            <a:r>
              <a:rPr lang="en-US" b="1" dirty="0">
                <a:solidFill>
                  <a:srgbClr val="F2A541"/>
                </a:solidFill>
                <a:latin typeface="Aharoni" panose="02010803020104030203" pitchFamily="2" charset="-79"/>
                <a:cs typeface="Aharoni" panose="02010803020104030203" pitchFamily="2" charset="-79"/>
              </a:rPr>
              <a:t>→</a:t>
            </a:r>
            <a:endParaRPr lang="en-US" dirty="0">
              <a:latin typeface="Aharoni" panose="02010803020104030203" pitchFamily="2" charset="-79"/>
              <a:cs typeface="Aharoni" panose="02010803020104030203" pitchFamily="2" charset="-79"/>
            </a:endParaRPr>
          </a:p>
        </p:txBody>
      </p:sp>
      <p:sp>
        <p:nvSpPr>
          <p:cNvPr id="10" name="Shape 8"/>
          <p:cNvSpPr/>
          <p:nvPr/>
        </p:nvSpPr>
        <p:spPr>
          <a:xfrm>
            <a:off x="4617720" y="2103120"/>
            <a:ext cx="3566160" cy="2377440"/>
          </a:xfrm>
          <a:prstGeom prst="roundRect">
            <a:avLst>
              <a:gd name="adj" fmla="val 4615"/>
            </a:avLst>
          </a:prstGeom>
          <a:solidFill>
            <a:srgbClr val="F4F7F9"/>
          </a:solidFill>
          <a:ln w="190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1" name="Shape 9"/>
          <p:cNvSpPr/>
          <p:nvPr/>
        </p:nvSpPr>
        <p:spPr>
          <a:xfrm>
            <a:off x="4892040" y="2377440"/>
            <a:ext cx="457200" cy="457200"/>
          </a:xfrm>
          <a:prstGeom prst="ellipse">
            <a:avLst/>
          </a:prstGeom>
          <a:solidFill>
            <a:srgbClr val="1C7293"/>
          </a:solidFill>
          <a:ln/>
        </p:spPr>
        <p:txBody>
          <a:bodyPr/>
          <a:lstStyle/>
          <a:p>
            <a:endParaRPr lang="en-US">
              <a:latin typeface="Aharoni" panose="02010803020104030203" pitchFamily="2" charset="-79"/>
              <a:cs typeface="Aharoni" panose="02010803020104030203" pitchFamily="2" charset="-79"/>
            </a:endParaRPr>
          </a:p>
        </p:txBody>
      </p:sp>
      <p:sp>
        <p:nvSpPr>
          <p:cNvPr id="12" name="Text 10"/>
          <p:cNvSpPr/>
          <p:nvPr/>
        </p:nvSpPr>
        <p:spPr>
          <a:xfrm>
            <a:off x="4892040" y="2377440"/>
            <a:ext cx="457200" cy="457200"/>
          </a:xfrm>
          <a:prstGeom prst="rect">
            <a:avLst/>
          </a:prstGeom>
          <a:noFill/>
          <a:ln/>
        </p:spPr>
        <p:txBody>
          <a:bodyPr wrap="square" rtlCol="0" anchor="ctr"/>
          <a:lstStyle/>
          <a:p>
            <a:pPr marL="0" indent="0" algn="ctr">
              <a:buNone/>
            </a:pPr>
            <a:r>
              <a:rPr lang="en-US" b="1" dirty="0">
                <a:solidFill>
                  <a:srgbClr val="FFFFFF"/>
                </a:solidFill>
                <a:latin typeface="Aharoni" panose="02010803020104030203" pitchFamily="2" charset="-79"/>
                <a:ea typeface="Calibri" pitchFamily="34" charset="-122"/>
                <a:cs typeface="Aharoni" panose="02010803020104030203" pitchFamily="2" charset="-79"/>
              </a:rPr>
              <a:t>2</a:t>
            </a:r>
            <a:endParaRPr lang="en-US" dirty="0">
              <a:latin typeface="Aharoni" panose="02010803020104030203" pitchFamily="2" charset="-79"/>
              <a:cs typeface="Aharoni" panose="02010803020104030203" pitchFamily="2" charset="-79"/>
            </a:endParaRPr>
          </a:p>
        </p:txBody>
      </p:sp>
      <p:sp>
        <p:nvSpPr>
          <p:cNvPr id="13" name="Text 11"/>
          <p:cNvSpPr/>
          <p:nvPr/>
        </p:nvSpPr>
        <p:spPr>
          <a:xfrm>
            <a:off x="4892040" y="2971800"/>
            <a:ext cx="3017520" cy="45720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Projector / Adapter</a:t>
            </a:r>
            <a:endParaRPr lang="en-US" dirty="0">
              <a:latin typeface="Aharoni" panose="02010803020104030203" pitchFamily="2" charset="-79"/>
              <a:cs typeface="Aharoni" panose="02010803020104030203" pitchFamily="2" charset="-79"/>
            </a:endParaRPr>
          </a:p>
        </p:txBody>
      </p:sp>
      <p:sp>
        <p:nvSpPr>
          <p:cNvPr id="14" name="Text 12"/>
          <p:cNvSpPr/>
          <p:nvPr/>
        </p:nvSpPr>
        <p:spPr>
          <a:xfrm>
            <a:off x="4892040" y="3429000"/>
            <a:ext cx="3017520" cy="91440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Aligns vision-space vectors to language-space vectors</a:t>
            </a:r>
            <a:endParaRPr lang="en-US" dirty="0">
              <a:latin typeface="Aharoni" panose="02010803020104030203" pitchFamily="2" charset="-79"/>
              <a:cs typeface="Aharoni" panose="02010803020104030203" pitchFamily="2" charset="-79"/>
            </a:endParaRPr>
          </a:p>
        </p:txBody>
      </p:sp>
      <p:sp>
        <p:nvSpPr>
          <p:cNvPr id="15" name="Text 13"/>
          <p:cNvSpPr/>
          <p:nvPr/>
        </p:nvSpPr>
        <p:spPr>
          <a:xfrm>
            <a:off x="8202168" y="2926080"/>
            <a:ext cx="457200" cy="548640"/>
          </a:xfrm>
          <a:prstGeom prst="rect">
            <a:avLst/>
          </a:prstGeom>
          <a:noFill/>
          <a:ln/>
        </p:spPr>
        <p:txBody>
          <a:bodyPr wrap="square" rtlCol="0" anchor="ctr"/>
          <a:lstStyle/>
          <a:p>
            <a:pPr marL="0" indent="0" algn="ctr">
              <a:buNone/>
            </a:pPr>
            <a:r>
              <a:rPr lang="en-US" b="1" dirty="0">
                <a:solidFill>
                  <a:srgbClr val="F2A541"/>
                </a:solidFill>
                <a:latin typeface="Aharoni" panose="02010803020104030203" pitchFamily="2" charset="-79"/>
                <a:cs typeface="Aharoni" panose="02010803020104030203" pitchFamily="2" charset="-79"/>
              </a:rPr>
              <a:t>→</a:t>
            </a:r>
            <a:endParaRPr lang="en-US" dirty="0">
              <a:latin typeface="Aharoni" panose="02010803020104030203" pitchFamily="2" charset="-79"/>
              <a:cs typeface="Aharoni" panose="02010803020104030203" pitchFamily="2" charset="-79"/>
            </a:endParaRPr>
          </a:p>
        </p:txBody>
      </p:sp>
      <p:sp>
        <p:nvSpPr>
          <p:cNvPr id="16" name="Shape 14"/>
          <p:cNvSpPr/>
          <p:nvPr/>
        </p:nvSpPr>
        <p:spPr>
          <a:xfrm>
            <a:off x="8686800" y="2103120"/>
            <a:ext cx="3227832" cy="2377440"/>
          </a:xfrm>
          <a:prstGeom prst="roundRect">
            <a:avLst>
              <a:gd name="adj" fmla="val 4615"/>
            </a:avLst>
          </a:prstGeom>
          <a:solidFill>
            <a:srgbClr val="F4F7F9"/>
          </a:solidFill>
          <a:ln w="19050">
            <a:solidFill>
              <a:srgbClr val="21295C"/>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7" name="Shape 15"/>
          <p:cNvSpPr/>
          <p:nvPr/>
        </p:nvSpPr>
        <p:spPr>
          <a:xfrm>
            <a:off x="8961120" y="2377440"/>
            <a:ext cx="457200" cy="457200"/>
          </a:xfrm>
          <a:prstGeom prst="ellipse">
            <a:avLst/>
          </a:prstGeom>
          <a:solidFill>
            <a:srgbClr val="21295C"/>
          </a:solidFill>
          <a:ln/>
        </p:spPr>
        <p:txBody>
          <a:bodyPr/>
          <a:lstStyle/>
          <a:p>
            <a:endParaRPr lang="en-US">
              <a:latin typeface="Aharoni" panose="02010803020104030203" pitchFamily="2" charset="-79"/>
              <a:cs typeface="Aharoni" panose="02010803020104030203" pitchFamily="2" charset="-79"/>
            </a:endParaRPr>
          </a:p>
        </p:txBody>
      </p:sp>
      <p:sp>
        <p:nvSpPr>
          <p:cNvPr id="18" name="Text 16"/>
          <p:cNvSpPr/>
          <p:nvPr/>
        </p:nvSpPr>
        <p:spPr>
          <a:xfrm>
            <a:off x="8961120" y="2377440"/>
            <a:ext cx="457200" cy="457200"/>
          </a:xfrm>
          <a:prstGeom prst="rect">
            <a:avLst/>
          </a:prstGeom>
          <a:noFill/>
          <a:ln/>
        </p:spPr>
        <p:txBody>
          <a:bodyPr wrap="square" rtlCol="0" anchor="ctr"/>
          <a:lstStyle/>
          <a:p>
            <a:pPr marL="0" indent="0" algn="ctr">
              <a:buNone/>
            </a:pPr>
            <a:r>
              <a:rPr lang="en-US" b="1" dirty="0">
                <a:solidFill>
                  <a:srgbClr val="FFFFFF"/>
                </a:solidFill>
                <a:latin typeface="Aharoni" panose="02010803020104030203" pitchFamily="2" charset="-79"/>
                <a:ea typeface="Calibri" pitchFamily="34" charset="-122"/>
                <a:cs typeface="Aharoni" panose="02010803020104030203" pitchFamily="2" charset="-79"/>
              </a:rPr>
              <a:t>3</a:t>
            </a:r>
            <a:endParaRPr lang="en-US" dirty="0">
              <a:latin typeface="Aharoni" panose="02010803020104030203" pitchFamily="2" charset="-79"/>
              <a:cs typeface="Aharoni" panose="02010803020104030203" pitchFamily="2" charset="-79"/>
            </a:endParaRPr>
          </a:p>
        </p:txBody>
      </p:sp>
      <p:sp>
        <p:nvSpPr>
          <p:cNvPr id="19" name="Text 17"/>
          <p:cNvSpPr/>
          <p:nvPr/>
        </p:nvSpPr>
        <p:spPr>
          <a:xfrm>
            <a:off x="8961120" y="2971800"/>
            <a:ext cx="3017520" cy="45720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Language Model</a:t>
            </a:r>
            <a:endParaRPr lang="en-US" dirty="0">
              <a:latin typeface="Aharoni" panose="02010803020104030203" pitchFamily="2" charset="-79"/>
              <a:cs typeface="Aharoni" panose="02010803020104030203" pitchFamily="2" charset="-79"/>
            </a:endParaRPr>
          </a:p>
        </p:txBody>
      </p:sp>
      <p:sp>
        <p:nvSpPr>
          <p:cNvPr id="20" name="Text 18"/>
          <p:cNvSpPr/>
          <p:nvPr/>
        </p:nvSpPr>
        <p:spPr>
          <a:xfrm>
            <a:off x="8961120" y="3429000"/>
            <a:ext cx="3017520" cy="91440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Vectors → next-token predictions → text</a:t>
            </a:r>
            <a:endParaRPr lang="en-US" dirty="0">
              <a:latin typeface="Aharoni" panose="02010803020104030203" pitchFamily="2" charset="-79"/>
              <a:cs typeface="Aharoni" panose="02010803020104030203" pitchFamily="2" charset="-79"/>
            </a:endParaRPr>
          </a:p>
        </p:txBody>
      </p:sp>
      <p:sp>
        <p:nvSpPr>
          <p:cNvPr id="21" name="Text 19"/>
          <p:cNvSpPr/>
          <p:nvPr/>
        </p:nvSpPr>
        <p:spPr>
          <a:xfrm>
            <a:off x="548640" y="4892040"/>
            <a:ext cx="10058400" cy="36576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libri" pitchFamily="34" charset="-122"/>
                <a:cs typeface="Aharoni" panose="02010803020104030203" pitchFamily="2" charset="-79"/>
              </a:rPr>
              <a:t>Core idea to hold onto:</a:t>
            </a:r>
            <a:endParaRPr lang="en-US" dirty="0">
              <a:latin typeface="Aharoni" panose="02010803020104030203" pitchFamily="2" charset="-79"/>
              <a:cs typeface="Aharoni" panose="02010803020104030203" pitchFamily="2" charset="-79"/>
            </a:endParaRPr>
          </a:p>
        </p:txBody>
      </p:sp>
      <p:sp>
        <p:nvSpPr>
          <p:cNvPr id="22" name="Text 20"/>
          <p:cNvSpPr/>
          <p:nvPr/>
        </p:nvSpPr>
        <p:spPr>
          <a:xfrm>
            <a:off x="548640" y="5257800"/>
            <a:ext cx="10515600" cy="548640"/>
          </a:xfrm>
          <a:prstGeom prst="rect">
            <a:avLst/>
          </a:prstGeom>
          <a:noFill/>
          <a:ln/>
        </p:spPr>
        <p:txBody>
          <a:bodyPr wrap="square" rtlCol="0" anchor="ctr"/>
          <a:lstStyle/>
          <a:p>
            <a:pPr marL="0" indent="0">
              <a:buNone/>
            </a:pPr>
            <a:r>
              <a:rPr lang="en-US" i="1" dirty="0">
                <a:solidFill>
                  <a:srgbClr val="1C7293"/>
                </a:solidFill>
                <a:latin typeface="Aharoni" panose="02010803020104030203" pitchFamily="2" charset="-79"/>
                <a:ea typeface="Calibri" pitchFamily="34" charset="-122"/>
                <a:cs typeface="Aharoni" panose="02010803020104030203" pitchFamily="2" charset="-79"/>
              </a:rPr>
              <a:t>Everything is a tensor transformation. Training = adjusting the numbers inside matrices so outputs match reality.</a:t>
            </a:r>
            <a:endParaRPr lang="en-US" dirty="0">
              <a:latin typeface="Aharoni" panose="02010803020104030203" pitchFamily="2" charset="-79"/>
              <a:cs typeface="Aharoni" panose="02010803020104030203" pitchFamily="2" charset="-79"/>
            </a:endParaRPr>
          </a:p>
        </p:txBody>
      </p:sp>
      <p:sp>
        <p:nvSpPr>
          <p:cNvPr id="24" name="Text 21"/>
          <p:cNvSpPr/>
          <p:nvPr/>
        </p:nvSpPr>
        <p:spPr>
          <a:xfrm>
            <a:off x="11365992" y="6355080"/>
            <a:ext cx="548640" cy="320040"/>
          </a:xfrm>
          <a:prstGeom prst="rect">
            <a:avLst/>
          </a:prstGeom>
          <a:noFill/>
          <a:ln/>
        </p:spPr>
        <p:txBody>
          <a:bodyPr wrap="square" rtlCol="0" anchor="ctr"/>
          <a:lstStyle/>
          <a:p>
            <a:pPr marL="0" indent="0" algn="r">
              <a:buNone/>
            </a:pPr>
            <a:r>
              <a:rPr lang="en-US" dirty="0">
                <a:solidFill>
                  <a:srgbClr val="6B7B85"/>
                </a:solidFill>
                <a:latin typeface="Aharoni" panose="02010803020104030203" pitchFamily="2" charset="-79"/>
                <a:ea typeface="Calibri" pitchFamily="34" charset="-122"/>
                <a:cs typeface="Aharoni" panose="02010803020104030203" pitchFamily="2" charset="-79"/>
              </a:rPr>
              <a:t>03</a:t>
            </a:r>
            <a:endParaRPr lang="en-US" dirty="0">
              <a:latin typeface="Aharoni" panose="02010803020104030203" pitchFamily="2" charset="-79"/>
              <a:cs typeface="Aharoni" panose="02010803020104030203" pitchFamily="2" charset="-79"/>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2 · LINEAR ALGEBRA</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Vectors &amp; Vector Spaces</a:t>
            </a:r>
            <a:endParaRPr lang="en-US" sz="3200" dirty="0">
              <a:latin typeface="Aharoni" panose="02010803020104030203" pitchFamily="2" charset="-79"/>
              <a:cs typeface="Aharoni" panose="02010803020104030203" pitchFamily="2" charset="-79"/>
            </a:endParaRPr>
          </a:p>
        </p:txBody>
      </p:sp>
      <p:sp>
        <p:nvSpPr>
          <p:cNvPr id="4" name="Text 2"/>
          <p:cNvSpPr/>
          <p:nvPr/>
        </p:nvSpPr>
        <p:spPr>
          <a:xfrm>
            <a:off x="548640" y="1920240"/>
            <a:ext cx="6035040" cy="2377440"/>
          </a:xfrm>
          <a:prstGeom prst="rect">
            <a:avLst/>
          </a:prstGeom>
          <a:noFill/>
          <a:ln/>
        </p:spPr>
        <p:txBody>
          <a:bodyPr wrap="square" rtlCol="0" anchor="t"/>
          <a:lstStyle/>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Embeddings are just points (vectors) in a high-dimensional space</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Dimension = capacity to represent distinct shades of meaning</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Cosine similarity / dot product = a numeric measure of “meaning closeness”</a:t>
            </a:r>
            <a:endParaRPr lang="en-US" dirty="0">
              <a:latin typeface="Aharoni" panose="02010803020104030203" pitchFamily="2" charset="-79"/>
              <a:cs typeface="Aharoni" panose="02010803020104030203" pitchFamily="2" charset="-79"/>
            </a:endParaRPr>
          </a:p>
        </p:txBody>
      </p:sp>
      <p:sp>
        <p:nvSpPr>
          <p:cNvPr id="5" name="Shape 3"/>
          <p:cNvSpPr/>
          <p:nvPr/>
        </p:nvSpPr>
        <p:spPr>
          <a:xfrm>
            <a:off x="5669280" y="4572000"/>
            <a:ext cx="3657600" cy="0"/>
          </a:xfrm>
          <a:prstGeom prst="line">
            <a:avLst/>
          </a:prstGeom>
          <a:noFill/>
          <a:ln w="12700">
            <a:solidFill>
              <a:srgbClr val="C7D3D9"/>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6" name="Shape 4"/>
          <p:cNvSpPr/>
          <p:nvPr/>
        </p:nvSpPr>
        <p:spPr>
          <a:xfrm>
            <a:off x="7498080" y="1737360"/>
            <a:ext cx="0" cy="2834640"/>
          </a:xfrm>
          <a:prstGeom prst="line">
            <a:avLst/>
          </a:prstGeom>
          <a:noFill/>
          <a:ln w="12700">
            <a:solidFill>
              <a:srgbClr val="C7D3D9"/>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7" name="Shape 5"/>
          <p:cNvSpPr/>
          <p:nvPr/>
        </p:nvSpPr>
        <p:spPr>
          <a:xfrm>
            <a:off x="7498080" y="4572000"/>
            <a:ext cx="1554480" cy="0"/>
          </a:xfrm>
          <a:prstGeom prst="line">
            <a:avLst/>
          </a:prstGeom>
          <a:noFill/>
          <a:ln w="31750">
            <a:solidFill>
              <a:srgbClr val="065A82"/>
            </a:solidFill>
            <a:prstDash val="solid"/>
            <a:tailEnd type="triangle"/>
          </a:ln>
        </p:spPr>
        <p:txBody>
          <a:bodyPr/>
          <a:lstStyle/>
          <a:p>
            <a:endParaRPr lang="en-US">
              <a:latin typeface="Aharoni" panose="02010803020104030203" pitchFamily="2" charset="-79"/>
              <a:cs typeface="Aharoni" panose="02010803020104030203" pitchFamily="2" charset="-79"/>
            </a:endParaRPr>
          </a:p>
        </p:txBody>
      </p:sp>
      <p:sp>
        <p:nvSpPr>
          <p:cNvPr id="8" name="Shape 6"/>
          <p:cNvSpPr/>
          <p:nvPr/>
        </p:nvSpPr>
        <p:spPr>
          <a:xfrm>
            <a:off x="7498080" y="4572000"/>
            <a:ext cx="1737360" cy="0"/>
          </a:xfrm>
          <a:prstGeom prst="line">
            <a:avLst/>
          </a:prstGeom>
          <a:noFill/>
          <a:ln w="31750">
            <a:solidFill>
              <a:srgbClr val="1C7293"/>
            </a:solidFill>
            <a:prstDash val="solid"/>
            <a:tailEnd type="triangle"/>
          </a:ln>
        </p:spPr>
        <p:txBody>
          <a:bodyPr/>
          <a:lstStyle/>
          <a:p>
            <a:endParaRPr lang="en-US">
              <a:latin typeface="Aharoni" panose="02010803020104030203" pitchFamily="2" charset="-79"/>
              <a:cs typeface="Aharoni" panose="02010803020104030203" pitchFamily="2" charset="-79"/>
            </a:endParaRPr>
          </a:p>
        </p:txBody>
      </p:sp>
      <p:sp>
        <p:nvSpPr>
          <p:cNvPr id="9" name="Shape 7"/>
          <p:cNvSpPr/>
          <p:nvPr/>
        </p:nvSpPr>
        <p:spPr>
          <a:xfrm>
            <a:off x="7498080" y="4572000"/>
            <a:ext cx="0" cy="0"/>
          </a:xfrm>
          <a:prstGeom prst="line">
            <a:avLst/>
          </a:prstGeom>
          <a:noFill/>
          <a:ln w="31750">
            <a:solidFill>
              <a:srgbClr val="F2A541"/>
            </a:solidFill>
            <a:prstDash val="solid"/>
            <a:tailEnd type="triangle"/>
          </a:ln>
        </p:spPr>
        <p:txBody>
          <a:bodyPr/>
          <a:lstStyle/>
          <a:p>
            <a:endParaRPr lang="en-US">
              <a:latin typeface="Aharoni" panose="02010803020104030203" pitchFamily="2" charset="-79"/>
              <a:cs typeface="Aharoni" panose="02010803020104030203" pitchFamily="2" charset="-79"/>
            </a:endParaRPr>
          </a:p>
        </p:txBody>
      </p:sp>
      <p:sp>
        <p:nvSpPr>
          <p:cNvPr id="10" name="Text 8"/>
          <p:cNvSpPr/>
          <p:nvPr/>
        </p:nvSpPr>
        <p:spPr>
          <a:xfrm>
            <a:off x="8915400" y="2240280"/>
            <a:ext cx="822960" cy="320040"/>
          </a:xfrm>
          <a:prstGeom prst="rect">
            <a:avLst/>
          </a:prstGeom>
          <a:noFill/>
          <a:ln/>
        </p:spPr>
        <p:txBody>
          <a:bodyPr wrap="square" rtlCol="0" anchor="ctr"/>
          <a:lstStyle/>
          <a:p>
            <a:pPr marL="0" indent="0">
              <a:buNone/>
            </a:pPr>
            <a:r>
              <a:rPr lang="en-US" sz="1100" b="1" dirty="0">
                <a:solidFill>
                  <a:srgbClr val="065A82"/>
                </a:solidFill>
                <a:latin typeface="Aharoni" panose="02010803020104030203" pitchFamily="2" charset="-79"/>
                <a:cs typeface="Aharoni" panose="02010803020104030203" pitchFamily="2" charset="-79"/>
              </a:rPr>
              <a:t>“cat”</a:t>
            </a:r>
            <a:endParaRPr lang="en-US" sz="1100" dirty="0">
              <a:latin typeface="Aharoni" panose="02010803020104030203" pitchFamily="2" charset="-79"/>
              <a:cs typeface="Aharoni" panose="02010803020104030203" pitchFamily="2" charset="-79"/>
            </a:endParaRPr>
          </a:p>
        </p:txBody>
      </p:sp>
      <p:sp>
        <p:nvSpPr>
          <p:cNvPr id="11" name="Text 9"/>
          <p:cNvSpPr/>
          <p:nvPr/>
        </p:nvSpPr>
        <p:spPr>
          <a:xfrm>
            <a:off x="9098280" y="2606040"/>
            <a:ext cx="1005840" cy="320040"/>
          </a:xfrm>
          <a:prstGeom prst="rect">
            <a:avLst/>
          </a:prstGeom>
          <a:noFill/>
          <a:ln/>
        </p:spPr>
        <p:txBody>
          <a:bodyPr wrap="square" rtlCol="0" anchor="ctr"/>
          <a:lstStyle/>
          <a:p>
            <a:pPr marL="0" indent="0">
              <a:buNone/>
            </a:pPr>
            <a:r>
              <a:rPr lang="en-US" sz="1100" b="1" dirty="0">
                <a:solidFill>
                  <a:srgbClr val="1C7293"/>
                </a:solidFill>
                <a:latin typeface="Aharoni" panose="02010803020104030203" pitchFamily="2" charset="-79"/>
                <a:cs typeface="Aharoni" panose="02010803020104030203" pitchFamily="2" charset="-79"/>
              </a:rPr>
              <a:t>“kitten”</a:t>
            </a:r>
            <a:endParaRPr lang="en-US" sz="1100" dirty="0">
              <a:latin typeface="Aharoni" panose="02010803020104030203" pitchFamily="2" charset="-79"/>
              <a:cs typeface="Aharoni" panose="02010803020104030203" pitchFamily="2" charset="-79"/>
            </a:endParaRPr>
          </a:p>
        </p:txBody>
      </p:sp>
      <p:sp>
        <p:nvSpPr>
          <p:cNvPr id="12" name="Text 10"/>
          <p:cNvSpPr/>
          <p:nvPr/>
        </p:nvSpPr>
        <p:spPr>
          <a:xfrm>
            <a:off x="5120640" y="3886200"/>
            <a:ext cx="1188720" cy="320040"/>
          </a:xfrm>
          <a:prstGeom prst="rect">
            <a:avLst/>
          </a:prstGeom>
          <a:noFill/>
          <a:ln/>
        </p:spPr>
        <p:txBody>
          <a:bodyPr wrap="square" rtlCol="0" anchor="ctr"/>
          <a:lstStyle/>
          <a:p>
            <a:pPr marL="0" indent="0">
              <a:buNone/>
            </a:pPr>
            <a:r>
              <a:rPr lang="en-US" sz="1100" b="1" dirty="0">
                <a:solidFill>
                  <a:srgbClr val="F2A541"/>
                </a:solidFill>
                <a:latin typeface="Aharoni" panose="02010803020104030203" pitchFamily="2" charset="-79"/>
                <a:cs typeface="Aharoni" panose="02010803020104030203" pitchFamily="2" charset="-79"/>
              </a:rPr>
              <a:t>“airplane”</a:t>
            </a:r>
            <a:endParaRPr lang="en-US" sz="1100" dirty="0">
              <a:latin typeface="Aharoni" panose="02010803020104030203" pitchFamily="2" charset="-79"/>
              <a:cs typeface="Aharoni" panose="02010803020104030203" pitchFamily="2" charset="-79"/>
            </a:endParaRPr>
          </a:p>
        </p:txBody>
      </p:sp>
      <p:sp>
        <p:nvSpPr>
          <p:cNvPr id="13" name="Text 11"/>
          <p:cNvSpPr/>
          <p:nvPr/>
        </p:nvSpPr>
        <p:spPr>
          <a:xfrm>
            <a:off x="5669280" y="5074920"/>
            <a:ext cx="5760720" cy="640080"/>
          </a:xfrm>
          <a:prstGeom prst="rect">
            <a:avLst/>
          </a:prstGeom>
          <a:noFill/>
          <a:ln/>
        </p:spPr>
        <p:txBody>
          <a:bodyPr wrap="square" rtlCol="0" anchor="ctr"/>
          <a:lstStyle/>
          <a:p>
            <a:pPr marL="0" indent="0" algn="ctr">
              <a:buNone/>
            </a:pPr>
            <a:r>
              <a:rPr lang="en-US" sz="1150" i="1" dirty="0">
                <a:solidFill>
                  <a:srgbClr val="6B7B85"/>
                </a:solidFill>
                <a:latin typeface="Aharoni" panose="02010803020104030203" pitchFamily="2" charset="-79"/>
                <a:ea typeface="Calibri" pitchFamily="34" charset="-122"/>
                <a:cs typeface="Aharoni" panose="02010803020104030203" pitchFamily="2" charset="-79"/>
              </a:rPr>
              <a:t>Small angle = related meaning. Large angle = unrelated.</a:t>
            </a:r>
            <a:endParaRPr lang="en-US" sz="1150" dirty="0">
              <a:latin typeface="Aharoni" panose="02010803020104030203" pitchFamily="2" charset="-79"/>
              <a:cs typeface="Aharoni" panose="02010803020104030203" pitchFamily="2" charset="-79"/>
            </a:endParaRPr>
          </a:p>
        </p:txBody>
      </p:sp>
      <p:sp>
        <p:nvSpPr>
          <p:cNvPr id="15"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04</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2 · LINEAR ALGEBRA</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Matrices as Transformations</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1965960"/>
            <a:ext cx="5120640" cy="914400"/>
          </a:xfrm>
          <a:prstGeom prst="roundRect">
            <a:avLst>
              <a:gd name="adj" fmla="val 10000"/>
            </a:avLst>
          </a:prstGeom>
          <a:solidFill>
            <a:srgbClr val="21295C"/>
          </a:solidFill>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548640" y="1965960"/>
            <a:ext cx="5120640" cy="914400"/>
          </a:xfrm>
          <a:prstGeom prst="rect">
            <a:avLst/>
          </a:prstGeom>
          <a:noFill/>
          <a:ln/>
        </p:spPr>
        <p:txBody>
          <a:bodyPr wrap="square" rtlCol="0" anchor="ctr"/>
          <a:lstStyle/>
          <a:p>
            <a:pPr marL="0" indent="0" algn="ctr">
              <a:buNone/>
            </a:pPr>
            <a:r>
              <a:rPr lang="en-US" sz="3000" b="1" dirty="0">
                <a:solidFill>
                  <a:srgbClr val="FFFFFF"/>
                </a:solidFill>
                <a:latin typeface="Aharoni" panose="02010803020104030203" pitchFamily="2" charset="-79"/>
                <a:ea typeface="Courier New" pitchFamily="34" charset="-122"/>
                <a:cs typeface="Aharoni" panose="02010803020104030203" pitchFamily="2" charset="-79"/>
              </a:rPr>
              <a:t>y = Wx + b</a:t>
            </a:r>
            <a:endParaRPr lang="en-US" sz="3000" dirty="0">
              <a:latin typeface="Aharoni" panose="02010803020104030203" pitchFamily="2" charset="-79"/>
              <a:cs typeface="Aharoni" panose="02010803020104030203" pitchFamily="2" charset="-79"/>
            </a:endParaRPr>
          </a:p>
        </p:txBody>
      </p:sp>
      <p:sp>
        <p:nvSpPr>
          <p:cNvPr id="6" name="Text 4"/>
          <p:cNvSpPr/>
          <p:nvPr/>
        </p:nvSpPr>
        <p:spPr>
          <a:xfrm>
            <a:off x="548640" y="2971800"/>
            <a:ext cx="5120640" cy="365760"/>
          </a:xfrm>
          <a:prstGeom prst="rect">
            <a:avLst/>
          </a:prstGeom>
          <a:noFill/>
          <a:ln/>
        </p:spPr>
        <p:txBody>
          <a:bodyPr wrap="square" rtlCol="0" anchor="ctr"/>
          <a:lstStyle/>
          <a:p>
            <a:pPr marL="0" indent="0">
              <a:buNone/>
            </a:pPr>
            <a:r>
              <a:rPr lang="en-US" sz="1200" i="1" dirty="0">
                <a:solidFill>
                  <a:srgbClr val="6B7B85"/>
                </a:solidFill>
                <a:latin typeface="Aharoni" panose="02010803020104030203" pitchFamily="2" charset="-79"/>
                <a:cs typeface="Aharoni" panose="02010803020104030203" pitchFamily="2" charset="-79"/>
              </a:rPr>
              <a:t>The single most repeated operation in deep learning</a:t>
            </a:r>
            <a:endParaRPr lang="en-US" sz="1200" dirty="0">
              <a:latin typeface="Aharoni" panose="02010803020104030203" pitchFamily="2" charset="-79"/>
              <a:cs typeface="Aharoni" panose="02010803020104030203" pitchFamily="2" charset="-79"/>
            </a:endParaRPr>
          </a:p>
        </p:txBody>
      </p:sp>
      <p:sp>
        <p:nvSpPr>
          <p:cNvPr id="7" name="Text 5"/>
          <p:cNvSpPr/>
          <p:nvPr/>
        </p:nvSpPr>
        <p:spPr>
          <a:xfrm>
            <a:off x="548640" y="3566160"/>
            <a:ext cx="5120640" cy="2743200"/>
          </a:xfrm>
          <a:prstGeom prst="rect">
            <a:avLst/>
          </a:prstGeom>
          <a:noFill/>
          <a:ln/>
        </p:spPr>
        <p:txBody>
          <a:bodyPr wrap="square" rtlCol="0" anchor="ctr"/>
          <a:lstStyle/>
          <a:p>
            <a:pPr marL="342900" indent="-342900">
              <a:spcAft>
                <a:spcPts val="12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Matrix multiplication = a weighted combination = “asking questions of the data”</a:t>
            </a:r>
            <a:endParaRPr lang="en-US" dirty="0">
              <a:latin typeface="Aharoni" panose="02010803020104030203" pitchFamily="2" charset="-79"/>
              <a:cs typeface="Aharoni" panose="02010803020104030203" pitchFamily="2" charset="-79"/>
            </a:endParaRPr>
          </a:p>
          <a:p>
            <a:pPr marL="342900" indent="-342900">
              <a:spcAft>
                <a:spcPts val="12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W (the weight matrix) is what training actually adjusts</a:t>
            </a:r>
            <a:endParaRPr lang="en-US" dirty="0">
              <a:latin typeface="Aharoni" panose="02010803020104030203" pitchFamily="2" charset="-79"/>
              <a:cs typeface="Aharoni" panose="02010803020104030203" pitchFamily="2" charset="-79"/>
            </a:endParaRPr>
          </a:p>
          <a:p>
            <a:pPr marL="342900" indent="-342900">
              <a:spcAft>
                <a:spcPts val="12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Rank of a matrix: how much independent information it carries</a:t>
            </a:r>
            <a:endParaRPr lang="en-US" dirty="0">
              <a:latin typeface="Aharoni" panose="02010803020104030203" pitchFamily="2" charset="-79"/>
              <a:cs typeface="Aharoni" panose="02010803020104030203" pitchFamily="2" charset="-79"/>
            </a:endParaRPr>
          </a:p>
          <a:p>
            <a:pPr marL="342900" indent="-342900">
              <a:spcAft>
                <a:spcPts val="12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Low-rank matters later — preview of LoRA fine-tuning</a:t>
            </a:r>
            <a:endParaRPr lang="en-US" dirty="0">
              <a:latin typeface="Aharoni" panose="02010803020104030203" pitchFamily="2" charset="-79"/>
              <a:cs typeface="Aharoni" panose="02010803020104030203" pitchFamily="2" charset="-79"/>
            </a:endParaRPr>
          </a:p>
        </p:txBody>
      </p:sp>
      <p:sp>
        <p:nvSpPr>
          <p:cNvPr id="8" name="Text 6"/>
          <p:cNvSpPr/>
          <p:nvPr/>
        </p:nvSpPr>
        <p:spPr>
          <a:xfrm>
            <a:off x="6675120" y="1645920"/>
            <a:ext cx="1508760" cy="365760"/>
          </a:xfrm>
          <a:prstGeom prst="rect">
            <a:avLst/>
          </a:prstGeom>
          <a:noFill/>
          <a:ln/>
        </p:spPr>
        <p:txBody>
          <a:bodyPr wrap="square" rtlCol="0" anchor="ctr"/>
          <a:lstStyle/>
          <a:p>
            <a:pPr marL="0" indent="0" algn="ctr">
              <a:buNone/>
            </a:pPr>
            <a:r>
              <a:rPr lang="en-US" sz="1400" b="1" dirty="0">
                <a:solidFill>
                  <a:srgbClr val="065A82"/>
                </a:solidFill>
                <a:latin typeface="Aharoni" panose="02010803020104030203" pitchFamily="2" charset="-79"/>
                <a:cs typeface="Aharoni" panose="02010803020104030203" pitchFamily="2" charset="-79"/>
              </a:rPr>
              <a:t>W</a:t>
            </a:r>
            <a:endParaRPr lang="en-US" sz="1400" dirty="0">
              <a:latin typeface="Aharoni" panose="02010803020104030203" pitchFamily="2" charset="-79"/>
              <a:cs typeface="Aharoni" panose="02010803020104030203" pitchFamily="2" charset="-79"/>
            </a:endParaRPr>
          </a:p>
        </p:txBody>
      </p:sp>
      <p:sp>
        <p:nvSpPr>
          <p:cNvPr id="9" name="Shape 7"/>
          <p:cNvSpPr/>
          <p:nvPr/>
        </p:nvSpPr>
        <p:spPr>
          <a:xfrm>
            <a:off x="6675120" y="2103120"/>
            <a:ext cx="466344" cy="466344"/>
          </a:xfrm>
          <a:prstGeom prst="rect">
            <a:avLst/>
          </a:prstGeom>
          <a:solidFill>
            <a:srgbClr val="D6E4EA"/>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0" name="Shape 8"/>
          <p:cNvSpPr/>
          <p:nvPr/>
        </p:nvSpPr>
        <p:spPr>
          <a:xfrm>
            <a:off x="7178040" y="2103120"/>
            <a:ext cx="466344" cy="466344"/>
          </a:xfrm>
          <a:prstGeom prst="rect">
            <a:avLst/>
          </a:prstGeom>
          <a:solidFill>
            <a:srgbClr val="D6E4EA"/>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1" name="Shape 9"/>
          <p:cNvSpPr/>
          <p:nvPr/>
        </p:nvSpPr>
        <p:spPr>
          <a:xfrm>
            <a:off x="7680960" y="2103120"/>
            <a:ext cx="466344" cy="466344"/>
          </a:xfrm>
          <a:prstGeom prst="rect">
            <a:avLst/>
          </a:prstGeom>
          <a:solidFill>
            <a:srgbClr val="D6E4EA"/>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2" name="Shape 10"/>
          <p:cNvSpPr/>
          <p:nvPr/>
        </p:nvSpPr>
        <p:spPr>
          <a:xfrm>
            <a:off x="6675120" y="2606040"/>
            <a:ext cx="466344" cy="466344"/>
          </a:xfrm>
          <a:prstGeom prst="rect">
            <a:avLst/>
          </a:prstGeom>
          <a:solidFill>
            <a:srgbClr val="F2A541"/>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3" name="Shape 11"/>
          <p:cNvSpPr/>
          <p:nvPr/>
        </p:nvSpPr>
        <p:spPr>
          <a:xfrm>
            <a:off x="7178040" y="2606040"/>
            <a:ext cx="466344" cy="466344"/>
          </a:xfrm>
          <a:prstGeom prst="rect">
            <a:avLst/>
          </a:prstGeom>
          <a:solidFill>
            <a:srgbClr val="F2A541"/>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4" name="Shape 12"/>
          <p:cNvSpPr/>
          <p:nvPr/>
        </p:nvSpPr>
        <p:spPr>
          <a:xfrm>
            <a:off x="7680960" y="2606040"/>
            <a:ext cx="466344" cy="466344"/>
          </a:xfrm>
          <a:prstGeom prst="rect">
            <a:avLst/>
          </a:prstGeom>
          <a:solidFill>
            <a:srgbClr val="F2A541"/>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5" name="Shape 13"/>
          <p:cNvSpPr/>
          <p:nvPr/>
        </p:nvSpPr>
        <p:spPr>
          <a:xfrm>
            <a:off x="6675120" y="3108960"/>
            <a:ext cx="466344" cy="466344"/>
          </a:xfrm>
          <a:prstGeom prst="rect">
            <a:avLst/>
          </a:prstGeom>
          <a:solidFill>
            <a:srgbClr val="D6E4EA"/>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6" name="Shape 14"/>
          <p:cNvSpPr/>
          <p:nvPr/>
        </p:nvSpPr>
        <p:spPr>
          <a:xfrm>
            <a:off x="7178040" y="3108960"/>
            <a:ext cx="466344" cy="466344"/>
          </a:xfrm>
          <a:prstGeom prst="rect">
            <a:avLst/>
          </a:prstGeom>
          <a:solidFill>
            <a:srgbClr val="D6E4EA"/>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7" name="Shape 15"/>
          <p:cNvSpPr/>
          <p:nvPr/>
        </p:nvSpPr>
        <p:spPr>
          <a:xfrm>
            <a:off x="7680960" y="3108960"/>
            <a:ext cx="466344" cy="466344"/>
          </a:xfrm>
          <a:prstGeom prst="rect">
            <a:avLst/>
          </a:prstGeom>
          <a:solidFill>
            <a:srgbClr val="D6E4EA"/>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8" name="Text 16"/>
          <p:cNvSpPr/>
          <p:nvPr/>
        </p:nvSpPr>
        <p:spPr>
          <a:xfrm>
            <a:off x="8229600" y="2560320"/>
            <a:ext cx="365760" cy="548640"/>
          </a:xfrm>
          <a:prstGeom prst="rect">
            <a:avLst/>
          </a:prstGeom>
          <a:noFill/>
          <a:ln/>
        </p:spPr>
        <p:txBody>
          <a:bodyPr wrap="square" rtlCol="0" anchor="ctr"/>
          <a:lstStyle/>
          <a:p>
            <a:pPr marL="0" indent="0" algn="ctr">
              <a:buNone/>
            </a:pPr>
            <a:r>
              <a:rPr lang="en-US" sz="2000" b="1" dirty="0">
                <a:solidFill>
                  <a:srgbClr val="21295C"/>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p:txBody>
      </p:sp>
      <p:sp>
        <p:nvSpPr>
          <p:cNvPr id="19" name="Shape 17"/>
          <p:cNvSpPr/>
          <p:nvPr/>
        </p:nvSpPr>
        <p:spPr>
          <a:xfrm>
            <a:off x="8641080" y="2103120"/>
            <a:ext cx="466344" cy="466344"/>
          </a:xfrm>
          <a:prstGeom prst="rect">
            <a:avLst/>
          </a:prstGeom>
          <a:solidFill>
            <a:srgbClr val="1C7293"/>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0" name="Shape 18"/>
          <p:cNvSpPr/>
          <p:nvPr/>
        </p:nvSpPr>
        <p:spPr>
          <a:xfrm>
            <a:off x="8641080" y="2606040"/>
            <a:ext cx="466344" cy="466344"/>
          </a:xfrm>
          <a:prstGeom prst="rect">
            <a:avLst/>
          </a:prstGeom>
          <a:solidFill>
            <a:srgbClr val="1C7293"/>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1" name="Shape 19"/>
          <p:cNvSpPr/>
          <p:nvPr/>
        </p:nvSpPr>
        <p:spPr>
          <a:xfrm>
            <a:off x="8641080" y="3108960"/>
            <a:ext cx="466344" cy="466344"/>
          </a:xfrm>
          <a:prstGeom prst="rect">
            <a:avLst/>
          </a:prstGeom>
          <a:solidFill>
            <a:srgbClr val="1C7293"/>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2" name="Text 20"/>
          <p:cNvSpPr/>
          <p:nvPr/>
        </p:nvSpPr>
        <p:spPr>
          <a:xfrm>
            <a:off x="8641080" y="1645920"/>
            <a:ext cx="502920" cy="365760"/>
          </a:xfrm>
          <a:prstGeom prst="rect">
            <a:avLst/>
          </a:prstGeom>
          <a:noFill/>
          <a:ln/>
        </p:spPr>
        <p:txBody>
          <a:bodyPr wrap="square" rtlCol="0" anchor="ctr"/>
          <a:lstStyle/>
          <a:p>
            <a:pPr marL="0" indent="0" algn="ctr">
              <a:buNone/>
            </a:pPr>
            <a:r>
              <a:rPr lang="en-US" sz="1400" b="1" dirty="0">
                <a:solidFill>
                  <a:srgbClr val="1C7293"/>
                </a:solidFill>
                <a:latin typeface="Aharoni" panose="02010803020104030203" pitchFamily="2" charset="-79"/>
                <a:cs typeface="Aharoni" panose="02010803020104030203" pitchFamily="2" charset="-79"/>
              </a:rPr>
              <a:t>x</a:t>
            </a:r>
            <a:endParaRPr lang="en-US" sz="1400" dirty="0">
              <a:latin typeface="Aharoni" panose="02010803020104030203" pitchFamily="2" charset="-79"/>
              <a:cs typeface="Aharoni" panose="02010803020104030203" pitchFamily="2" charset="-79"/>
            </a:endParaRPr>
          </a:p>
        </p:txBody>
      </p:sp>
      <p:sp>
        <p:nvSpPr>
          <p:cNvPr id="23" name="Text 21"/>
          <p:cNvSpPr/>
          <p:nvPr/>
        </p:nvSpPr>
        <p:spPr>
          <a:xfrm>
            <a:off x="9281160" y="2560320"/>
            <a:ext cx="365760" cy="548640"/>
          </a:xfrm>
          <a:prstGeom prst="rect">
            <a:avLst/>
          </a:prstGeom>
          <a:noFill/>
          <a:ln/>
        </p:spPr>
        <p:txBody>
          <a:bodyPr wrap="square" rtlCol="0" anchor="ctr"/>
          <a:lstStyle/>
          <a:p>
            <a:pPr marL="0" indent="0" algn="ctr">
              <a:buNone/>
            </a:pPr>
            <a:r>
              <a:rPr lang="en-US" sz="2000" b="1" dirty="0">
                <a:solidFill>
                  <a:srgbClr val="21295C"/>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p:txBody>
      </p:sp>
      <p:sp>
        <p:nvSpPr>
          <p:cNvPr id="24" name="Shape 22"/>
          <p:cNvSpPr/>
          <p:nvPr/>
        </p:nvSpPr>
        <p:spPr>
          <a:xfrm>
            <a:off x="9738360" y="2103120"/>
            <a:ext cx="466344" cy="466344"/>
          </a:xfrm>
          <a:prstGeom prst="rect">
            <a:avLst/>
          </a:prstGeom>
          <a:solidFill>
            <a:srgbClr val="9FB8C4"/>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5" name="Shape 23"/>
          <p:cNvSpPr/>
          <p:nvPr/>
        </p:nvSpPr>
        <p:spPr>
          <a:xfrm>
            <a:off x="9738360" y="2606040"/>
            <a:ext cx="466344" cy="466344"/>
          </a:xfrm>
          <a:prstGeom prst="rect">
            <a:avLst/>
          </a:prstGeom>
          <a:solidFill>
            <a:srgbClr val="F2A541"/>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6" name="Shape 24"/>
          <p:cNvSpPr/>
          <p:nvPr/>
        </p:nvSpPr>
        <p:spPr>
          <a:xfrm>
            <a:off x="9738360" y="3108960"/>
            <a:ext cx="466344" cy="466344"/>
          </a:xfrm>
          <a:prstGeom prst="rect">
            <a:avLst/>
          </a:prstGeom>
          <a:solidFill>
            <a:srgbClr val="9FB8C4"/>
          </a:solidFill>
          <a:ln w="1270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7" name="Text 25"/>
          <p:cNvSpPr/>
          <p:nvPr/>
        </p:nvSpPr>
        <p:spPr>
          <a:xfrm>
            <a:off x="9738360" y="1645920"/>
            <a:ext cx="502920" cy="365760"/>
          </a:xfrm>
          <a:prstGeom prst="rect">
            <a:avLst/>
          </a:prstGeom>
          <a:noFill/>
          <a:ln/>
        </p:spPr>
        <p:txBody>
          <a:bodyPr wrap="square" rtlCol="0" anchor="ctr"/>
          <a:lstStyle/>
          <a:p>
            <a:pPr marL="0" indent="0" algn="ctr">
              <a:buNone/>
            </a:pPr>
            <a:r>
              <a:rPr lang="en-US" sz="1400" b="1" dirty="0">
                <a:solidFill>
                  <a:srgbClr val="21295C"/>
                </a:solidFill>
                <a:latin typeface="Aharoni" panose="02010803020104030203" pitchFamily="2" charset="-79"/>
                <a:cs typeface="Aharoni" panose="02010803020104030203" pitchFamily="2" charset="-79"/>
              </a:rPr>
              <a:t>y</a:t>
            </a:r>
            <a:endParaRPr lang="en-US" sz="1400" dirty="0">
              <a:latin typeface="Aharoni" panose="02010803020104030203" pitchFamily="2" charset="-79"/>
              <a:cs typeface="Aharoni" panose="02010803020104030203" pitchFamily="2" charset="-79"/>
            </a:endParaRPr>
          </a:p>
        </p:txBody>
      </p:sp>
      <p:sp>
        <p:nvSpPr>
          <p:cNvPr id="28" name="Text 26"/>
          <p:cNvSpPr/>
          <p:nvPr/>
        </p:nvSpPr>
        <p:spPr>
          <a:xfrm>
            <a:off x="6400800" y="3886200"/>
            <a:ext cx="5120640" cy="640080"/>
          </a:xfrm>
          <a:prstGeom prst="rect">
            <a:avLst/>
          </a:prstGeom>
          <a:noFill/>
          <a:ln/>
        </p:spPr>
        <p:txBody>
          <a:bodyPr wrap="square" rtlCol="0" anchor="ctr"/>
          <a:lstStyle/>
          <a:p>
            <a:pPr marL="0" indent="0">
              <a:buNone/>
            </a:pPr>
            <a:r>
              <a:rPr lang="en-US" sz="1150" i="1" dirty="0">
                <a:solidFill>
                  <a:srgbClr val="6B7B85"/>
                </a:solidFill>
                <a:latin typeface="Aharoni" panose="02010803020104030203" pitchFamily="2" charset="-79"/>
                <a:cs typeface="Aharoni" panose="02010803020104030203" pitchFamily="2" charset="-79"/>
              </a:rPr>
              <a:t>Each output value = a weighted sum across the input vector</a:t>
            </a:r>
            <a:endParaRPr lang="en-US" sz="1150" dirty="0">
              <a:latin typeface="Aharoni" panose="02010803020104030203" pitchFamily="2" charset="-79"/>
              <a:cs typeface="Aharoni" panose="02010803020104030203" pitchFamily="2" charset="-79"/>
            </a:endParaRPr>
          </a:p>
        </p:txBody>
      </p:sp>
      <p:sp>
        <p:nvSpPr>
          <p:cNvPr id="30" name="Text 2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05</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2 · LINEAR ALGEBRA</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Eigenvalues, Eigenvectors &amp; PCA Intuition</a:t>
            </a:r>
            <a:endParaRPr lang="en-US" sz="3200" dirty="0">
              <a:latin typeface="Aharoni" panose="02010803020104030203" pitchFamily="2" charset="-79"/>
              <a:cs typeface="Aharoni" panose="02010803020104030203" pitchFamily="2" charset="-79"/>
            </a:endParaRPr>
          </a:p>
        </p:txBody>
      </p:sp>
      <p:sp>
        <p:nvSpPr>
          <p:cNvPr id="4" name="Text 2"/>
          <p:cNvSpPr/>
          <p:nvPr/>
        </p:nvSpPr>
        <p:spPr>
          <a:xfrm>
            <a:off x="548640" y="1965960"/>
            <a:ext cx="6126480" cy="3108960"/>
          </a:xfrm>
          <a:prstGeom prst="rect">
            <a:avLst/>
          </a:prstGeom>
          <a:noFill/>
          <a:ln/>
        </p:spPr>
        <p:txBody>
          <a:bodyPr wrap="square" rtlCol="0" anchor="ctr"/>
          <a:lstStyle/>
          <a:p>
            <a:pPr marL="342900" indent="-342900">
              <a:spcAft>
                <a:spcPts val="16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Eigenvectors: directions a transformation stretches or compresses, without rotating</a:t>
            </a:r>
            <a:endParaRPr lang="en-US" dirty="0">
              <a:latin typeface="Aharoni" panose="02010803020104030203" pitchFamily="2" charset="-79"/>
              <a:cs typeface="Aharoni" panose="02010803020104030203" pitchFamily="2" charset="-79"/>
            </a:endParaRPr>
          </a:p>
          <a:p>
            <a:pPr marL="342900" indent="-342900">
              <a:spcAft>
                <a:spcPts val="16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Eigenvalues: how much stretching happens along that direction</a:t>
            </a:r>
            <a:endParaRPr lang="en-US" dirty="0">
              <a:latin typeface="Aharoni" panose="02010803020104030203" pitchFamily="2" charset="-79"/>
              <a:cs typeface="Aharoni" panose="02010803020104030203" pitchFamily="2" charset="-79"/>
            </a:endParaRPr>
          </a:p>
          <a:p>
            <a:pPr marL="342900" indent="-342900">
              <a:spcAft>
                <a:spcPts val="16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PCA uses this to find the directions of greatest variance in data</a:t>
            </a:r>
            <a:endParaRPr lang="en-US" dirty="0">
              <a:latin typeface="Aharoni" panose="02010803020104030203" pitchFamily="2" charset="-79"/>
              <a:cs typeface="Aharoni" panose="02010803020104030203" pitchFamily="2" charset="-79"/>
            </a:endParaRPr>
          </a:p>
          <a:p>
            <a:pPr marL="342900" indent="-342900">
              <a:spcAft>
                <a:spcPts val="16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In VLMs: helps us understand what an embedding space actually “cares about” — which directions carry the most signal</a:t>
            </a:r>
            <a:endParaRPr lang="en-US" dirty="0">
              <a:latin typeface="Aharoni" panose="02010803020104030203" pitchFamily="2" charset="-79"/>
              <a:cs typeface="Aharoni" panose="02010803020104030203" pitchFamily="2" charset="-79"/>
            </a:endParaRPr>
          </a:p>
        </p:txBody>
      </p:sp>
      <p:sp>
        <p:nvSpPr>
          <p:cNvPr id="5" name="Shape 3"/>
          <p:cNvSpPr/>
          <p:nvPr/>
        </p:nvSpPr>
        <p:spPr>
          <a:xfrm rot="1200000">
            <a:off x="7040880" y="2926080"/>
            <a:ext cx="4206240" cy="2011680"/>
          </a:xfrm>
          <a:prstGeom prst="ellipse">
            <a:avLst/>
          </a:prstGeom>
          <a:solidFill>
            <a:srgbClr val="E4EEF2"/>
          </a:solidFill>
          <a:ln w="190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6" name="Shape 4"/>
          <p:cNvSpPr/>
          <p:nvPr/>
        </p:nvSpPr>
        <p:spPr>
          <a:xfrm>
            <a:off x="7315200" y="3200400"/>
            <a:ext cx="3657600" cy="0"/>
          </a:xfrm>
          <a:prstGeom prst="line">
            <a:avLst/>
          </a:prstGeom>
          <a:noFill/>
          <a:ln w="31750">
            <a:solidFill>
              <a:srgbClr val="065A82"/>
            </a:solidFill>
            <a:prstDash val="solid"/>
            <a:headEnd type="triangle"/>
            <a:tailEnd type="triangle"/>
          </a:ln>
        </p:spPr>
        <p:txBody>
          <a:bodyPr/>
          <a:lstStyle/>
          <a:p>
            <a:endParaRPr lang="en-US">
              <a:latin typeface="Aharoni" panose="02010803020104030203" pitchFamily="2" charset="-79"/>
              <a:cs typeface="Aharoni" panose="02010803020104030203" pitchFamily="2" charset="-79"/>
            </a:endParaRPr>
          </a:p>
        </p:txBody>
      </p:sp>
      <p:sp>
        <p:nvSpPr>
          <p:cNvPr id="7" name="Shape 5"/>
          <p:cNvSpPr/>
          <p:nvPr/>
        </p:nvSpPr>
        <p:spPr>
          <a:xfrm>
            <a:off x="8595360" y="2194560"/>
            <a:ext cx="1097280" cy="2377440"/>
          </a:xfrm>
          <a:prstGeom prst="line">
            <a:avLst/>
          </a:prstGeom>
          <a:noFill/>
          <a:ln w="31750">
            <a:solidFill>
              <a:srgbClr val="F2A541"/>
            </a:solidFill>
            <a:prstDash val="solid"/>
            <a:headEnd type="triangle"/>
            <a:tailEnd type="triangle"/>
          </a:ln>
        </p:spPr>
        <p:txBody>
          <a:bodyPr/>
          <a:lstStyle/>
          <a:p>
            <a:endParaRPr lang="en-US">
              <a:latin typeface="Aharoni" panose="02010803020104030203" pitchFamily="2" charset="-79"/>
              <a:cs typeface="Aharoni" panose="02010803020104030203" pitchFamily="2" charset="-79"/>
            </a:endParaRPr>
          </a:p>
        </p:txBody>
      </p:sp>
      <p:sp>
        <p:nvSpPr>
          <p:cNvPr id="8" name="Text 6"/>
          <p:cNvSpPr/>
          <p:nvPr/>
        </p:nvSpPr>
        <p:spPr>
          <a:xfrm>
            <a:off x="6766560" y="5120640"/>
            <a:ext cx="4754880" cy="320040"/>
          </a:xfrm>
          <a:prstGeom prst="rect">
            <a:avLst/>
          </a:prstGeom>
          <a:noFill/>
          <a:ln/>
        </p:spPr>
        <p:txBody>
          <a:bodyPr wrap="square" rtlCol="0" anchor="ctr"/>
          <a:lstStyle/>
          <a:p>
            <a:pPr marL="0" indent="0" algn="ctr">
              <a:buNone/>
            </a:pPr>
            <a:r>
              <a:rPr lang="en-US" sz="1100" b="1" dirty="0">
                <a:solidFill>
                  <a:srgbClr val="065A82"/>
                </a:solidFill>
                <a:latin typeface="Aharoni" panose="02010803020104030203" pitchFamily="2" charset="-79"/>
                <a:cs typeface="Aharoni" panose="02010803020104030203" pitchFamily="2" charset="-79"/>
              </a:rPr>
              <a:t>PC1 — largest eigenvalue</a:t>
            </a:r>
            <a:endParaRPr lang="en-US" sz="1100" dirty="0">
              <a:latin typeface="Aharoni" panose="02010803020104030203" pitchFamily="2" charset="-79"/>
              <a:cs typeface="Aharoni" panose="02010803020104030203" pitchFamily="2" charset="-79"/>
            </a:endParaRPr>
          </a:p>
        </p:txBody>
      </p:sp>
      <p:sp>
        <p:nvSpPr>
          <p:cNvPr id="9" name="Text 7"/>
          <p:cNvSpPr/>
          <p:nvPr/>
        </p:nvSpPr>
        <p:spPr>
          <a:xfrm>
            <a:off x="9784080" y="2240280"/>
            <a:ext cx="1097280" cy="274320"/>
          </a:xfrm>
          <a:prstGeom prst="rect">
            <a:avLst/>
          </a:prstGeom>
          <a:noFill/>
          <a:ln/>
        </p:spPr>
        <p:txBody>
          <a:bodyPr wrap="square" rtlCol="0" anchor="ctr"/>
          <a:lstStyle/>
          <a:p>
            <a:pPr marL="0" indent="0">
              <a:buNone/>
            </a:pPr>
            <a:r>
              <a:rPr lang="en-US" sz="1100" b="1" dirty="0">
                <a:solidFill>
                  <a:srgbClr val="F2A541"/>
                </a:solidFill>
                <a:latin typeface="Aharoni" panose="02010803020104030203" pitchFamily="2" charset="-79"/>
                <a:cs typeface="Aharoni" panose="02010803020104030203" pitchFamily="2" charset="-79"/>
              </a:rPr>
              <a:t>PC2</a:t>
            </a:r>
            <a:endParaRPr lang="en-US" sz="1100" dirty="0">
              <a:latin typeface="Aharoni" panose="02010803020104030203" pitchFamily="2" charset="-79"/>
              <a:cs typeface="Aharoni" panose="02010803020104030203" pitchFamily="2" charset="-79"/>
            </a:endParaRPr>
          </a:p>
        </p:txBody>
      </p:sp>
      <p:sp>
        <p:nvSpPr>
          <p:cNvPr id="11"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06</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SECTION 2 · LINEAR ALGEBRA</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FFFFFF"/>
                </a:solidFill>
                <a:latin typeface="Aharoni" panose="02010803020104030203" pitchFamily="2" charset="-79"/>
                <a:ea typeface="Cambria" pitchFamily="34" charset="-122"/>
                <a:cs typeface="Aharoni" panose="02010803020104030203" pitchFamily="2" charset="-79"/>
              </a:rPr>
              <a:t>Attention as Linear Algebra</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2103120"/>
            <a:ext cx="2651760" cy="2011680"/>
          </a:xfrm>
          <a:prstGeom prst="roundRect">
            <a:avLst>
              <a:gd name="adj" fmla="val 4545"/>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685800" y="2240280"/>
            <a:ext cx="2377440" cy="548640"/>
          </a:xfrm>
          <a:prstGeom prst="rect">
            <a:avLst/>
          </a:prstGeom>
          <a:noFill/>
          <a:ln/>
        </p:spPr>
        <p:txBody>
          <a:bodyPr wrap="square" rtlCol="0" anchor="ctr"/>
          <a:lstStyle/>
          <a:p>
            <a:pPr marL="0" indent="0" algn="ctr">
              <a:buNone/>
            </a:pPr>
            <a:r>
              <a:rPr lang="en-US" sz="1800" b="1" dirty="0">
                <a:solidFill>
                  <a:srgbClr val="F2A541"/>
                </a:solidFill>
                <a:latin typeface="Aharoni" panose="02010803020104030203" pitchFamily="2" charset="-79"/>
                <a:ea typeface="Courier New" pitchFamily="34" charset="-122"/>
                <a:cs typeface="Aharoni" panose="02010803020104030203" pitchFamily="2" charset="-79"/>
              </a:rPr>
              <a:t>Q, K, V</a:t>
            </a:r>
            <a:endParaRPr lang="en-US" sz="1800" dirty="0">
              <a:latin typeface="Aharoni" panose="02010803020104030203" pitchFamily="2" charset="-79"/>
              <a:cs typeface="Aharoni" panose="02010803020104030203" pitchFamily="2" charset="-79"/>
            </a:endParaRPr>
          </a:p>
        </p:txBody>
      </p:sp>
      <p:sp>
        <p:nvSpPr>
          <p:cNvPr id="6" name="Text 4"/>
          <p:cNvSpPr/>
          <p:nvPr/>
        </p:nvSpPr>
        <p:spPr>
          <a:xfrm>
            <a:off x="685800" y="2834640"/>
            <a:ext cx="2377440" cy="1188720"/>
          </a:xfrm>
          <a:prstGeom prst="rect">
            <a:avLst/>
          </a:prstGeom>
          <a:noFill/>
          <a:ln/>
        </p:spPr>
        <p:txBody>
          <a:bodyPr wrap="square" rtlCol="0" anchor="ctr"/>
          <a:lstStyle/>
          <a:p>
            <a:pPr marL="0" indent="0">
              <a:buNone/>
            </a:pPr>
            <a:r>
              <a:rPr lang="en-US" sz="1100" dirty="0">
                <a:solidFill>
                  <a:srgbClr val="CADCFC"/>
                </a:solidFill>
                <a:latin typeface="Aharoni" panose="02010803020104030203" pitchFamily="2" charset="-79"/>
                <a:ea typeface="Calibri" pitchFamily="34" charset="-122"/>
                <a:cs typeface="Aharoni" panose="02010803020104030203" pitchFamily="2" charset="-79"/>
              </a:rPr>
              <a:t>Query, Key, Value — Q from the words, K and V from the image patches</a:t>
            </a:r>
            <a:endParaRPr lang="en-US" sz="1100" dirty="0">
              <a:latin typeface="Aharoni" panose="02010803020104030203" pitchFamily="2" charset="-79"/>
              <a:cs typeface="Aharoni" panose="02010803020104030203" pitchFamily="2" charset="-79"/>
            </a:endParaRPr>
          </a:p>
        </p:txBody>
      </p:sp>
      <p:sp>
        <p:nvSpPr>
          <p:cNvPr id="7" name="Text 5"/>
          <p:cNvSpPr/>
          <p:nvPr/>
        </p:nvSpPr>
        <p:spPr>
          <a:xfrm>
            <a:off x="3218688" y="2880360"/>
            <a:ext cx="320040" cy="457200"/>
          </a:xfrm>
          <a:prstGeom prst="rect">
            <a:avLst/>
          </a:prstGeom>
          <a:noFill/>
          <a:ln/>
        </p:spPr>
        <p:txBody>
          <a:bodyPr wrap="square" rtlCol="0" anchor="ctr"/>
          <a:lstStyle/>
          <a:p>
            <a:pPr marL="0" indent="0" algn="ctr">
              <a:buNone/>
            </a:pPr>
            <a:r>
              <a:rPr lang="en-US" sz="2000" b="1" dirty="0">
                <a:solidFill>
                  <a:srgbClr val="FFFFFF"/>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p:txBody>
      </p:sp>
      <p:sp>
        <p:nvSpPr>
          <p:cNvPr id="8" name="Shape 6"/>
          <p:cNvSpPr/>
          <p:nvPr/>
        </p:nvSpPr>
        <p:spPr>
          <a:xfrm>
            <a:off x="3520440" y="2103120"/>
            <a:ext cx="2651760" cy="2011680"/>
          </a:xfrm>
          <a:prstGeom prst="roundRect">
            <a:avLst>
              <a:gd name="adj" fmla="val 4545"/>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9" name="Text 7"/>
          <p:cNvSpPr/>
          <p:nvPr/>
        </p:nvSpPr>
        <p:spPr>
          <a:xfrm>
            <a:off x="3657600" y="2240280"/>
            <a:ext cx="2377440" cy="548640"/>
          </a:xfrm>
          <a:prstGeom prst="rect">
            <a:avLst/>
          </a:prstGeom>
          <a:noFill/>
          <a:ln/>
        </p:spPr>
        <p:txBody>
          <a:bodyPr wrap="square" rtlCol="0" anchor="ctr"/>
          <a:lstStyle/>
          <a:p>
            <a:pPr marL="0" indent="0" algn="ctr">
              <a:buNone/>
            </a:pPr>
            <a:r>
              <a:rPr lang="en-US" sz="1800" b="1" dirty="0">
                <a:solidFill>
                  <a:srgbClr val="F2A541"/>
                </a:solidFill>
                <a:latin typeface="Aharoni" panose="02010803020104030203" pitchFamily="2" charset="-79"/>
                <a:ea typeface="Courier New" pitchFamily="34" charset="-122"/>
                <a:cs typeface="Aharoni" panose="02010803020104030203" pitchFamily="2" charset="-79"/>
              </a:rPr>
              <a:t>Q × Kᵀ</a:t>
            </a:r>
            <a:endParaRPr lang="en-US" sz="1800" dirty="0">
              <a:latin typeface="Aharoni" panose="02010803020104030203" pitchFamily="2" charset="-79"/>
              <a:cs typeface="Aharoni" panose="02010803020104030203" pitchFamily="2" charset="-79"/>
            </a:endParaRPr>
          </a:p>
        </p:txBody>
      </p:sp>
      <p:sp>
        <p:nvSpPr>
          <p:cNvPr id="10" name="Text 8"/>
          <p:cNvSpPr/>
          <p:nvPr/>
        </p:nvSpPr>
        <p:spPr>
          <a:xfrm>
            <a:off x="3657600" y="2834640"/>
            <a:ext cx="2377440" cy="1188720"/>
          </a:xfrm>
          <a:prstGeom prst="rect">
            <a:avLst/>
          </a:prstGeom>
          <a:noFill/>
          <a:ln/>
        </p:spPr>
        <p:txBody>
          <a:bodyPr wrap="square" rtlCol="0" anchor="ctr"/>
          <a:lstStyle/>
          <a:p>
            <a:pPr marL="0" indent="0">
              <a:buNone/>
            </a:pPr>
            <a:r>
              <a:rPr lang="en-US" sz="1100" dirty="0">
                <a:solidFill>
                  <a:srgbClr val="CADCFC"/>
                </a:solidFill>
                <a:latin typeface="Aharoni" panose="02010803020104030203" pitchFamily="2" charset="-79"/>
                <a:ea typeface="Calibri" pitchFamily="34" charset="-122"/>
                <a:cs typeface="Aharoni" panose="02010803020104030203" pitchFamily="2" charset="-79"/>
              </a:rPr>
              <a:t>A similarity matrix — how much each word should attend to each image patch</a:t>
            </a:r>
            <a:endParaRPr lang="en-US" sz="1100" dirty="0">
              <a:latin typeface="Aharoni" panose="02010803020104030203" pitchFamily="2" charset="-79"/>
              <a:cs typeface="Aharoni" panose="02010803020104030203" pitchFamily="2" charset="-79"/>
            </a:endParaRPr>
          </a:p>
        </p:txBody>
      </p:sp>
      <p:sp>
        <p:nvSpPr>
          <p:cNvPr id="11" name="Text 9"/>
          <p:cNvSpPr/>
          <p:nvPr/>
        </p:nvSpPr>
        <p:spPr>
          <a:xfrm>
            <a:off x="6190488" y="2880360"/>
            <a:ext cx="320040" cy="457200"/>
          </a:xfrm>
          <a:prstGeom prst="rect">
            <a:avLst/>
          </a:prstGeom>
          <a:noFill/>
          <a:ln/>
        </p:spPr>
        <p:txBody>
          <a:bodyPr wrap="square" rtlCol="0" anchor="ctr"/>
          <a:lstStyle/>
          <a:p>
            <a:pPr marL="0" indent="0" algn="ctr">
              <a:buNone/>
            </a:pPr>
            <a:r>
              <a:rPr lang="en-US" sz="2000" b="1" dirty="0">
                <a:solidFill>
                  <a:srgbClr val="FFFFFF"/>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p:txBody>
      </p:sp>
      <p:sp>
        <p:nvSpPr>
          <p:cNvPr id="12" name="Shape 10"/>
          <p:cNvSpPr/>
          <p:nvPr/>
        </p:nvSpPr>
        <p:spPr>
          <a:xfrm>
            <a:off x="6492240" y="2103120"/>
            <a:ext cx="2651760" cy="2011680"/>
          </a:xfrm>
          <a:prstGeom prst="roundRect">
            <a:avLst>
              <a:gd name="adj" fmla="val 4545"/>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3" name="Text 11"/>
          <p:cNvSpPr/>
          <p:nvPr/>
        </p:nvSpPr>
        <p:spPr>
          <a:xfrm>
            <a:off x="6629400" y="2240280"/>
            <a:ext cx="2377440" cy="548640"/>
          </a:xfrm>
          <a:prstGeom prst="rect">
            <a:avLst/>
          </a:prstGeom>
          <a:noFill/>
          <a:ln/>
        </p:spPr>
        <p:txBody>
          <a:bodyPr wrap="square" rtlCol="0" anchor="ctr"/>
          <a:lstStyle/>
          <a:p>
            <a:pPr marL="0" indent="0" algn="ctr">
              <a:buNone/>
            </a:pPr>
            <a:r>
              <a:rPr lang="en-US" sz="1800" b="1" dirty="0">
                <a:solidFill>
                  <a:srgbClr val="F2A541"/>
                </a:solidFill>
                <a:latin typeface="Aharoni" panose="02010803020104030203" pitchFamily="2" charset="-79"/>
                <a:ea typeface="Courier New" pitchFamily="34" charset="-122"/>
                <a:cs typeface="Aharoni" panose="02010803020104030203" pitchFamily="2" charset="-79"/>
              </a:rPr>
              <a:t>softmax(·)</a:t>
            </a:r>
            <a:endParaRPr lang="en-US" sz="1800" dirty="0">
              <a:latin typeface="Aharoni" panose="02010803020104030203" pitchFamily="2" charset="-79"/>
              <a:cs typeface="Aharoni" panose="02010803020104030203" pitchFamily="2" charset="-79"/>
            </a:endParaRPr>
          </a:p>
        </p:txBody>
      </p:sp>
      <p:sp>
        <p:nvSpPr>
          <p:cNvPr id="14" name="Text 12"/>
          <p:cNvSpPr/>
          <p:nvPr/>
        </p:nvSpPr>
        <p:spPr>
          <a:xfrm>
            <a:off x="6629400" y="2834640"/>
            <a:ext cx="2377440" cy="1188720"/>
          </a:xfrm>
          <a:prstGeom prst="rect">
            <a:avLst/>
          </a:prstGeom>
          <a:noFill/>
          <a:ln/>
        </p:spPr>
        <p:txBody>
          <a:bodyPr wrap="square" rtlCol="0" anchor="ctr"/>
          <a:lstStyle/>
          <a:p>
            <a:pPr marL="0" indent="0">
              <a:buNone/>
            </a:pPr>
            <a:r>
              <a:rPr lang="en-US" sz="1100" dirty="0">
                <a:solidFill>
                  <a:srgbClr val="CADCFC"/>
                </a:solidFill>
                <a:latin typeface="Aharoni" panose="02010803020104030203" pitchFamily="2" charset="-79"/>
                <a:ea typeface="Calibri" pitchFamily="34" charset="-122"/>
                <a:cs typeface="Aharoni" panose="02010803020104030203" pitchFamily="2" charset="-79"/>
              </a:rPr>
              <a:t>Normalizes scores into a probability distribution that sums to 1</a:t>
            </a:r>
            <a:endParaRPr lang="en-US" sz="1100" dirty="0">
              <a:latin typeface="Aharoni" panose="02010803020104030203" pitchFamily="2" charset="-79"/>
              <a:cs typeface="Aharoni" panose="02010803020104030203" pitchFamily="2" charset="-79"/>
            </a:endParaRPr>
          </a:p>
        </p:txBody>
      </p:sp>
      <p:sp>
        <p:nvSpPr>
          <p:cNvPr id="15" name="Text 13"/>
          <p:cNvSpPr/>
          <p:nvPr/>
        </p:nvSpPr>
        <p:spPr>
          <a:xfrm>
            <a:off x="9162288" y="2880360"/>
            <a:ext cx="320040" cy="457200"/>
          </a:xfrm>
          <a:prstGeom prst="rect">
            <a:avLst/>
          </a:prstGeom>
          <a:noFill/>
          <a:ln/>
        </p:spPr>
        <p:txBody>
          <a:bodyPr wrap="square" rtlCol="0" anchor="ctr"/>
          <a:lstStyle/>
          <a:p>
            <a:pPr marL="0" indent="0" algn="ctr">
              <a:buNone/>
            </a:pPr>
            <a:r>
              <a:rPr lang="en-US" sz="2000" b="1" dirty="0">
                <a:solidFill>
                  <a:srgbClr val="FFFFFF"/>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p:txBody>
      </p:sp>
      <p:sp>
        <p:nvSpPr>
          <p:cNvPr id="16" name="Shape 14"/>
          <p:cNvSpPr/>
          <p:nvPr/>
        </p:nvSpPr>
        <p:spPr>
          <a:xfrm>
            <a:off x="9464040" y="2103120"/>
            <a:ext cx="2651760" cy="2011680"/>
          </a:xfrm>
          <a:prstGeom prst="roundRect">
            <a:avLst>
              <a:gd name="adj" fmla="val 4545"/>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7" name="Text 15"/>
          <p:cNvSpPr/>
          <p:nvPr/>
        </p:nvSpPr>
        <p:spPr>
          <a:xfrm>
            <a:off x="9601200" y="2240280"/>
            <a:ext cx="2377440" cy="548640"/>
          </a:xfrm>
          <a:prstGeom prst="rect">
            <a:avLst/>
          </a:prstGeom>
          <a:noFill/>
          <a:ln/>
        </p:spPr>
        <p:txBody>
          <a:bodyPr wrap="square" rtlCol="0" anchor="ctr"/>
          <a:lstStyle/>
          <a:p>
            <a:pPr marL="0" indent="0" algn="ctr">
              <a:buNone/>
            </a:pPr>
            <a:r>
              <a:rPr lang="en-US" sz="1800" b="1" dirty="0">
                <a:solidFill>
                  <a:srgbClr val="F2A541"/>
                </a:solidFill>
                <a:latin typeface="Aharoni" panose="02010803020104030203" pitchFamily="2" charset="-79"/>
                <a:ea typeface="Courier New" pitchFamily="34" charset="-122"/>
                <a:cs typeface="Aharoni" panose="02010803020104030203" pitchFamily="2" charset="-79"/>
              </a:rPr>
              <a:t>× V</a:t>
            </a:r>
            <a:endParaRPr lang="en-US" sz="1800" dirty="0">
              <a:latin typeface="Aharoni" panose="02010803020104030203" pitchFamily="2" charset="-79"/>
              <a:cs typeface="Aharoni" panose="02010803020104030203" pitchFamily="2" charset="-79"/>
            </a:endParaRPr>
          </a:p>
        </p:txBody>
      </p:sp>
      <p:sp>
        <p:nvSpPr>
          <p:cNvPr id="18" name="Text 16"/>
          <p:cNvSpPr/>
          <p:nvPr/>
        </p:nvSpPr>
        <p:spPr>
          <a:xfrm>
            <a:off x="9601200" y="2834640"/>
            <a:ext cx="2377440" cy="1188720"/>
          </a:xfrm>
          <a:prstGeom prst="rect">
            <a:avLst/>
          </a:prstGeom>
          <a:noFill/>
          <a:ln/>
        </p:spPr>
        <p:txBody>
          <a:bodyPr wrap="square" rtlCol="0" anchor="ctr"/>
          <a:lstStyle/>
          <a:p>
            <a:pPr marL="0" indent="0">
              <a:buNone/>
            </a:pPr>
            <a:r>
              <a:rPr lang="en-US" sz="1100" dirty="0">
                <a:solidFill>
                  <a:srgbClr val="CADCFC"/>
                </a:solidFill>
                <a:latin typeface="Aharoni" panose="02010803020104030203" pitchFamily="2" charset="-79"/>
                <a:ea typeface="Calibri" pitchFamily="34" charset="-122"/>
                <a:cs typeface="Aharoni" panose="02010803020104030203" pitchFamily="2" charset="-79"/>
              </a:rPr>
              <a:t>Weighted aggregation — the final attended representation</a:t>
            </a:r>
            <a:endParaRPr lang="en-US" sz="1100" dirty="0">
              <a:latin typeface="Aharoni" panose="02010803020104030203" pitchFamily="2" charset="-79"/>
              <a:cs typeface="Aharoni" panose="02010803020104030203" pitchFamily="2" charset="-79"/>
            </a:endParaRPr>
          </a:p>
        </p:txBody>
      </p:sp>
      <p:sp>
        <p:nvSpPr>
          <p:cNvPr id="19" name="Text 17"/>
          <p:cNvSpPr/>
          <p:nvPr/>
        </p:nvSpPr>
        <p:spPr>
          <a:xfrm>
            <a:off x="548640" y="4480560"/>
            <a:ext cx="10789920" cy="822960"/>
          </a:xfrm>
          <a:prstGeom prst="rect">
            <a:avLst/>
          </a:prstGeom>
          <a:noFill/>
          <a:ln/>
        </p:spPr>
        <p:txBody>
          <a:bodyPr wrap="square" rtlCol="0" anchor="ctr"/>
          <a:lstStyle/>
          <a:p>
            <a:pPr marL="0" indent="0">
              <a:buNone/>
            </a:pPr>
            <a:r>
              <a:rPr lang="en-US" sz="1450" i="1" dirty="0">
                <a:solidFill>
                  <a:srgbClr val="CADCFC"/>
                </a:solidFill>
                <a:latin typeface="Aharoni" panose="02010803020104030203" pitchFamily="2" charset="-79"/>
                <a:ea typeface="Calibri" pitchFamily="34" charset="-122"/>
                <a:cs typeface="Aharoni" panose="02010803020104030203" pitchFamily="2" charset="-79"/>
              </a:rPr>
              <a:t>Cross-attention: the word “car” asks a question of every image patch — which of you matters to me? At its core, attention is linear algebra + normalization.</a:t>
            </a:r>
            <a:endParaRPr lang="en-US" sz="1450" dirty="0">
              <a:latin typeface="Aharoni" panose="02010803020104030203" pitchFamily="2" charset="-79"/>
              <a:cs typeface="Aharoni" panose="02010803020104030203" pitchFamily="2" charset="-79"/>
            </a:endParaRPr>
          </a:p>
        </p:txBody>
      </p:sp>
      <p:sp>
        <p:nvSpPr>
          <p:cNvPr id="21" name="Text 1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07</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3</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From Images to Vectors: Vision Encoding</a:t>
            </a:r>
            <a:endParaRPr lang="en-US" sz="3200" dirty="0">
              <a:latin typeface="Aharoni" panose="02010803020104030203" pitchFamily="2" charset="-79"/>
              <a:cs typeface="Aharoni" panose="02010803020104030203" pitchFamily="2" charset="-79"/>
            </a:endParaRPr>
          </a:p>
        </p:txBody>
      </p:sp>
      <p:sp>
        <p:nvSpPr>
          <p:cNvPr id="4" name="Text 2"/>
          <p:cNvSpPr/>
          <p:nvPr/>
        </p:nvSpPr>
        <p:spPr>
          <a:xfrm>
            <a:off x="548640" y="1965960"/>
            <a:ext cx="6126480" cy="3291840"/>
          </a:xfrm>
          <a:prstGeom prst="rect">
            <a:avLst/>
          </a:prstGeom>
          <a:noFill/>
          <a:ln/>
        </p:spPr>
        <p:txBody>
          <a:bodyPr wrap="square" rtlCol="0" anchor="ctr"/>
          <a:lstStyle/>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Convolution = structured matrix multiplication with weight sharing and local receptive fields</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ViT-style patching: image → grid of patches → each patch flattened &amp; linearly projected into a vector</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Positional encoding: matrices alone lose spatial order — we re-inject “where” explicitly</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CLIP-style contrastive pretraining aligns image and text vector spaces before VLM training even begins</a:t>
            </a:r>
            <a:endParaRPr lang="en-US" dirty="0">
              <a:latin typeface="Aharoni" panose="02010803020104030203" pitchFamily="2" charset="-79"/>
              <a:cs typeface="Aharoni" panose="02010803020104030203" pitchFamily="2" charset="-79"/>
            </a:endParaRPr>
          </a:p>
        </p:txBody>
      </p:sp>
      <p:sp>
        <p:nvSpPr>
          <p:cNvPr id="5" name="Shape 3"/>
          <p:cNvSpPr/>
          <p:nvPr/>
        </p:nvSpPr>
        <p:spPr>
          <a:xfrm>
            <a:off x="7315200" y="2103120"/>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6" name="Shape 4"/>
          <p:cNvSpPr/>
          <p:nvPr/>
        </p:nvSpPr>
        <p:spPr>
          <a:xfrm>
            <a:off x="7882128" y="2103120"/>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7" name="Shape 5"/>
          <p:cNvSpPr/>
          <p:nvPr/>
        </p:nvSpPr>
        <p:spPr>
          <a:xfrm>
            <a:off x="8449056" y="2103120"/>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8" name="Shape 6"/>
          <p:cNvSpPr/>
          <p:nvPr/>
        </p:nvSpPr>
        <p:spPr>
          <a:xfrm>
            <a:off x="9015984" y="2103120"/>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9" name="Shape 7"/>
          <p:cNvSpPr/>
          <p:nvPr/>
        </p:nvSpPr>
        <p:spPr>
          <a:xfrm>
            <a:off x="7315200" y="2670048"/>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0" name="Shape 8"/>
          <p:cNvSpPr/>
          <p:nvPr/>
        </p:nvSpPr>
        <p:spPr>
          <a:xfrm>
            <a:off x="7882128" y="2670048"/>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1" name="Shape 9"/>
          <p:cNvSpPr/>
          <p:nvPr/>
        </p:nvSpPr>
        <p:spPr>
          <a:xfrm>
            <a:off x="8449056" y="2670048"/>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2" name="Shape 10"/>
          <p:cNvSpPr/>
          <p:nvPr/>
        </p:nvSpPr>
        <p:spPr>
          <a:xfrm>
            <a:off x="9015984" y="2670048"/>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3" name="Shape 11"/>
          <p:cNvSpPr/>
          <p:nvPr/>
        </p:nvSpPr>
        <p:spPr>
          <a:xfrm>
            <a:off x="7315200" y="3236976"/>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4" name="Shape 12"/>
          <p:cNvSpPr/>
          <p:nvPr/>
        </p:nvSpPr>
        <p:spPr>
          <a:xfrm>
            <a:off x="7882128" y="3236976"/>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5" name="Shape 13"/>
          <p:cNvSpPr/>
          <p:nvPr/>
        </p:nvSpPr>
        <p:spPr>
          <a:xfrm>
            <a:off x="8449056" y="3236976"/>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6" name="Shape 14"/>
          <p:cNvSpPr/>
          <p:nvPr/>
        </p:nvSpPr>
        <p:spPr>
          <a:xfrm>
            <a:off x="9015984" y="3236976"/>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7" name="Shape 15"/>
          <p:cNvSpPr/>
          <p:nvPr/>
        </p:nvSpPr>
        <p:spPr>
          <a:xfrm>
            <a:off x="7315200" y="3803904"/>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8" name="Shape 16"/>
          <p:cNvSpPr/>
          <p:nvPr/>
        </p:nvSpPr>
        <p:spPr>
          <a:xfrm>
            <a:off x="7882128" y="3803904"/>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9" name="Shape 17"/>
          <p:cNvSpPr/>
          <p:nvPr/>
        </p:nvSpPr>
        <p:spPr>
          <a:xfrm>
            <a:off x="8449056" y="3803904"/>
            <a:ext cx="521208" cy="521208"/>
          </a:xfrm>
          <a:prstGeom prst="rect">
            <a:avLst/>
          </a:prstGeom>
          <a:solidFill>
            <a:srgbClr val="E4EEF2"/>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0" name="Shape 18"/>
          <p:cNvSpPr/>
          <p:nvPr/>
        </p:nvSpPr>
        <p:spPr>
          <a:xfrm>
            <a:off x="9015984" y="3803904"/>
            <a:ext cx="521208" cy="521208"/>
          </a:xfrm>
          <a:prstGeom prst="rect">
            <a:avLst/>
          </a:prstGeom>
          <a:solidFill>
            <a:srgbClr val="BFD7E0"/>
          </a:solidFill>
          <a:ln w="19050">
            <a:solidFill>
              <a:srgbClr val="FFFFFF"/>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1" name="Text 19"/>
          <p:cNvSpPr/>
          <p:nvPr/>
        </p:nvSpPr>
        <p:spPr>
          <a:xfrm>
            <a:off x="7315200" y="4507992"/>
            <a:ext cx="2267712" cy="320040"/>
          </a:xfrm>
          <a:prstGeom prst="rect">
            <a:avLst/>
          </a:prstGeom>
          <a:noFill/>
          <a:ln/>
        </p:spPr>
        <p:txBody>
          <a:bodyPr wrap="square" rtlCol="0" anchor="ctr"/>
          <a:lstStyle/>
          <a:p>
            <a:pPr marL="0" indent="0" algn="ctr">
              <a:buNone/>
            </a:pPr>
            <a:r>
              <a:rPr lang="en-US" sz="1100" i="1" dirty="0">
                <a:solidFill>
                  <a:srgbClr val="6B7B85"/>
                </a:solidFill>
                <a:latin typeface="Aharoni" panose="02010803020104030203" pitchFamily="2" charset="-79"/>
                <a:cs typeface="Aharoni" panose="02010803020104030203" pitchFamily="2" charset="-79"/>
              </a:rPr>
              <a:t>image → patch grid</a:t>
            </a:r>
            <a:endParaRPr lang="en-US" sz="1100" dirty="0">
              <a:latin typeface="Aharoni" panose="02010803020104030203" pitchFamily="2" charset="-79"/>
              <a:cs typeface="Aharoni" panose="02010803020104030203" pitchFamily="2" charset="-79"/>
            </a:endParaRPr>
          </a:p>
        </p:txBody>
      </p:sp>
      <p:sp>
        <p:nvSpPr>
          <p:cNvPr id="22" name="Text 20"/>
          <p:cNvSpPr/>
          <p:nvPr/>
        </p:nvSpPr>
        <p:spPr>
          <a:xfrm>
            <a:off x="7315200" y="4873752"/>
            <a:ext cx="2267712" cy="320040"/>
          </a:xfrm>
          <a:prstGeom prst="rect">
            <a:avLst/>
          </a:prstGeom>
          <a:noFill/>
          <a:ln/>
        </p:spPr>
        <p:txBody>
          <a:bodyPr wrap="square" rtlCol="0" anchor="ctr"/>
          <a:lstStyle/>
          <a:p>
            <a:pPr marL="0" indent="0" algn="ctr">
              <a:buNone/>
            </a:pPr>
            <a:r>
              <a:rPr lang="en-US" sz="1100" i="1" dirty="0">
                <a:solidFill>
                  <a:srgbClr val="6B7B85"/>
                </a:solidFill>
                <a:latin typeface="Aharoni" panose="02010803020104030203" pitchFamily="2" charset="-79"/>
                <a:cs typeface="Aharoni" panose="02010803020104030203" pitchFamily="2" charset="-79"/>
              </a:rPr>
              <a:t>↓ flatten + project</a:t>
            </a:r>
            <a:endParaRPr lang="en-US" sz="1100" dirty="0">
              <a:latin typeface="Aharoni" panose="02010803020104030203" pitchFamily="2" charset="-79"/>
              <a:cs typeface="Aharoni" panose="02010803020104030203" pitchFamily="2" charset="-79"/>
            </a:endParaRPr>
          </a:p>
        </p:txBody>
      </p:sp>
      <p:sp>
        <p:nvSpPr>
          <p:cNvPr id="23" name="Shape 21"/>
          <p:cNvSpPr/>
          <p:nvPr/>
        </p:nvSpPr>
        <p:spPr>
          <a:xfrm>
            <a:off x="7863840" y="5285232"/>
            <a:ext cx="274320" cy="274320"/>
          </a:xfrm>
          <a:prstGeom prst="rect">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4" name="Shape 22"/>
          <p:cNvSpPr/>
          <p:nvPr/>
        </p:nvSpPr>
        <p:spPr>
          <a:xfrm>
            <a:off x="8183880" y="5285232"/>
            <a:ext cx="274320" cy="274320"/>
          </a:xfrm>
          <a:prstGeom prst="rect">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5" name="Shape 23"/>
          <p:cNvSpPr/>
          <p:nvPr/>
        </p:nvSpPr>
        <p:spPr>
          <a:xfrm>
            <a:off x="8503920" y="5285232"/>
            <a:ext cx="274320" cy="274320"/>
          </a:xfrm>
          <a:prstGeom prst="rect">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6" name="Shape 24"/>
          <p:cNvSpPr/>
          <p:nvPr/>
        </p:nvSpPr>
        <p:spPr>
          <a:xfrm>
            <a:off x="8823960" y="5285232"/>
            <a:ext cx="274320" cy="274320"/>
          </a:xfrm>
          <a:prstGeom prst="rect">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7" name="Text 25"/>
          <p:cNvSpPr/>
          <p:nvPr/>
        </p:nvSpPr>
        <p:spPr>
          <a:xfrm>
            <a:off x="7315200" y="5650992"/>
            <a:ext cx="2267712" cy="320040"/>
          </a:xfrm>
          <a:prstGeom prst="rect">
            <a:avLst/>
          </a:prstGeom>
          <a:noFill/>
          <a:ln/>
        </p:spPr>
        <p:txBody>
          <a:bodyPr wrap="square" rtlCol="0" anchor="ctr"/>
          <a:lstStyle/>
          <a:p>
            <a:pPr marL="0" indent="0" algn="ctr">
              <a:buNone/>
            </a:pPr>
            <a:r>
              <a:rPr lang="en-US" sz="1100" i="1" dirty="0">
                <a:solidFill>
                  <a:srgbClr val="6B7B85"/>
                </a:solidFill>
                <a:latin typeface="Aharoni" panose="02010803020104030203" pitchFamily="2" charset="-79"/>
                <a:cs typeface="Aharoni" panose="02010803020104030203" pitchFamily="2" charset="-79"/>
              </a:rPr>
              <a:t>sequence of patch vectors</a:t>
            </a:r>
            <a:endParaRPr lang="en-US" sz="1100" dirty="0">
              <a:latin typeface="Aharoni" panose="02010803020104030203" pitchFamily="2" charset="-79"/>
              <a:cs typeface="Aharoni" panose="02010803020104030203" pitchFamily="2" charset="-79"/>
            </a:endParaRPr>
          </a:p>
        </p:txBody>
      </p:sp>
      <p:sp>
        <p:nvSpPr>
          <p:cNvPr id="29" name="Text 2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08</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4 · OPTIMIZATION</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The Learning Problem as Function Minimization</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2011680"/>
            <a:ext cx="5120640" cy="914400"/>
          </a:xfrm>
          <a:prstGeom prst="roundRect">
            <a:avLst>
              <a:gd name="adj" fmla="val 10000"/>
            </a:avLst>
          </a:prstGeom>
          <a:solidFill>
            <a:srgbClr val="21295C"/>
          </a:solidFill>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548640" y="2011680"/>
            <a:ext cx="5120640" cy="914400"/>
          </a:xfrm>
          <a:prstGeom prst="rect">
            <a:avLst/>
          </a:prstGeom>
          <a:noFill/>
          <a:ln/>
        </p:spPr>
        <p:txBody>
          <a:bodyPr wrap="square" rtlCol="0" anchor="ctr"/>
          <a:lstStyle/>
          <a:p>
            <a:pPr marL="0" indent="0" algn="ctr">
              <a:buNone/>
            </a:pPr>
            <a:r>
              <a:rPr lang="en-US" sz="2600" b="1" dirty="0">
                <a:solidFill>
                  <a:srgbClr val="FFFFFF"/>
                </a:solidFill>
                <a:latin typeface="Aharoni" panose="02010803020104030203" pitchFamily="2" charset="-79"/>
                <a:ea typeface="Courier New" pitchFamily="34" charset="-122"/>
                <a:cs typeface="Aharoni" panose="02010803020104030203" pitchFamily="2" charset="-79"/>
              </a:rPr>
              <a:t>minimize  L(w)</a:t>
            </a:r>
            <a:endParaRPr lang="en-US" sz="2600" dirty="0">
              <a:latin typeface="Aharoni" panose="02010803020104030203" pitchFamily="2" charset="-79"/>
              <a:cs typeface="Aharoni" panose="02010803020104030203" pitchFamily="2" charset="-79"/>
            </a:endParaRPr>
          </a:p>
        </p:txBody>
      </p:sp>
      <p:sp>
        <p:nvSpPr>
          <p:cNvPr id="6" name="Text 4"/>
          <p:cNvSpPr/>
          <p:nvPr/>
        </p:nvSpPr>
        <p:spPr>
          <a:xfrm>
            <a:off x="548640" y="3200400"/>
            <a:ext cx="5486400" cy="2194560"/>
          </a:xfrm>
          <a:prstGeom prst="rect">
            <a:avLst/>
          </a:prstGeom>
          <a:noFill/>
          <a:ln/>
        </p:spPr>
        <p:txBody>
          <a:bodyPr wrap="square" rtlCol="0" anchor="ctr"/>
          <a:lstStyle/>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Loss function L: a numeric distance between prediction and ground truth</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w = every trainable number in the model (all the W matrices, all the biases)</a:t>
            </a:r>
            <a:endParaRPr lang="en-US"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Training = searching for w that minimizes L, averaged over the data distribution</a:t>
            </a:r>
            <a:endParaRPr lang="en-US" dirty="0">
              <a:latin typeface="Aharoni" panose="02010803020104030203" pitchFamily="2" charset="-79"/>
              <a:cs typeface="Aharoni" panose="02010803020104030203" pitchFamily="2" charset="-79"/>
            </a:endParaRPr>
          </a:p>
        </p:txBody>
      </p:sp>
      <p:sp>
        <p:nvSpPr>
          <p:cNvPr id="7" name="Shape 5"/>
          <p:cNvSpPr/>
          <p:nvPr/>
        </p:nvSpPr>
        <p:spPr>
          <a:xfrm>
            <a:off x="6309360" y="5120640"/>
            <a:ext cx="4389120" cy="0"/>
          </a:xfrm>
          <a:prstGeom prst="line">
            <a:avLst/>
          </a:prstGeom>
          <a:noFill/>
          <a:ln w="12700">
            <a:solidFill>
              <a:srgbClr val="C7D3D9"/>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8" name="Shape 6"/>
          <p:cNvSpPr/>
          <p:nvPr/>
        </p:nvSpPr>
        <p:spPr>
          <a:xfrm>
            <a:off x="6309360" y="2171151"/>
            <a:ext cx="182880" cy="471099"/>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9" name="Shape 7"/>
          <p:cNvSpPr/>
          <p:nvPr/>
        </p:nvSpPr>
        <p:spPr>
          <a:xfrm>
            <a:off x="6492240" y="2642250"/>
            <a:ext cx="182880" cy="430134"/>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0" name="Shape 8"/>
          <p:cNvSpPr/>
          <p:nvPr/>
        </p:nvSpPr>
        <p:spPr>
          <a:xfrm>
            <a:off x="6675120" y="3072384"/>
            <a:ext cx="182880" cy="389169"/>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1" name="Shape 9"/>
          <p:cNvSpPr/>
          <p:nvPr/>
        </p:nvSpPr>
        <p:spPr>
          <a:xfrm>
            <a:off x="6858000" y="3461553"/>
            <a:ext cx="182880" cy="348204"/>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2" name="Shape 10"/>
          <p:cNvSpPr/>
          <p:nvPr/>
        </p:nvSpPr>
        <p:spPr>
          <a:xfrm>
            <a:off x="7040880" y="3809756"/>
            <a:ext cx="182880" cy="307238"/>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3" name="Shape 11"/>
          <p:cNvSpPr/>
          <p:nvPr/>
        </p:nvSpPr>
        <p:spPr>
          <a:xfrm>
            <a:off x="7223760" y="4116995"/>
            <a:ext cx="182880" cy="266273"/>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4" name="Shape 12"/>
          <p:cNvSpPr/>
          <p:nvPr/>
        </p:nvSpPr>
        <p:spPr>
          <a:xfrm>
            <a:off x="7406640" y="4383268"/>
            <a:ext cx="182880" cy="225308"/>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5" name="Shape 13"/>
          <p:cNvSpPr/>
          <p:nvPr/>
        </p:nvSpPr>
        <p:spPr>
          <a:xfrm>
            <a:off x="7589520" y="4608576"/>
            <a:ext cx="182880" cy="184343"/>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6" name="Shape 14"/>
          <p:cNvSpPr/>
          <p:nvPr/>
        </p:nvSpPr>
        <p:spPr>
          <a:xfrm>
            <a:off x="7772400" y="4792919"/>
            <a:ext cx="182880" cy="143378"/>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7" name="Shape 15"/>
          <p:cNvSpPr/>
          <p:nvPr/>
        </p:nvSpPr>
        <p:spPr>
          <a:xfrm>
            <a:off x="7955280" y="4936297"/>
            <a:ext cx="182880" cy="102413"/>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8" name="Shape 16"/>
          <p:cNvSpPr/>
          <p:nvPr/>
        </p:nvSpPr>
        <p:spPr>
          <a:xfrm>
            <a:off x="8138160" y="5038710"/>
            <a:ext cx="182880" cy="61448"/>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9" name="Shape 17"/>
          <p:cNvSpPr/>
          <p:nvPr/>
        </p:nvSpPr>
        <p:spPr>
          <a:xfrm>
            <a:off x="8321040" y="5100157"/>
            <a:ext cx="182880" cy="20483"/>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0" name="Shape 18"/>
          <p:cNvSpPr/>
          <p:nvPr/>
        </p:nvSpPr>
        <p:spPr>
          <a:xfrm>
            <a:off x="8503920" y="5120640"/>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1" name="Shape 19"/>
          <p:cNvSpPr/>
          <p:nvPr/>
        </p:nvSpPr>
        <p:spPr>
          <a:xfrm>
            <a:off x="8686800" y="5100157"/>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2" name="Shape 20"/>
          <p:cNvSpPr/>
          <p:nvPr/>
        </p:nvSpPr>
        <p:spPr>
          <a:xfrm>
            <a:off x="8869680" y="5038710"/>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3" name="Shape 21"/>
          <p:cNvSpPr/>
          <p:nvPr/>
        </p:nvSpPr>
        <p:spPr>
          <a:xfrm>
            <a:off x="9052560" y="4936297"/>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4" name="Shape 22"/>
          <p:cNvSpPr/>
          <p:nvPr/>
        </p:nvSpPr>
        <p:spPr>
          <a:xfrm>
            <a:off x="9235440" y="4792919"/>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5" name="Shape 23"/>
          <p:cNvSpPr/>
          <p:nvPr/>
        </p:nvSpPr>
        <p:spPr>
          <a:xfrm>
            <a:off x="9418320" y="4608576"/>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6" name="Shape 24"/>
          <p:cNvSpPr/>
          <p:nvPr/>
        </p:nvSpPr>
        <p:spPr>
          <a:xfrm>
            <a:off x="9601200" y="4383268"/>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7" name="Shape 25"/>
          <p:cNvSpPr/>
          <p:nvPr/>
        </p:nvSpPr>
        <p:spPr>
          <a:xfrm>
            <a:off x="9784080" y="4116995"/>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8" name="Shape 26"/>
          <p:cNvSpPr/>
          <p:nvPr/>
        </p:nvSpPr>
        <p:spPr>
          <a:xfrm>
            <a:off x="9966960" y="3809756"/>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9" name="Shape 27"/>
          <p:cNvSpPr/>
          <p:nvPr/>
        </p:nvSpPr>
        <p:spPr>
          <a:xfrm>
            <a:off x="10149840" y="3461553"/>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30" name="Shape 28"/>
          <p:cNvSpPr/>
          <p:nvPr/>
        </p:nvSpPr>
        <p:spPr>
          <a:xfrm>
            <a:off x="10332720" y="3072384"/>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31" name="Shape 29"/>
          <p:cNvSpPr/>
          <p:nvPr/>
        </p:nvSpPr>
        <p:spPr>
          <a:xfrm>
            <a:off x="10515600" y="2642250"/>
            <a:ext cx="182880" cy="0"/>
          </a:xfrm>
          <a:prstGeom prst="line">
            <a:avLst/>
          </a:prstGeom>
          <a:noFill/>
          <a:ln w="317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32" name="Shape 30"/>
          <p:cNvSpPr/>
          <p:nvPr/>
        </p:nvSpPr>
        <p:spPr>
          <a:xfrm>
            <a:off x="8412480" y="5029200"/>
            <a:ext cx="182880" cy="182880"/>
          </a:xfrm>
          <a:prstGeom prst="ellipse">
            <a:avLst/>
          </a:prstGeom>
          <a:solidFill>
            <a:srgbClr val="F2A541"/>
          </a:solidFill>
          <a:ln/>
        </p:spPr>
        <p:txBody>
          <a:bodyPr/>
          <a:lstStyle/>
          <a:p>
            <a:endParaRPr lang="en-US">
              <a:latin typeface="Aharoni" panose="02010803020104030203" pitchFamily="2" charset="-79"/>
              <a:cs typeface="Aharoni" panose="02010803020104030203" pitchFamily="2" charset="-79"/>
            </a:endParaRPr>
          </a:p>
        </p:txBody>
      </p:sp>
      <p:sp>
        <p:nvSpPr>
          <p:cNvPr id="33" name="Text 31"/>
          <p:cNvSpPr/>
          <p:nvPr/>
        </p:nvSpPr>
        <p:spPr>
          <a:xfrm>
            <a:off x="6309360" y="5303520"/>
            <a:ext cx="4389120" cy="365760"/>
          </a:xfrm>
          <a:prstGeom prst="rect">
            <a:avLst/>
          </a:prstGeom>
          <a:noFill/>
          <a:ln/>
        </p:spPr>
        <p:txBody>
          <a:bodyPr wrap="square" rtlCol="0" anchor="ctr"/>
          <a:lstStyle/>
          <a:p>
            <a:pPr marL="0" indent="0" algn="ctr">
              <a:buNone/>
            </a:pPr>
            <a:r>
              <a:rPr lang="en-US" sz="1100" i="1" dirty="0">
                <a:solidFill>
                  <a:srgbClr val="6B7B85"/>
                </a:solidFill>
                <a:latin typeface="Aharoni" panose="02010803020104030203" pitchFamily="2" charset="-79"/>
                <a:cs typeface="Aharoni" panose="02010803020104030203" pitchFamily="2" charset="-79"/>
              </a:rPr>
              <a:t>minimum = the trained model</a:t>
            </a:r>
            <a:endParaRPr lang="en-US" sz="1100" dirty="0">
              <a:latin typeface="Aharoni" panose="02010803020104030203" pitchFamily="2" charset="-79"/>
              <a:cs typeface="Aharoni" panose="02010803020104030203" pitchFamily="2" charset="-79"/>
            </a:endParaRPr>
          </a:p>
        </p:txBody>
      </p:sp>
      <p:sp>
        <p:nvSpPr>
          <p:cNvPr id="35" name="Text 3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09</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SECTION 4 · OPTIMIZATION</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Gradient Descent &amp; Calculus Recap</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1965960"/>
            <a:ext cx="5760720" cy="777240"/>
          </a:xfrm>
          <a:prstGeom prst="roundRect">
            <a:avLst>
              <a:gd name="adj" fmla="val 11765"/>
            </a:avLst>
          </a:prstGeom>
          <a:solidFill>
            <a:srgbClr val="21295C"/>
          </a:solidFill>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548640" y="1965960"/>
            <a:ext cx="5760720" cy="777240"/>
          </a:xfrm>
          <a:prstGeom prst="rect">
            <a:avLst/>
          </a:prstGeom>
          <a:noFill/>
          <a:ln/>
        </p:spPr>
        <p:txBody>
          <a:bodyPr wrap="square" rtlCol="0" anchor="ctr"/>
          <a:lstStyle/>
          <a:p>
            <a:pPr marL="0" indent="0" algn="ctr">
              <a:buNone/>
            </a:pPr>
            <a:r>
              <a:rPr lang="en-US" sz="2600" b="1" dirty="0">
                <a:solidFill>
                  <a:srgbClr val="FFFFFF"/>
                </a:solidFill>
                <a:latin typeface="Aharoni" panose="02010803020104030203" pitchFamily="2" charset="-79"/>
                <a:ea typeface="Courier New" pitchFamily="34" charset="-122"/>
                <a:cs typeface="Aharoni" panose="02010803020104030203" pitchFamily="2" charset="-79"/>
              </a:rPr>
              <a:t>w ← w − lr · ∇L(w)</a:t>
            </a:r>
            <a:endParaRPr lang="en-US" sz="2600" dirty="0">
              <a:latin typeface="Aharoni" panose="02010803020104030203" pitchFamily="2" charset="-79"/>
              <a:cs typeface="Aharoni" panose="02010803020104030203" pitchFamily="2" charset="-79"/>
            </a:endParaRPr>
          </a:p>
        </p:txBody>
      </p:sp>
      <p:sp>
        <p:nvSpPr>
          <p:cNvPr id="6" name="Text 4"/>
          <p:cNvSpPr/>
          <p:nvPr/>
        </p:nvSpPr>
        <p:spPr>
          <a:xfrm>
            <a:off x="548640" y="3017520"/>
            <a:ext cx="5760720" cy="3017520"/>
          </a:xfrm>
          <a:prstGeom prst="rect">
            <a:avLst/>
          </a:prstGeom>
          <a:noFill/>
          <a:ln/>
        </p:spPr>
        <p:txBody>
          <a:bodyPr wrap="square" rtlCol="0" anchor="ctr"/>
          <a:lstStyle/>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Derivative: direction of steepest change (1 variable)</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Gradient ∇L: the multivariable extension — one partial derivative per parameter</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lr = learning rate: how big a step to take</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Too high → overshoots and diverges. Too low → crawls, may never converge in time</a:t>
            </a:r>
            <a:endParaRPr lang="en-US" dirty="0">
              <a:latin typeface="Aharoni" panose="02010803020104030203" pitchFamily="2" charset="-79"/>
              <a:cs typeface="Aharoni" panose="02010803020104030203" pitchFamily="2" charset="-79"/>
            </a:endParaRPr>
          </a:p>
        </p:txBody>
      </p:sp>
      <p:sp>
        <p:nvSpPr>
          <p:cNvPr id="7" name="Shape 5"/>
          <p:cNvSpPr/>
          <p:nvPr/>
        </p:nvSpPr>
        <p:spPr>
          <a:xfrm>
            <a:off x="7242048" y="3925922"/>
            <a:ext cx="256032" cy="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8" name="Shape 6"/>
          <p:cNvSpPr/>
          <p:nvPr/>
        </p:nvSpPr>
        <p:spPr>
          <a:xfrm>
            <a:off x="7498080" y="3452774"/>
            <a:ext cx="256032" cy="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9" name="Shape 7"/>
          <p:cNvSpPr/>
          <p:nvPr/>
        </p:nvSpPr>
        <p:spPr>
          <a:xfrm>
            <a:off x="7754112" y="3065654"/>
            <a:ext cx="256032" cy="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0" name="Shape 8"/>
          <p:cNvSpPr/>
          <p:nvPr/>
        </p:nvSpPr>
        <p:spPr>
          <a:xfrm>
            <a:off x="8010144" y="2764560"/>
            <a:ext cx="256032" cy="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1" name="Shape 9"/>
          <p:cNvSpPr/>
          <p:nvPr/>
        </p:nvSpPr>
        <p:spPr>
          <a:xfrm>
            <a:off x="8266176" y="2549494"/>
            <a:ext cx="256032" cy="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2" name="Shape 10"/>
          <p:cNvSpPr/>
          <p:nvPr/>
        </p:nvSpPr>
        <p:spPr>
          <a:xfrm>
            <a:off x="8522208" y="2420453"/>
            <a:ext cx="256032" cy="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3" name="Shape 11"/>
          <p:cNvSpPr/>
          <p:nvPr/>
        </p:nvSpPr>
        <p:spPr>
          <a:xfrm>
            <a:off x="8778240" y="2377440"/>
            <a:ext cx="256032" cy="43013"/>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4" name="Shape 12"/>
          <p:cNvSpPr/>
          <p:nvPr/>
        </p:nvSpPr>
        <p:spPr>
          <a:xfrm>
            <a:off x="9034272" y="2420453"/>
            <a:ext cx="256032" cy="12904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5" name="Shape 13"/>
          <p:cNvSpPr/>
          <p:nvPr/>
        </p:nvSpPr>
        <p:spPr>
          <a:xfrm>
            <a:off x="9290304" y="2549494"/>
            <a:ext cx="256032" cy="215067"/>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6" name="Shape 14"/>
          <p:cNvSpPr/>
          <p:nvPr/>
        </p:nvSpPr>
        <p:spPr>
          <a:xfrm>
            <a:off x="9546336" y="2764560"/>
            <a:ext cx="256032" cy="301094"/>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7" name="Shape 15"/>
          <p:cNvSpPr/>
          <p:nvPr/>
        </p:nvSpPr>
        <p:spPr>
          <a:xfrm>
            <a:off x="9802368" y="3065654"/>
            <a:ext cx="256032" cy="387120"/>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8" name="Shape 16"/>
          <p:cNvSpPr/>
          <p:nvPr/>
        </p:nvSpPr>
        <p:spPr>
          <a:xfrm>
            <a:off x="10058400" y="3452774"/>
            <a:ext cx="256032" cy="473147"/>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9" name="Shape 17"/>
          <p:cNvSpPr/>
          <p:nvPr/>
        </p:nvSpPr>
        <p:spPr>
          <a:xfrm>
            <a:off x="10314432" y="3925922"/>
            <a:ext cx="256032" cy="559174"/>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0" name="Shape 18"/>
          <p:cNvSpPr/>
          <p:nvPr/>
        </p:nvSpPr>
        <p:spPr>
          <a:xfrm>
            <a:off x="10570464" y="4485095"/>
            <a:ext cx="256032" cy="645201"/>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1" name="Shape 19"/>
          <p:cNvSpPr/>
          <p:nvPr/>
        </p:nvSpPr>
        <p:spPr>
          <a:xfrm>
            <a:off x="10826496" y="5130296"/>
            <a:ext cx="256032" cy="731227"/>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2" name="Shape 20"/>
          <p:cNvSpPr/>
          <p:nvPr/>
        </p:nvSpPr>
        <p:spPr>
          <a:xfrm>
            <a:off x="11082528" y="5861523"/>
            <a:ext cx="256032" cy="817254"/>
          </a:xfrm>
          <a:prstGeom prst="line">
            <a:avLst/>
          </a:prstGeom>
          <a:noFill/>
          <a:ln w="317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23" name="Shape 21"/>
          <p:cNvSpPr/>
          <p:nvPr/>
        </p:nvSpPr>
        <p:spPr>
          <a:xfrm>
            <a:off x="7168896" y="3852770"/>
            <a:ext cx="146304" cy="146304"/>
          </a:xfrm>
          <a:prstGeom prst="ellipse">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4" name="Shape 22"/>
          <p:cNvSpPr/>
          <p:nvPr/>
        </p:nvSpPr>
        <p:spPr>
          <a:xfrm>
            <a:off x="8449056" y="2347301"/>
            <a:ext cx="146304" cy="146304"/>
          </a:xfrm>
          <a:prstGeom prst="ellipse">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5" name="Shape 23"/>
          <p:cNvSpPr/>
          <p:nvPr/>
        </p:nvSpPr>
        <p:spPr>
          <a:xfrm>
            <a:off x="9473184" y="2691408"/>
            <a:ext cx="146304" cy="146304"/>
          </a:xfrm>
          <a:prstGeom prst="ellipse">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6" name="Shape 24"/>
          <p:cNvSpPr/>
          <p:nvPr/>
        </p:nvSpPr>
        <p:spPr>
          <a:xfrm>
            <a:off x="10241280" y="3852770"/>
            <a:ext cx="146304" cy="146304"/>
          </a:xfrm>
          <a:prstGeom prst="ellipse">
            <a:avLst/>
          </a:prstGeom>
          <a:solidFill>
            <a:srgbClr val="065A82"/>
          </a:solidFill>
          <a:ln/>
        </p:spPr>
        <p:txBody>
          <a:bodyPr/>
          <a:lstStyle/>
          <a:p>
            <a:endParaRPr lang="en-US">
              <a:latin typeface="Aharoni" panose="02010803020104030203" pitchFamily="2" charset="-79"/>
              <a:cs typeface="Aharoni" panose="02010803020104030203" pitchFamily="2" charset="-79"/>
            </a:endParaRPr>
          </a:p>
        </p:txBody>
      </p:sp>
      <p:sp>
        <p:nvSpPr>
          <p:cNvPr id="27" name="Shape 25"/>
          <p:cNvSpPr/>
          <p:nvPr/>
        </p:nvSpPr>
        <p:spPr>
          <a:xfrm>
            <a:off x="10753344" y="5057144"/>
            <a:ext cx="146304" cy="146304"/>
          </a:xfrm>
          <a:prstGeom prst="ellipse">
            <a:avLst/>
          </a:prstGeom>
          <a:solidFill>
            <a:srgbClr val="F2A541"/>
          </a:solidFill>
          <a:ln/>
        </p:spPr>
        <p:txBody>
          <a:bodyPr/>
          <a:lstStyle/>
          <a:p>
            <a:endParaRPr lang="en-US">
              <a:latin typeface="Aharoni" panose="02010803020104030203" pitchFamily="2" charset="-79"/>
              <a:cs typeface="Aharoni" panose="02010803020104030203" pitchFamily="2" charset="-79"/>
            </a:endParaRPr>
          </a:p>
        </p:txBody>
      </p:sp>
      <p:sp>
        <p:nvSpPr>
          <p:cNvPr id="28" name="Text 26"/>
          <p:cNvSpPr/>
          <p:nvPr/>
        </p:nvSpPr>
        <p:spPr>
          <a:xfrm>
            <a:off x="6949440" y="5212080"/>
            <a:ext cx="4114800" cy="320040"/>
          </a:xfrm>
          <a:prstGeom prst="rect">
            <a:avLst/>
          </a:prstGeom>
          <a:noFill/>
          <a:ln/>
        </p:spPr>
        <p:txBody>
          <a:bodyPr wrap="square" rtlCol="0" anchor="ctr"/>
          <a:lstStyle/>
          <a:p>
            <a:pPr marL="0" indent="0" algn="ctr">
              <a:buNone/>
            </a:pPr>
            <a:r>
              <a:rPr lang="en-US" sz="1100" i="1" dirty="0">
                <a:solidFill>
                  <a:srgbClr val="6B7B85"/>
                </a:solidFill>
                <a:latin typeface="Aharoni" panose="02010803020104030203" pitchFamily="2" charset="-79"/>
                <a:cs typeface="Aharoni" panose="02010803020104030203" pitchFamily="2" charset="-79"/>
              </a:rPr>
              <a:t>steps toward the minimum</a:t>
            </a:r>
            <a:endParaRPr lang="en-US" sz="1100" dirty="0">
              <a:latin typeface="Aharoni" panose="02010803020104030203" pitchFamily="2" charset="-79"/>
              <a:cs typeface="Aharoni" panose="02010803020104030203" pitchFamily="2" charset="-79"/>
            </a:endParaRPr>
          </a:p>
        </p:txBody>
      </p:sp>
      <p:sp>
        <p:nvSpPr>
          <p:cNvPr id="30" name="Text 2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10</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SECTION 4 · OPTIMIZATION</a:t>
            </a:r>
            <a:endParaRPr lang="en-US" sz="1300" dirty="0"/>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Backpropagation</a:t>
            </a:r>
            <a:endParaRPr lang="en-US" sz="3200" dirty="0">
              <a:latin typeface="Aharoni" panose="02010803020104030203" pitchFamily="2" charset="-79"/>
              <a:cs typeface="Aharoni" panose="02010803020104030203" pitchFamily="2" charset="-79"/>
            </a:endParaRPr>
          </a:p>
        </p:txBody>
      </p:sp>
      <p:sp>
        <p:nvSpPr>
          <p:cNvPr id="4" name="Text 2"/>
          <p:cNvSpPr/>
          <p:nvPr/>
        </p:nvSpPr>
        <p:spPr>
          <a:xfrm>
            <a:off x="548640" y="2011680"/>
            <a:ext cx="6400800" cy="3840480"/>
          </a:xfrm>
          <a:prstGeom prst="rect">
            <a:avLst/>
          </a:prstGeom>
          <a:noFill/>
          <a:ln/>
        </p:spPr>
        <p:txBody>
          <a:bodyPr wrap="square" rtlCol="0" anchor="ctr"/>
          <a:lstStyle/>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The chain rule, applied through a computation graph</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Every layer's gradient depends on the gradient of the layer after it</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Gradients themselves are matrices / tensors — this is matrix calculus in practice</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Vanishing / exploding gradients: why very deep networks are hard to train directly</a:t>
            </a:r>
            <a:endParaRPr lang="en-US" dirty="0">
              <a:latin typeface="Aharoni" panose="02010803020104030203" pitchFamily="2" charset="-79"/>
              <a:cs typeface="Aharoni" panose="02010803020104030203" pitchFamily="2" charset="-79"/>
            </a:endParaRPr>
          </a:p>
          <a:p>
            <a:pPr marL="342900" indent="-342900">
              <a:spcAft>
                <a:spcPts val="1300"/>
              </a:spcAft>
              <a:buSzPct val="100000"/>
              <a:buChar char="▪"/>
            </a:pPr>
            <a:r>
              <a:rPr lang="en-US" dirty="0">
                <a:solidFill>
                  <a:srgbClr val="21295C"/>
                </a:solidFill>
                <a:latin typeface="Aharoni" panose="02010803020104030203" pitchFamily="2" charset="-79"/>
                <a:ea typeface="Calibri" pitchFamily="34" charset="-122"/>
                <a:cs typeface="Aharoni" panose="02010803020104030203" pitchFamily="2" charset="-79"/>
              </a:rPr>
              <a:t>→ motivates architecture choices: residual connections, normalization layers</a:t>
            </a:r>
            <a:endParaRPr lang="en-US" dirty="0">
              <a:latin typeface="Aharoni" panose="02010803020104030203" pitchFamily="2" charset="-79"/>
              <a:cs typeface="Aharoni" panose="02010803020104030203" pitchFamily="2" charset="-79"/>
            </a:endParaRPr>
          </a:p>
        </p:txBody>
      </p:sp>
      <p:sp>
        <p:nvSpPr>
          <p:cNvPr id="5" name="Shape 3"/>
          <p:cNvSpPr/>
          <p:nvPr/>
        </p:nvSpPr>
        <p:spPr>
          <a:xfrm>
            <a:off x="8823960" y="2606040"/>
            <a:ext cx="685800" cy="1280160"/>
          </a:xfrm>
          <a:prstGeom prst="line">
            <a:avLst/>
          </a:prstGeom>
          <a:noFill/>
          <a:ln w="25400">
            <a:solidFill>
              <a:srgbClr val="1C7293"/>
            </a:solidFill>
            <a:prstDash val="solid"/>
            <a:tailEnd type="triangle"/>
          </a:ln>
        </p:spPr>
        <p:txBody>
          <a:bodyPr/>
          <a:lstStyle/>
          <a:p>
            <a:endParaRPr lang="en-US"/>
          </a:p>
        </p:txBody>
      </p:sp>
      <p:sp>
        <p:nvSpPr>
          <p:cNvPr id="6" name="Shape 4"/>
          <p:cNvSpPr/>
          <p:nvPr/>
        </p:nvSpPr>
        <p:spPr>
          <a:xfrm>
            <a:off x="10195560" y="2606040"/>
            <a:ext cx="0" cy="1280160"/>
          </a:xfrm>
          <a:prstGeom prst="line">
            <a:avLst/>
          </a:prstGeom>
          <a:noFill/>
          <a:ln w="25400">
            <a:solidFill>
              <a:srgbClr val="1C7293"/>
            </a:solidFill>
            <a:prstDash val="solid"/>
            <a:tailEnd type="triangle"/>
          </a:ln>
        </p:spPr>
        <p:txBody>
          <a:bodyPr/>
          <a:lstStyle/>
          <a:p>
            <a:endParaRPr lang="en-US"/>
          </a:p>
        </p:txBody>
      </p:sp>
      <p:sp>
        <p:nvSpPr>
          <p:cNvPr id="7" name="Shape 5"/>
          <p:cNvSpPr/>
          <p:nvPr/>
        </p:nvSpPr>
        <p:spPr>
          <a:xfrm>
            <a:off x="9509760" y="3886200"/>
            <a:ext cx="0" cy="1188720"/>
          </a:xfrm>
          <a:prstGeom prst="line">
            <a:avLst/>
          </a:prstGeom>
          <a:noFill/>
          <a:ln w="25400">
            <a:solidFill>
              <a:srgbClr val="1C7293"/>
            </a:solidFill>
            <a:prstDash val="solid"/>
            <a:tailEnd type="triangle"/>
          </a:ln>
        </p:spPr>
        <p:txBody>
          <a:bodyPr/>
          <a:lstStyle/>
          <a:p>
            <a:endParaRPr lang="en-US"/>
          </a:p>
        </p:txBody>
      </p:sp>
      <p:sp>
        <p:nvSpPr>
          <p:cNvPr id="8" name="Shape 6"/>
          <p:cNvSpPr/>
          <p:nvPr/>
        </p:nvSpPr>
        <p:spPr>
          <a:xfrm>
            <a:off x="8595360" y="2377440"/>
            <a:ext cx="457200" cy="457200"/>
          </a:xfrm>
          <a:prstGeom prst="ellipse">
            <a:avLst/>
          </a:prstGeom>
          <a:solidFill>
            <a:srgbClr val="065A82"/>
          </a:solidFill>
          <a:ln w="19050">
            <a:solidFill>
              <a:srgbClr val="1C7293"/>
            </a:solidFill>
            <a:prstDash val="solid"/>
          </a:ln>
        </p:spPr>
        <p:txBody>
          <a:bodyPr/>
          <a:lstStyle/>
          <a:p>
            <a:endParaRPr lang="en-US"/>
          </a:p>
        </p:txBody>
      </p:sp>
      <p:sp>
        <p:nvSpPr>
          <p:cNvPr id="9" name="Shape 7"/>
          <p:cNvSpPr/>
          <p:nvPr/>
        </p:nvSpPr>
        <p:spPr>
          <a:xfrm>
            <a:off x="9966960" y="2377440"/>
            <a:ext cx="457200" cy="457200"/>
          </a:xfrm>
          <a:prstGeom prst="ellipse">
            <a:avLst/>
          </a:prstGeom>
          <a:solidFill>
            <a:srgbClr val="065A82"/>
          </a:solidFill>
          <a:ln w="19050">
            <a:solidFill>
              <a:srgbClr val="1C7293"/>
            </a:solidFill>
            <a:prstDash val="solid"/>
          </a:ln>
        </p:spPr>
        <p:txBody>
          <a:bodyPr/>
          <a:lstStyle/>
          <a:p>
            <a:endParaRPr lang="en-US"/>
          </a:p>
        </p:txBody>
      </p:sp>
      <p:sp>
        <p:nvSpPr>
          <p:cNvPr id="10" name="Shape 8"/>
          <p:cNvSpPr/>
          <p:nvPr/>
        </p:nvSpPr>
        <p:spPr>
          <a:xfrm>
            <a:off x="9281160" y="3657600"/>
            <a:ext cx="457200" cy="457200"/>
          </a:xfrm>
          <a:prstGeom prst="ellipse">
            <a:avLst/>
          </a:prstGeom>
          <a:solidFill>
            <a:srgbClr val="065A82"/>
          </a:solidFill>
          <a:ln w="19050">
            <a:solidFill>
              <a:srgbClr val="1C7293"/>
            </a:solidFill>
            <a:prstDash val="solid"/>
          </a:ln>
        </p:spPr>
        <p:txBody>
          <a:bodyPr/>
          <a:lstStyle/>
          <a:p>
            <a:endParaRPr lang="en-US"/>
          </a:p>
        </p:txBody>
      </p:sp>
      <p:sp>
        <p:nvSpPr>
          <p:cNvPr id="11" name="Shape 9"/>
          <p:cNvSpPr/>
          <p:nvPr/>
        </p:nvSpPr>
        <p:spPr>
          <a:xfrm>
            <a:off x="9281160" y="4846320"/>
            <a:ext cx="457200" cy="457200"/>
          </a:xfrm>
          <a:prstGeom prst="ellipse">
            <a:avLst/>
          </a:prstGeom>
          <a:solidFill>
            <a:srgbClr val="F2A541"/>
          </a:solidFill>
          <a:ln w="19050">
            <a:solidFill>
              <a:srgbClr val="1C7293"/>
            </a:solidFill>
            <a:prstDash val="solid"/>
          </a:ln>
        </p:spPr>
        <p:txBody>
          <a:bodyPr/>
          <a:lstStyle/>
          <a:p>
            <a:endParaRPr lang="en-US"/>
          </a:p>
        </p:txBody>
      </p:sp>
      <p:sp>
        <p:nvSpPr>
          <p:cNvPr id="12" name="Text 10"/>
          <p:cNvSpPr/>
          <p:nvPr/>
        </p:nvSpPr>
        <p:spPr>
          <a:xfrm>
            <a:off x="8229600" y="1737360"/>
            <a:ext cx="1828800" cy="274320"/>
          </a:xfrm>
          <a:prstGeom prst="rect">
            <a:avLst/>
          </a:prstGeom>
          <a:noFill/>
          <a:ln/>
        </p:spPr>
        <p:txBody>
          <a:bodyPr wrap="square" rtlCol="0" anchor="ctr"/>
          <a:lstStyle/>
          <a:p>
            <a:pPr marL="0" indent="0">
              <a:buNone/>
            </a:pPr>
            <a:r>
              <a:rPr lang="en-US" sz="1000" i="1" dirty="0">
                <a:solidFill>
                  <a:srgbClr val="1C7293"/>
                </a:solidFill>
              </a:rPr>
              <a:t>forward →</a:t>
            </a:r>
            <a:endParaRPr lang="en-US" sz="1000" dirty="0"/>
          </a:p>
        </p:txBody>
      </p:sp>
      <p:sp>
        <p:nvSpPr>
          <p:cNvPr id="13" name="Text 11"/>
          <p:cNvSpPr/>
          <p:nvPr/>
        </p:nvSpPr>
        <p:spPr>
          <a:xfrm>
            <a:off x="8138160" y="5349240"/>
            <a:ext cx="2377440" cy="274320"/>
          </a:xfrm>
          <a:prstGeom prst="rect">
            <a:avLst/>
          </a:prstGeom>
          <a:noFill/>
          <a:ln/>
        </p:spPr>
        <p:txBody>
          <a:bodyPr wrap="square" rtlCol="0" anchor="ctr"/>
          <a:lstStyle/>
          <a:p>
            <a:pPr marL="0" indent="0">
              <a:buNone/>
            </a:pPr>
            <a:r>
              <a:rPr lang="en-US" sz="1000" i="1" dirty="0">
                <a:solidFill>
                  <a:srgbClr val="F2A541"/>
                </a:solidFill>
              </a:rPr>
              <a:t>← backward (gradients)</a:t>
            </a:r>
            <a:endParaRPr lang="en-US" sz="1000" dirty="0"/>
          </a:p>
        </p:txBody>
      </p:sp>
      <p:sp>
        <p:nvSpPr>
          <p:cNvPr id="15"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ea typeface="Calibri" pitchFamily="34" charset="-122"/>
                <a:cs typeface="Calibri" pitchFamily="34" charset="-120"/>
              </a:rPr>
              <a:t>SECTION 4 · OPTIMIZATION</a:t>
            </a:r>
            <a:endParaRPr lang="en-US" sz="1300" dirty="0"/>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b="1" dirty="0">
                <a:solidFill>
                  <a:srgbClr val="21295C"/>
                </a:solidFill>
                <a:latin typeface="Aharoni" panose="02010803020104030203" pitchFamily="2" charset="-79"/>
                <a:ea typeface="Cambria" pitchFamily="34" charset="-122"/>
                <a:cs typeface="Aharoni" panose="02010803020104030203" pitchFamily="2" charset="-79"/>
              </a:rPr>
              <a:t>Beyond Vanilla SGD</a:t>
            </a:r>
            <a:endParaRPr lang="en-US" dirty="0">
              <a:latin typeface="Aharoni" panose="02010803020104030203" pitchFamily="2" charset="-79"/>
              <a:cs typeface="Aharoni" panose="02010803020104030203" pitchFamily="2" charset="-79"/>
            </a:endParaRPr>
          </a:p>
        </p:txBody>
      </p:sp>
      <p:sp>
        <p:nvSpPr>
          <p:cNvPr id="4" name="Shape 2"/>
          <p:cNvSpPr/>
          <p:nvPr/>
        </p:nvSpPr>
        <p:spPr>
          <a:xfrm>
            <a:off x="548640" y="2011680"/>
            <a:ext cx="5212080" cy="1691640"/>
          </a:xfrm>
          <a:prstGeom prst="roundRect">
            <a:avLst>
              <a:gd name="adj" fmla="val 5405"/>
            </a:avLst>
          </a:prstGeom>
          <a:solidFill>
            <a:srgbClr val="F4F7F9"/>
          </a:solidFill>
          <a:ln w="190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822960" y="2176272"/>
            <a:ext cx="4663440" cy="36576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Momentum</a:t>
            </a:r>
            <a:endParaRPr lang="en-US" dirty="0">
              <a:latin typeface="Aharoni" panose="02010803020104030203" pitchFamily="2" charset="-79"/>
              <a:cs typeface="Aharoni" panose="02010803020104030203" pitchFamily="2" charset="-79"/>
            </a:endParaRPr>
          </a:p>
        </p:txBody>
      </p:sp>
      <p:sp>
        <p:nvSpPr>
          <p:cNvPr id="6" name="Text 4"/>
          <p:cNvSpPr/>
          <p:nvPr/>
        </p:nvSpPr>
        <p:spPr>
          <a:xfrm>
            <a:off x="822960" y="2606040"/>
            <a:ext cx="4663440" cy="100584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Keeps a moving average of past gradients — smooths the path, powers through small bumps</a:t>
            </a:r>
            <a:endParaRPr lang="en-US" dirty="0">
              <a:latin typeface="Aharoni" panose="02010803020104030203" pitchFamily="2" charset="-79"/>
              <a:cs typeface="Aharoni" panose="02010803020104030203" pitchFamily="2" charset="-79"/>
            </a:endParaRPr>
          </a:p>
        </p:txBody>
      </p:sp>
      <p:sp>
        <p:nvSpPr>
          <p:cNvPr id="7" name="Shape 5"/>
          <p:cNvSpPr/>
          <p:nvPr/>
        </p:nvSpPr>
        <p:spPr>
          <a:xfrm>
            <a:off x="6035040" y="2011680"/>
            <a:ext cx="5212080" cy="1691640"/>
          </a:xfrm>
          <a:prstGeom prst="roundRect">
            <a:avLst>
              <a:gd name="adj" fmla="val 5405"/>
            </a:avLst>
          </a:prstGeom>
          <a:solidFill>
            <a:srgbClr val="F4F7F9"/>
          </a:solidFill>
          <a:ln w="1905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8" name="Text 6"/>
          <p:cNvSpPr/>
          <p:nvPr/>
        </p:nvSpPr>
        <p:spPr>
          <a:xfrm>
            <a:off x="6309360" y="2176272"/>
            <a:ext cx="4663440" cy="36576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Adam Optimizer</a:t>
            </a:r>
            <a:endParaRPr lang="en-US" dirty="0">
              <a:latin typeface="Aharoni" panose="02010803020104030203" pitchFamily="2" charset="-79"/>
              <a:cs typeface="Aharoni" panose="02010803020104030203" pitchFamily="2" charset="-79"/>
            </a:endParaRPr>
          </a:p>
        </p:txBody>
      </p:sp>
      <p:sp>
        <p:nvSpPr>
          <p:cNvPr id="9" name="Text 7"/>
          <p:cNvSpPr/>
          <p:nvPr/>
        </p:nvSpPr>
        <p:spPr>
          <a:xfrm>
            <a:off x="6309360" y="2606040"/>
            <a:ext cx="4663440" cy="100584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Tracks both the average gradient and its variance — adapts the step size per parameter</a:t>
            </a:r>
            <a:endParaRPr lang="en-US" dirty="0">
              <a:latin typeface="Aharoni" panose="02010803020104030203" pitchFamily="2" charset="-79"/>
              <a:cs typeface="Aharoni" panose="02010803020104030203" pitchFamily="2" charset="-79"/>
            </a:endParaRPr>
          </a:p>
        </p:txBody>
      </p:sp>
      <p:sp>
        <p:nvSpPr>
          <p:cNvPr id="10" name="Shape 8"/>
          <p:cNvSpPr/>
          <p:nvPr/>
        </p:nvSpPr>
        <p:spPr>
          <a:xfrm>
            <a:off x="548640" y="3977640"/>
            <a:ext cx="10698480" cy="1691640"/>
          </a:xfrm>
          <a:prstGeom prst="roundRect">
            <a:avLst>
              <a:gd name="adj" fmla="val 5405"/>
            </a:avLst>
          </a:prstGeom>
          <a:solidFill>
            <a:srgbClr val="F4F7F9"/>
          </a:solidFill>
          <a:ln w="19050">
            <a:solidFill>
              <a:srgbClr val="F2A541"/>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1" name="Text 9"/>
          <p:cNvSpPr/>
          <p:nvPr/>
        </p:nvSpPr>
        <p:spPr>
          <a:xfrm>
            <a:off x="822960" y="4142232"/>
            <a:ext cx="10150560" cy="36576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Loss Landscapes</a:t>
            </a:r>
            <a:endParaRPr lang="en-US" dirty="0">
              <a:latin typeface="Aharoni" panose="02010803020104030203" pitchFamily="2" charset="-79"/>
              <a:cs typeface="Aharoni" panose="02010803020104030203" pitchFamily="2" charset="-79"/>
            </a:endParaRPr>
          </a:p>
        </p:txBody>
      </p:sp>
      <p:sp>
        <p:nvSpPr>
          <p:cNvPr id="12" name="Text 10"/>
          <p:cNvSpPr/>
          <p:nvPr/>
        </p:nvSpPr>
        <p:spPr>
          <a:xfrm>
            <a:off x="822960" y="4572000"/>
            <a:ext cx="10150560" cy="100584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High-dimensional space is mostly saddle points, not bad local minima — this is why Momentum and Adam keep working at scale</a:t>
            </a:r>
            <a:endParaRPr lang="en-US" dirty="0">
              <a:latin typeface="Aharoni" panose="02010803020104030203" pitchFamily="2" charset="-79"/>
              <a:cs typeface="Aharoni" panose="02010803020104030203" pitchFamily="2" charset="-79"/>
            </a:endParaRPr>
          </a:p>
        </p:txBody>
      </p:sp>
      <p:sp>
        <p:nvSpPr>
          <p:cNvPr id="17"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ea typeface="Calibri" pitchFamily="34" charset="-122"/>
                <a:cs typeface="Calibri" pitchFamily="34" charset="-120"/>
              </a:rPr>
              <a:t>SECTION 5</a:t>
            </a:r>
            <a:endParaRPr lang="en-US" sz="1300" dirty="0"/>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Putting It Together: Training a VLM</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2011680"/>
            <a:ext cx="3611880" cy="3108960"/>
          </a:xfrm>
          <a:prstGeom prst="roundRect">
            <a:avLst>
              <a:gd name="adj" fmla="val 2941"/>
            </a:avLst>
          </a:prstGeom>
          <a:solidFill>
            <a:srgbClr val="E4EEF2"/>
          </a:solidFill>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777240" y="2194560"/>
            <a:ext cx="3154680" cy="320040"/>
          </a:xfrm>
          <a:prstGeom prst="rect">
            <a:avLst/>
          </a:prstGeom>
          <a:noFill/>
          <a:ln/>
        </p:spPr>
        <p:txBody>
          <a:bodyPr wrap="square" rtlCol="0" anchor="ctr"/>
          <a:lstStyle/>
          <a:p>
            <a:pPr marL="0" indent="0">
              <a:buNone/>
            </a:pPr>
            <a:r>
              <a:rPr lang="en-US" b="1" kern="0" spc="100" dirty="0">
                <a:solidFill>
                  <a:srgbClr val="1C7293"/>
                </a:solidFill>
                <a:latin typeface="Aharoni" panose="02010803020104030203" pitchFamily="2" charset="-79"/>
                <a:ea typeface="Calibri" pitchFamily="34" charset="-122"/>
                <a:cs typeface="Aharoni" panose="02010803020104030203" pitchFamily="2" charset="-79"/>
              </a:rPr>
              <a:t>Stage 1</a:t>
            </a:r>
            <a:endParaRPr lang="en-US" dirty="0">
              <a:latin typeface="Aharoni" panose="02010803020104030203" pitchFamily="2" charset="-79"/>
              <a:cs typeface="Aharoni" panose="02010803020104030203" pitchFamily="2" charset="-79"/>
            </a:endParaRPr>
          </a:p>
        </p:txBody>
      </p:sp>
      <p:sp>
        <p:nvSpPr>
          <p:cNvPr id="6" name="Text 4"/>
          <p:cNvSpPr/>
          <p:nvPr/>
        </p:nvSpPr>
        <p:spPr>
          <a:xfrm>
            <a:off x="777240" y="2514600"/>
            <a:ext cx="3154680" cy="73152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Vision-Language Alignment</a:t>
            </a:r>
            <a:endParaRPr lang="en-US" dirty="0">
              <a:latin typeface="Aharoni" panose="02010803020104030203" pitchFamily="2" charset="-79"/>
              <a:cs typeface="Aharoni" panose="02010803020104030203" pitchFamily="2" charset="-79"/>
            </a:endParaRPr>
          </a:p>
        </p:txBody>
      </p:sp>
      <p:sp>
        <p:nvSpPr>
          <p:cNvPr id="7" name="Text 5"/>
          <p:cNvSpPr/>
          <p:nvPr/>
        </p:nvSpPr>
        <p:spPr>
          <a:xfrm>
            <a:off x="777240" y="3291840"/>
            <a:ext cx="3154680" cy="173736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Contrastive or projection-only pretraining — teach the model that a picture of a dog and the word “dog” should land near each other</a:t>
            </a:r>
            <a:endParaRPr lang="en-US" dirty="0">
              <a:latin typeface="Aharoni" panose="02010803020104030203" pitchFamily="2" charset="-79"/>
              <a:cs typeface="Aharoni" panose="02010803020104030203" pitchFamily="2" charset="-79"/>
            </a:endParaRPr>
          </a:p>
        </p:txBody>
      </p:sp>
      <p:sp>
        <p:nvSpPr>
          <p:cNvPr id="8" name="Text 6"/>
          <p:cNvSpPr/>
          <p:nvPr/>
        </p:nvSpPr>
        <p:spPr>
          <a:xfrm>
            <a:off x="4178808" y="3291840"/>
            <a:ext cx="365760" cy="457200"/>
          </a:xfrm>
          <a:prstGeom prst="rect">
            <a:avLst/>
          </a:prstGeom>
          <a:noFill/>
          <a:ln/>
        </p:spPr>
        <p:txBody>
          <a:bodyPr wrap="square" rtlCol="0" anchor="ctr"/>
          <a:lstStyle/>
          <a:p>
            <a:pPr marL="0" indent="0" algn="ctr">
              <a:buNone/>
            </a:pPr>
            <a:r>
              <a:rPr lang="en-US" b="1" dirty="0">
                <a:solidFill>
                  <a:srgbClr val="F2A541"/>
                </a:solidFill>
                <a:latin typeface="Aharoni" panose="02010803020104030203" pitchFamily="2" charset="-79"/>
                <a:cs typeface="Aharoni" panose="02010803020104030203" pitchFamily="2" charset="-79"/>
              </a:rPr>
              <a:t>→</a:t>
            </a:r>
            <a:endParaRPr lang="en-US" dirty="0">
              <a:latin typeface="Aharoni" panose="02010803020104030203" pitchFamily="2" charset="-79"/>
              <a:cs typeface="Aharoni" panose="02010803020104030203" pitchFamily="2" charset="-79"/>
            </a:endParaRPr>
          </a:p>
        </p:txBody>
      </p:sp>
      <p:sp>
        <p:nvSpPr>
          <p:cNvPr id="9" name="Shape 7"/>
          <p:cNvSpPr/>
          <p:nvPr/>
        </p:nvSpPr>
        <p:spPr>
          <a:xfrm>
            <a:off x="4572000" y="2011680"/>
            <a:ext cx="3611880" cy="3108960"/>
          </a:xfrm>
          <a:prstGeom prst="roundRect">
            <a:avLst>
              <a:gd name="adj" fmla="val 2941"/>
            </a:avLst>
          </a:prstGeom>
          <a:solidFill>
            <a:srgbClr val="D6E4EA"/>
          </a:solidFill>
          <a:ln/>
        </p:spPr>
        <p:txBody>
          <a:bodyPr/>
          <a:lstStyle/>
          <a:p>
            <a:endParaRPr lang="en-US">
              <a:latin typeface="Aharoni" panose="02010803020104030203" pitchFamily="2" charset="-79"/>
              <a:cs typeface="Aharoni" panose="02010803020104030203" pitchFamily="2" charset="-79"/>
            </a:endParaRPr>
          </a:p>
        </p:txBody>
      </p:sp>
      <p:sp>
        <p:nvSpPr>
          <p:cNvPr id="10" name="Text 8"/>
          <p:cNvSpPr/>
          <p:nvPr/>
        </p:nvSpPr>
        <p:spPr>
          <a:xfrm>
            <a:off x="4800600" y="2194560"/>
            <a:ext cx="3154680" cy="320040"/>
          </a:xfrm>
          <a:prstGeom prst="rect">
            <a:avLst/>
          </a:prstGeom>
          <a:noFill/>
          <a:ln/>
        </p:spPr>
        <p:txBody>
          <a:bodyPr wrap="square" rtlCol="0" anchor="ctr"/>
          <a:lstStyle/>
          <a:p>
            <a:pPr marL="0" indent="0">
              <a:buNone/>
            </a:pPr>
            <a:r>
              <a:rPr lang="en-US" b="1" kern="0" spc="100" dirty="0">
                <a:solidFill>
                  <a:srgbClr val="1C7293"/>
                </a:solidFill>
                <a:latin typeface="Aharoni" panose="02010803020104030203" pitchFamily="2" charset="-79"/>
                <a:ea typeface="Calibri" pitchFamily="34" charset="-122"/>
                <a:cs typeface="Aharoni" panose="02010803020104030203" pitchFamily="2" charset="-79"/>
              </a:rPr>
              <a:t>Stage 2</a:t>
            </a:r>
            <a:endParaRPr lang="en-US" dirty="0">
              <a:latin typeface="Aharoni" panose="02010803020104030203" pitchFamily="2" charset="-79"/>
              <a:cs typeface="Aharoni" panose="02010803020104030203" pitchFamily="2" charset="-79"/>
            </a:endParaRPr>
          </a:p>
        </p:txBody>
      </p:sp>
      <p:sp>
        <p:nvSpPr>
          <p:cNvPr id="11" name="Text 9"/>
          <p:cNvSpPr/>
          <p:nvPr/>
        </p:nvSpPr>
        <p:spPr>
          <a:xfrm>
            <a:off x="4800600" y="2514600"/>
            <a:ext cx="3154680" cy="73152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Instruction Fine-Tuning</a:t>
            </a:r>
            <a:endParaRPr lang="en-US" dirty="0">
              <a:latin typeface="Aharoni" panose="02010803020104030203" pitchFamily="2" charset="-79"/>
              <a:cs typeface="Aharoni" panose="02010803020104030203" pitchFamily="2" charset="-79"/>
            </a:endParaRPr>
          </a:p>
        </p:txBody>
      </p:sp>
      <p:sp>
        <p:nvSpPr>
          <p:cNvPr id="12" name="Text 10"/>
          <p:cNvSpPr/>
          <p:nvPr/>
        </p:nvSpPr>
        <p:spPr>
          <a:xfrm>
            <a:off x="4800600" y="3291840"/>
            <a:ext cx="3154680" cy="173736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Supervised training on image + text pairs — teach the model to follow instructions about images</a:t>
            </a:r>
            <a:endParaRPr lang="en-US" dirty="0">
              <a:latin typeface="Aharoni" panose="02010803020104030203" pitchFamily="2" charset="-79"/>
              <a:cs typeface="Aharoni" panose="02010803020104030203" pitchFamily="2" charset="-79"/>
            </a:endParaRPr>
          </a:p>
        </p:txBody>
      </p:sp>
      <p:sp>
        <p:nvSpPr>
          <p:cNvPr id="13" name="Text 11"/>
          <p:cNvSpPr/>
          <p:nvPr/>
        </p:nvSpPr>
        <p:spPr>
          <a:xfrm>
            <a:off x="8202168" y="3291840"/>
            <a:ext cx="365760" cy="457200"/>
          </a:xfrm>
          <a:prstGeom prst="rect">
            <a:avLst/>
          </a:prstGeom>
          <a:noFill/>
          <a:ln/>
        </p:spPr>
        <p:txBody>
          <a:bodyPr wrap="square" rtlCol="0" anchor="ctr"/>
          <a:lstStyle/>
          <a:p>
            <a:pPr marL="0" indent="0" algn="ctr">
              <a:buNone/>
            </a:pPr>
            <a:r>
              <a:rPr lang="en-US" b="1" dirty="0">
                <a:solidFill>
                  <a:srgbClr val="F2A541"/>
                </a:solidFill>
                <a:latin typeface="Aharoni" panose="02010803020104030203" pitchFamily="2" charset="-79"/>
                <a:cs typeface="Aharoni" panose="02010803020104030203" pitchFamily="2" charset="-79"/>
              </a:rPr>
              <a:t>→</a:t>
            </a:r>
            <a:endParaRPr lang="en-US" dirty="0">
              <a:latin typeface="Aharoni" panose="02010803020104030203" pitchFamily="2" charset="-79"/>
              <a:cs typeface="Aharoni" panose="02010803020104030203" pitchFamily="2" charset="-79"/>
            </a:endParaRPr>
          </a:p>
        </p:txBody>
      </p:sp>
      <p:sp>
        <p:nvSpPr>
          <p:cNvPr id="14" name="Shape 12"/>
          <p:cNvSpPr/>
          <p:nvPr/>
        </p:nvSpPr>
        <p:spPr>
          <a:xfrm>
            <a:off x="8595360" y="2011680"/>
            <a:ext cx="3611880" cy="3108960"/>
          </a:xfrm>
          <a:prstGeom prst="roundRect">
            <a:avLst>
              <a:gd name="adj" fmla="val 2941"/>
            </a:avLst>
          </a:prstGeom>
          <a:solidFill>
            <a:srgbClr val="F4F7F9"/>
          </a:solidFill>
          <a:ln/>
        </p:spPr>
        <p:txBody>
          <a:bodyPr/>
          <a:lstStyle/>
          <a:p>
            <a:endParaRPr lang="en-US"/>
          </a:p>
        </p:txBody>
      </p:sp>
      <p:sp>
        <p:nvSpPr>
          <p:cNvPr id="15" name="Text 13"/>
          <p:cNvSpPr/>
          <p:nvPr/>
        </p:nvSpPr>
        <p:spPr>
          <a:xfrm>
            <a:off x="8823960" y="2194560"/>
            <a:ext cx="3154680" cy="320040"/>
          </a:xfrm>
          <a:prstGeom prst="rect">
            <a:avLst/>
          </a:prstGeom>
          <a:noFill/>
          <a:ln/>
        </p:spPr>
        <p:txBody>
          <a:bodyPr wrap="square" rtlCol="0" anchor="ctr"/>
          <a:lstStyle/>
          <a:p>
            <a:pPr marL="0" indent="0">
              <a:buNone/>
            </a:pPr>
            <a:r>
              <a:rPr lang="en-US" b="1" kern="0" spc="100" dirty="0">
                <a:solidFill>
                  <a:srgbClr val="1C7293"/>
                </a:solidFill>
                <a:latin typeface="Aharoni" panose="02010803020104030203" pitchFamily="2" charset="-79"/>
                <a:ea typeface="Calibri" pitchFamily="34" charset="-122"/>
                <a:cs typeface="Aharoni" panose="02010803020104030203" pitchFamily="2" charset="-79"/>
              </a:rPr>
              <a:t>Stage 3</a:t>
            </a:r>
            <a:endParaRPr lang="en-US" dirty="0">
              <a:latin typeface="Aharoni" panose="02010803020104030203" pitchFamily="2" charset="-79"/>
              <a:cs typeface="Aharoni" panose="02010803020104030203" pitchFamily="2" charset="-79"/>
            </a:endParaRPr>
          </a:p>
        </p:txBody>
      </p:sp>
      <p:sp>
        <p:nvSpPr>
          <p:cNvPr id="16" name="Text 14"/>
          <p:cNvSpPr/>
          <p:nvPr/>
        </p:nvSpPr>
        <p:spPr>
          <a:xfrm>
            <a:off x="8823960" y="2514600"/>
            <a:ext cx="3154680" cy="731520"/>
          </a:xfrm>
          <a:prstGeom prst="rect">
            <a:avLst/>
          </a:prstGeom>
          <a:noFill/>
          <a:ln/>
        </p:spPr>
        <p:txBody>
          <a:bodyPr wrap="square" rtlCol="0" anchor="ctr"/>
          <a:lstStyle/>
          <a:p>
            <a:pPr marL="0" indent="0">
              <a:buNone/>
            </a:pPr>
            <a:r>
              <a:rPr lang="en-US" b="1" dirty="0">
                <a:solidFill>
                  <a:srgbClr val="21295C"/>
                </a:solidFill>
                <a:latin typeface="Aharoni" panose="02010803020104030203" pitchFamily="2" charset="-79"/>
                <a:ea typeface="Cambria" pitchFamily="34" charset="-122"/>
                <a:cs typeface="Aharoni" panose="02010803020104030203" pitchFamily="2" charset="-79"/>
              </a:rPr>
              <a:t>Preference Optimization</a:t>
            </a:r>
            <a:endParaRPr lang="en-US" dirty="0">
              <a:latin typeface="Aharoni" panose="02010803020104030203" pitchFamily="2" charset="-79"/>
              <a:cs typeface="Aharoni" panose="02010803020104030203" pitchFamily="2" charset="-79"/>
            </a:endParaRPr>
          </a:p>
        </p:txBody>
      </p:sp>
      <p:sp>
        <p:nvSpPr>
          <p:cNvPr id="17" name="Text 15"/>
          <p:cNvSpPr/>
          <p:nvPr/>
        </p:nvSpPr>
        <p:spPr>
          <a:xfrm>
            <a:off x="8823960" y="3291840"/>
            <a:ext cx="3154680" cy="1737360"/>
          </a:xfrm>
          <a:prstGeom prst="rect">
            <a:avLst/>
          </a:prstGeom>
          <a:noFill/>
          <a:ln/>
        </p:spPr>
        <p:txBody>
          <a:bodyPr wrap="square" rtlCol="0" anchor="ctr"/>
          <a:lstStyle/>
          <a:p>
            <a:pPr marL="0" indent="0">
              <a:buNone/>
            </a:pPr>
            <a:r>
              <a:rPr lang="en-US" dirty="0">
                <a:solidFill>
                  <a:srgbClr val="3A4750"/>
                </a:solidFill>
                <a:latin typeface="Aharoni" panose="02010803020104030203" pitchFamily="2" charset="-79"/>
                <a:ea typeface="Calibri" pitchFamily="34" charset="-122"/>
                <a:cs typeface="Aharoni" panose="02010803020104030203" pitchFamily="2" charset="-79"/>
              </a:rPr>
              <a:t>RLHF-style methods — the optimization objective shifts from “match the label” to “match human preference”</a:t>
            </a:r>
            <a:endParaRPr lang="en-US" dirty="0">
              <a:latin typeface="Aharoni" panose="02010803020104030203" pitchFamily="2" charset="-79"/>
              <a:cs typeface="Aharoni" panose="02010803020104030203" pitchFamily="2" charset="-79"/>
            </a:endParaRPr>
          </a:p>
        </p:txBody>
      </p:sp>
      <p:sp>
        <p:nvSpPr>
          <p:cNvPr id="19"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SECTION 5 · PRACTICAL EFFICIENCY</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FFFFFF"/>
                </a:solidFill>
                <a:latin typeface="Aharoni" panose="02010803020104030203" pitchFamily="2" charset="-79"/>
                <a:ea typeface="Cambria" pitchFamily="34" charset="-122"/>
                <a:cs typeface="Aharoni" panose="02010803020104030203" pitchFamily="2" charset="-79"/>
              </a:rPr>
              <a:t>Efficiency Tricks, Traced Back to the Math</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2057400"/>
            <a:ext cx="11064240" cy="1234440"/>
          </a:xfrm>
          <a:prstGeom prst="roundRect">
            <a:avLst>
              <a:gd name="adj" fmla="val 5926"/>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822960" y="2194560"/>
            <a:ext cx="2103120" cy="457200"/>
          </a:xfrm>
          <a:prstGeom prst="rect">
            <a:avLst/>
          </a:prstGeom>
          <a:noFill/>
          <a:ln/>
        </p:spPr>
        <p:txBody>
          <a:bodyPr wrap="square" rtlCol="0" anchor="ctr"/>
          <a:lstStyle/>
          <a:p>
            <a:pPr marL="0" indent="0">
              <a:buNone/>
            </a:pPr>
            <a:r>
              <a:rPr lang="en-US" b="1" dirty="0">
                <a:solidFill>
                  <a:srgbClr val="F2A541"/>
                </a:solidFill>
                <a:latin typeface="Aharoni" panose="02010803020104030203" pitchFamily="2" charset="-79"/>
                <a:ea typeface="Cambria" pitchFamily="34" charset="-122"/>
                <a:cs typeface="Aharoni" panose="02010803020104030203" pitchFamily="2" charset="-79"/>
              </a:rPr>
              <a:t>LoRA</a:t>
            </a:r>
            <a:endParaRPr lang="en-US" dirty="0">
              <a:latin typeface="Aharoni" panose="02010803020104030203" pitchFamily="2" charset="-79"/>
              <a:cs typeface="Aharoni" panose="02010803020104030203" pitchFamily="2" charset="-79"/>
            </a:endParaRPr>
          </a:p>
        </p:txBody>
      </p:sp>
      <p:sp>
        <p:nvSpPr>
          <p:cNvPr id="6" name="Text 4"/>
          <p:cNvSpPr/>
          <p:nvPr/>
        </p:nvSpPr>
        <p:spPr>
          <a:xfrm>
            <a:off x="822960" y="2679192"/>
            <a:ext cx="2103120" cy="365760"/>
          </a:xfrm>
          <a:prstGeom prst="rect">
            <a:avLst/>
          </a:prstGeom>
          <a:noFill/>
          <a:ln/>
        </p:spPr>
        <p:txBody>
          <a:bodyPr wrap="square" rtlCol="0" anchor="ctr"/>
          <a:lstStyle/>
          <a:p>
            <a:pPr marL="0" indent="0">
              <a:buNone/>
            </a:pPr>
            <a:r>
              <a:rPr lang="en-US" i="1" dirty="0">
                <a:solidFill>
                  <a:srgbClr val="CADCFC"/>
                </a:solidFill>
                <a:latin typeface="Aharoni" panose="02010803020104030203" pitchFamily="2" charset="-79"/>
                <a:ea typeface="Calibri" pitchFamily="34" charset="-122"/>
                <a:cs typeface="Aharoni" panose="02010803020104030203" pitchFamily="2" charset="-79"/>
              </a:rPr>
              <a:t>Low-Rank Adaptation</a:t>
            </a:r>
            <a:endParaRPr lang="en-US" dirty="0">
              <a:latin typeface="Aharoni" panose="02010803020104030203" pitchFamily="2" charset="-79"/>
              <a:cs typeface="Aharoni" panose="02010803020104030203" pitchFamily="2" charset="-79"/>
            </a:endParaRPr>
          </a:p>
        </p:txBody>
      </p:sp>
      <p:sp>
        <p:nvSpPr>
          <p:cNvPr id="7" name="Text 5"/>
          <p:cNvSpPr/>
          <p:nvPr/>
        </p:nvSpPr>
        <p:spPr>
          <a:xfrm>
            <a:off x="3108960" y="2194560"/>
            <a:ext cx="8229600" cy="914400"/>
          </a:xfrm>
          <a:prstGeom prst="rect">
            <a:avLst/>
          </a:prstGeom>
          <a:noFill/>
          <a:ln/>
        </p:spPr>
        <p:txBody>
          <a:bodyPr wrap="square" rtlCol="0" anchor="ctr"/>
          <a:lstStyle/>
          <a:p>
            <a:pPr marL="0" indent="0">
              <a:buNone/>
            </a:pPr>
            <a:r>
              <a:rPr lang="en-US" dirty="0">
                <a:solidFill>
                  <a:srgbClr val="E8F0F5"/>
                </a:solidFill>
                <a:latin typeface="Aharoni" panose="02010803020104030203" pitchFamily="2" charset="-79"/>
                <a:ea typeface="Calibri" pitchFamily="34" charset="-122"/>
                <a:cs typeface="Aharoni" panose="02010803020104030203" pitchFamily="2" charset="-79"/>
              </a:rPr>
              <a:t>Update W with a low-rank product A·B instead of the full matrix — e.g., a 4096×4096 matrix (16.8M values) becomes two rank-8 matrices (~65K values), a 250x reduction</a:t>
            </a:r>
            <a:endParaRPr lang="en-US" dirty="0">
              <a:latin typeface="Aharoni" panose="02010803020104030203" pitchFamily="2" charset="-79"/>
              <a:cs typeface="Aharoni" panose="02010803020104030203" pitchFamily="2" charset="-79"/>
            </a:endParaRPr>
          </a:p>
        </p:txBody>
      </p:sp>
      <p:sp>
        <p:nvSpPr>
          <p:cNvPr id="8" name="Shape 6"/>
          <p:cNvSpPr/>
          <p:nvPr/>
        </p:nvSpPr>
        <p:spPr>
          <a:xfrm>
            <a:off x="548640" y="3474720"/>
            <a:ext cx="11064240" cy="1234440"/>
          </a:xfrm>
          <a:prstGeom prst="roundRect">
            <a:avLst>
              <a:gd name="adj" fmla="val 5926"/>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9" name="Text 7"/>
          <p:cNvSpPr/>
          <p:nvPr/>
        </p:nvSpPr>
        <p:spPr>
          <a:xfrm>
            <a:off x="822960" y="3611880"/>
            <a:ext cx="2103120" cy="457200"/>
          </a:xfrm>
          <a:prstGeom prst="rect">
            <a:avLst/>
          </a:prstGeom>
          <a:noFill/>
          <a:ln/>
        </p:spPr>
        <p:txBody>
          <a:bodyPr wrap="square" rtlCol="0" anchor="ctr"/>
          <a:lstStyle/>
          <a:p>
            <a:pPr marL="0" indent="0">
              <a:buNone/>
            </a:pPr>
            <a:r>
              <a:rPr lang="en-US" b="1" dirty="0">
                <a:solidFill>
                  <a:srgbClr val="F2A541"/>
                </a:solidFill>
                <a:latin typeface="Aharoni" panose="02010803020104030203" pitchFamily="2" charset="-79"/>
                <a:ea typeface="Cambria" pitchFamily="34" charset="-122"/>
                <a:cs typeface="Aharoni" panose="02010803020104030203" pitchFamily="2" charset="-79"/>
              </a:rPr>
              <a:t>Quantization</a:t>
            </a:r>
            <a:endParaRPr lang="en-US" dirty="0">
              <a:latin typeface="Aharoni" panose="02010803020104030203" pitchFamily="2" charset="-79"/>
              <a:cs typeface="Aharoni" panose="02010803020104030203" pitchFamily="2" charset="-79"/>
            </a:endParaRPr>
          </a:p>
        </p:txBody>
      </p:sp>
      <p:sp>
        <p:nvSpPr>
          <p:cNvPr id="10" name="Text 8"/>
          <p:cNvSpPr/>
          <p:nvPr/>
        </p:nvSpPr>
        <p:spPr>
          <a:xfrm>
            <a:off x="822960" y="4096512"/>
            <a:ext cx="2103120" cy="365760"/>
          </a:xfrm>
          <a:prstGeom prst="rect">
            <a:avLst/>
          </a:prstGeom>
          <a:noFill/>
          <a:ln/>
        </p:spPr>
        <p:txBody>
          <a:bodyPr wrap="square" rtlCol="0" anchor="ctr"/>
          <a:lstStyle/>
          <a:p>
            <a:pPr marL="0" indent="0">
              <a:buNone/>
            </a:pPr>
            <a:r>
              <a:rPr lang="en-US" i="1" dirty="0">
                <a:solidFill>
                  <a:srgbClr val="CADCFC"/>
                </a:solidFill>
                <a:latin typeface="Aharoni" panose="02010803020104030203" pitchFamily="2" charset="-79"/>
                <a:ea typeface="Calibri" pitchFamily="34" charset="-122"/>
                <a:cs typeface="Aharoni" panose="02010803020104030203" pitchFamily="2" charset="-79"/>
              </a:rPr>
              <a:t>Numerical Precision</a:t>
            </a:r>
            <a:endParaRPr lang="en-US" dirty="0">
              <a:latin typeface="Aharoni" panose="02010803020104030203" pitchFamily="2" charset="-79"/>
              <a:cs typeface="Aharoni" panose="02010803020104030203" pitchFamily="2" charset="-79"/>
            </a:endParaRPr>
          </a:p>
        </p:txBody>
      </p:sp>
      <p:sp>
        <p:nvSpPr>
          <p:cNvPr id="11" name="Text 9"/>
          <p:cNvSpPr/>
          <p:nvPr/>
        </p:nvSpPr>
        <p:spPr>
          <a:xfrm>
            <a:off x="3108960" y="3611880"/>
            <a:ext cx="8229600" cy="914400"/>
          </a:xfrm>
          <a:prstGeom prst="rect">
            <a:avLst/>
          </a:prstGeom>
          <a:noFill/>
          <a:ln/>
        </p:spPr>
        <p:txBody>
          <a:bodyPr wrap="square" rtlCol="0" anchor="ctr"/>
          <a:lstStyle/>
          <a:p>
            <a:pPr marL="0" indent="0">
              <a:buNone/>
            </a:pPr>
            <a:r>
              <a:rPr lang="en-US" dirty="0">
                <a:solidFill>
                  <a:srgbClr val="E8F0F5"/>
                </a:solidFill>
                <a:latin typeface="Aharoni" panose="02010803020104030203" pitchFamily="2" charset="-79"/>
                <a:ea typeface="Calibri" pitchFamily="34" charset="-122"/>
                <a:cs typeface="Aharoni" panose="02010803020104030203" pitchFamily="2" charset="-79"/>
              </a:rPr>
              <a:t>Store weights in fewer bits — a storage/precision tradeoff on the same underlying linear algebra</a:t>
            </a:r>
            <a:endParaRPr lang="en-US" dirty="0">
              <a:latin typeface="Aharoni" panose="02010803020104030203" pitchFamily="2" charset="-79"/>
              <a:cs typeface="Aharoni" panose="02010803020104030203" pitchFamily="2" charset="-79"/>
            </a:endParaRPr>
          </a:p>
        </p:txBody>
      </p:sp>
      <p:sp>
        <p:nvSpPr>
          <p:cNvPr id="12" name="Shape 10"/>
          <p:cNvSpPr/>
          <p:nvPr/>
        </p:nvSpPr>
        <p:spPr>
          <a:xfrm>
            <a:off x="548640" y="4892040"/>
            <a:ext cx="11064240" cy="1234440"/>
          </a:xfrm>
          <a:prstGeom prst="roundRect">
            <a:avLst>
              <a:gd name="adj" fmla="val 5926"/>
            </a:avLst>
          </a:prstGeom>
          <a:solidFill>
            <a:srgbClr val="13203A"/>
          </a:solidFill>
          <a:ln w="12700">
            <a:solidFill>
              <a:srgbClr val="1C7293"/>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13" name="Text 11"/>
          <p:cNvSpPr/>
          <p:nvPr/>
        </p:nvSpPr>
        <p:spPr>
          <a:xfrm>
            <a:off x="822960" y="5029200"/>
            <a:ext cx="2103120" cy="457200"/>
          </a:xfrm>
          <a:prstGeom prst="rect">
            <a:avLst/>
          </a:prstGeom>
          <a:noFill/>
          <a:ln/>
        </p:spPr>
        <p:txBody>
          <a:bodyPr wrap="square" rtlCol="0" anchor="ctr"/>
          <a:lstStyle/>
          <a:p>
            <a:pPr marL="0" indent="0">
              <a:buNone/>
            </a:pPr>
            <a:r>
              <a:rPr lang="en-US" b="1" dirty="0">
                <a:solidFill>
                  <a:srgbClr val="F2A541"/>
                </a:solidFill>
                <a:latin typeface="Aharoni" panose="02010803020104030203" pitchFamily="2" charset="-79"/>
                <a:ea typeface="Cambria" pitchFamily="34" charset="-122"/>
                <a:cs typeface="Aharoni" panose="02010803020104030203" pitchFamily="2" charset="-79"/>
              </a:rPr>
              <a:t>Mixed Precision</a:t>
            </a:r>
            <a:endParaRPr lang="en-US" dirty="0">
              <a:latin typeface="Aharoni" panose="02010803020104030203" pitchFamily="2" charset="-79"/>
              <a:cs typeface="Aharoni" panose="02010803020104030203" pitchFamily="2" charset="-79"/>
            </a:endParaRPr>
          </a:p>
        </p:txBody>
      </p:sp>
      <p:sp>
        <p:nvSpPr>
          <p:cNvPr id="14" name="Text 12"/>
          <p:cNvSpPr/>
          <p:nvPr/>
        </p:nvSpPr>
        <p:spPr>
          <a:xfrm>
            <a:off x="822960" y="5513832"/>
            <a:ext cx="2103120" cy="365760"/>
          </a:xfrm>
          <a:prstGeom prst="rect">
            <a:avLst/>
          </a:prstGeom>
          <a:noFill/>
          <a:ln/>
        </p:spPr>
        <p:txBody>
          <a:bodyPr wrap="square" rtlCol="0" anchor="ctr"/>
          <a:lstStyle/>
          <a:p>
            <a:pPr marL="0" indent="0">
              <a:buNone/>
            </a:pPr>
            <a:r>
              <a:rPr lang="en-US" i="1" dirty="0">
                <a:solidFill>
                  <a:srgbClr val="CADCFC"/>
                </a:solidFill>
                <a:latin typeface="Aharoni" panose="02010803020104030203" pitchFamily="2" charset="-79"/>
                <a:ea typeface="Calibri" pitchFamily="34" charset="-122"/>
                <a:cs typeface="Aharoni" panose="02010803020104030203" pitchFamily="2" charset="-79"/>
              </a:rPr>
              <a:t>Training Speed</a:t>
            </a:r>
            <a:endParaRPr lang="en-US" dirty="0">
              <a:latin typeface="Aharoni" panose="02010803020104030203" pitchFamily="2" charset="-79"/>
              <a:cs typeface="Aharoni" panose="02010803020104030203" pitchFamily="2" charset="-79"/>
            </a:endParaRPr>
          </a:p>
        </p:txBody>
      </p:sp>
      <p:sp>
        <p:nvSpPr>
          <p:cNvPr id="15" name="Text 13"/>
          <p:cNvSpPr/>
          <p:nvPr/>
        </p:nvSpPr>
        <p:spPr>
          <a:xfrm>
            <a:off x="3108960" y="5029200"/>
            <a:ext cx="8229600" cy="914400"/>
          </a:xfrm>
          <a:prstGeom prst="rect">
            <a:avLst/>
          </a:prstGeom>
          <a:noFill/>
          <a:ln/>
        </p:spPr>
        <p:txBody>
          <a:bodyPr wrap="square" rtlCol="0" anchor="ctr"/>
          <a:lstStyle/>
          <a:p>
            <a:pPr marL="0" indent="0">
              <a:buNone/>
            </a:pPr>
            <a:r>
              <a:rPr lang="en-US" dirty="0">
                <a:solidFill>
                  <a:srgbClr val="E8F0F5"/>
                </a:solidFill>
                <a:latin typeface="Aharoni" panose="02010803020104030203" pitchFamily="2" charset="-79"/>
                <a:ea typeface="Calibri" pitchFamily="34" charset="-122"/>
                <a:cs typeface="Aharoni" panose="02010803020104030203" pitchFamily="2" charset="-79"/>
              </a:rPr>
              <a:t>Use lower precision for most compute, higher precision where gradients need it — balances speed and stability</a:t>
            </a:r>
            <a:endParaRPr lang="en-US" dirty="0">
              <a:latin typeface="Aharoni" panose="02010803020104030203" pitchFamily="2" charset="-79"/>
              <a:cs typeface="Aharoni" panose="02010803020104030203" pitchFamily="2" charset="-79"/>
            </a:endParaRPr>
          </a:p>
        </p:txBody>
      </p:sp>
      <p:sp>
        <p:nvSpPr>
          <p:cNvPr id="17"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14</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21295C"/>
        </a:solidFill>
        <a:effectLst/>
      </p:bgPr>
    </p:bg>
    <p:spTree>
      <p:nvGrpSpPr>
        <p:cNvPr id="1" name=""/>
        <p:cNvGrpSpPr/>
        <p:nvPr/>
      </p:nvGrpSpPr>
      <p:grpSpPr>
        <a:xfrm>
          <a:off x="0" y="0"/>
          <a:ext cx="0" cy="0"/>
          <a:chOff x="0" y="0"/>
          <a:chExt cx="0" cy="0"/>
        </a:xfrm>
      </p:grpSpPr>
      <p:sp>
        <p:nvSpPr>
          <p:cNvPr id="2" name="Eyebrow"/>
          <p:cNvSpPr/>
          <p:nvPr/>
        </p:nvSpPr>
        <p:spPr>
          <a:xfrm>
            <a:off x="548640" y="457200"/>
            <a:ext cx="96012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CODE BREAK · SEE IT RUN</a:t>
            </a:r>
          </a:p>
        </p:txBody>
      </p:sp>
      <p:sp>
        <p:nvSpPr>
          <p:cNvPr id="3" name="Title"/>
          <p:cNvSpPr/>
          <p:nvPr/>
        </p:nvSpPr>
        <p:spPr>
          <a:xfrm>
            <a:off x="548640" y="777240"/>
            <a:ext cx="11064240" cy="822960"/>
          </a:xfrm>
          <a:prstGeom prst="rect">
            <a:avLst/>
          </a:prstGeom>
          <a:noFill/>
          <a:ln/>
        </p:spPr>
        <p:txBody>
          <a:bodyPr wrap="square" rtlCol="0" anchor="ctr"/>
          <a:lstStyle/>
          <a:p>
            <a:pPr marL="0" indent="0" algn="l">
              <a:buNone/>
            </a:pPr>
            <a:r>
              <a:rPr lang="en-US" sz="3200" b="1" dirty="0">
                <a:solidFill>
                  <a:srgbClr val="FFFFFF"/>
                </a:solidFill>
                <a:latin typeface="Aharoni" panose="02010803020104030203" pitchFamily="2" charset="-79"/>
                <a:ea typeface="Cambria" pitchFamily="34" charset="-122"/>
                <a:cs typeface="Aharoni" panose="02010803020104030203" pitchFamily="2" charset="-79"/>
              </a:rPr>
              <a:t>Vectors &amp; Attention, in Code</a:t>
            </a:r>
          </a:p>
        </p:txBody>
      </p:sp>
      <p:sp>
        <p:nvSpPr>
          <p:cNvPr id="4" name="CodeCard"/>
          <p:cNvSpPr/>
          <p:nvPr/>
        </p:nvSpPr>
        <p:spPr>
          <a:xfrm>
            <a:off x="548640" y="1828800"/>
            <a:ext cx="11064240" cy="4297680"/>
          </a:xfrm>
          <a:prstGeom prst="roundRect">
            <a:avLst>
              <a:gd name="adj" fmla="val 3500"/>
            </a:avLst>
          </a:prstGeom>
          <a:solidFill>
            <a:srgbClr val="13203A"/>
          </a:solidFill>
          <a:ln w="12700">
            <a:solidFill>
              <a:srgbClr val="1C7293"/>
            </a:solidFill>
            <a:prstDash val="solid"/>
          </a:ln>
        </p:spPr>
        <p:txBody>
          <a:bodyPr wrap="square" lIns="274320" tIns="228600" rIns="274320" bIns="228600" anchor="t"/>
          <a:lstStyle/>
          <a:p>
            <a:pPr marL="0" indent="0">
              <a:lnSpc>
                <a:spcPct val="115000"/>
              </a:lnSpc>
              <a:buNone/>
            </a:pPr>
            <a:r>
              <a:rPr lang="en-US" sz="1200" dirty="0">
                <a:solidFill>
                  <a:srgbClr val="E8F0F5"/>
                </a:solidFill>
                <a:latin typeface="Consolas" pitchFamily="49" charset="0"/>
                <a:cs typeface="Consolas" pitchFamily="49" charset="0"/>
              </a:rPr>
              <a:t>import numpy as np</a:t>
            </a:r>
          </a:p>
          <a:p>
            <a:pPr marL="0" indent="0">
              <a:lnSpc>
                <a:spcPct val="115000"/>
              </a:lnSpc>
              <a:buNone/>
            </a:pPr>
            <a:endParaRPr lang="en-US" sz="1200">
              <a:latin typeface="Consolas" pitchFamily="49" charset="0"/>
              <a:cs typeface="Consolas" pitchFamily="49" charset="0"/>
            </a:endParaRPr>
          </a:p>
          <a:p>
            <a:pPr marL="0" indent="0">
              <a:lnSpc>
                <a:spcPct val="115000"/>
              </a:lnSpc>
              <a:buNone/>
            </a:pPr>
            <a:r>
              <a:rPr lang="en-US" sz="1200" i="1" dirty="0">
                <a:solidFill>
                  <a:srgbClr val="F2A541"/>
                </a:solidFill>
                <a:latin typeface="Consolas" pitchFamily="49" charset="0"/>
                <a:cs typeface="Consolas" pitchFamily="49" charset="0"/>
              </a:rPr>
              <a:t># Slide 4: cosine similarity = "meaning closeness"</a:t>
            </a:r>
          </a:p>
          <a:p>
            <a:pPr marL="0" indent="0">
              <a:lnSpc>
                <a:spcPct val="115000"/>
              </a:lnSpc>
              <a:buNone/>
            </a:pPr>
            <a:r>
              <a:rPr lang="en-US" sz="1200" dirty="0">
                <a:solidFill>
                  <a:srgbClr val="E8F0F5"/>
                </a:solidFill>
                <a:latin typeface="Consolas" pitchFamily="49" charset="0"/>
                <a:cs typeface="Consolas" pitchFamily="49" charset="0"/>
              </a:rPr>
              <a:t>cat, kitten = np.array([0.9, 0.1]), np.array([0.85, 0.15])</a:t>
            </a:r>
          </a:p>
          <a:p>
            <a:pPr marL="0" indent="0">
              <a:lnSpc>
                <a:spcPct val="115000"/>
              </a:lnSpc>
              <a:buNone/>
            </a:pPr>
            <a:r>
              <a:rPr lang="en-US" sz="1200" dirty="0">
                <a:solidFill>
                  <a:srgbClr val="E8F0F5"/>
                </a:solidFill>
                <a:latin typeface="Consolas" pitchFamily="49" charset="0"/>
                <a:cs typeface="Consolas" pitchFamily="49" charset="0"/>
              </a:rPr>
              <a:t>airplane = np.array([0.1, 0.9])</a:t>
            </a:r>
          </a:p>
          <a:p>
            <a:pPr marL="0" indent="0">
              <a:lnSpc>
                <a:spcPct val="115000"/>
              </a:lnSpc>
              <a:buNone/>
            </a:pPr>
            <a:r>
              <a:rPr lang="en-US" sz="1200" dirty="0">
                <a:solidFill>
                  <a:srgbClr val="E8F0F5"/>
                </a:solidFill>
                <a:latin typeface="Consolas" pitchFamily="49" charset="0"/>
                <a:cs typeface="Consolas" pitchFamily="49" charset="0"/>
              </a:rPr>
              <a:t>cos_sim = lambda a, b: a @ b / (np.linalg.norm(a) * np.linalg.norm(b))</a:t>
            </a:r>
          </a:p>
          <a:p>
            <a:pPr marL="0" indent="0">
              <a:lnSpc>
                <a:spcPct val="115000"/>
              </a:lnSpc>
              <a:buNone/>
            </a:pPr>
            <a:r>
              <a:rPr lang="en-US" sz="1200" dirty="0">
                <a:solidFill>
                  <a:srgbClr val="E8F0F5"/>
                </a:solidFill>
                <a:latin typeface="Consolas" pitchFamily="49" charset="0"/>
                <a:cs typeface="Consolas" pitchFamily="49" charset="0"/>
              </a:rPr>
              <a:t>print(cos_sim(cat, kitten))     </a:t>
            </a:r>
            <a:r>
              <a:rPr lang="en-US" sz="1200" i="1" dirty="0">
                <a:solidFill>
                  <a:srgbClr val="F2A541"/>
                </a:solidFill>
                <a:latin typeface="Consolas" pitchFamily="49" charset="0"/>
                <a:cs typeface="Consolas" pitchFamily="49" charset="0"/>
              </a:rPr>
              <a:t># ~0.99 -&gt; related</a:t>
            </a:r>
          </a:p>
          <a:p>
            <a:pPr marL="0" indent="0">
              <a:lnSpc>
                <a:spcPct val="115000"/>
              </a:lnSpc>
              <a:buNone/>
            </a:pPr>
            <a:r>
              <a:rPr lang="en-US" sz="1200" dirty="0">
                <a:solidFill>
                  <a:srgbClr val="E8F0F5"/>
                </a:solidFill>
                <a:latin typeface="Consolas" pitchFamily="49" charset="0"/>
                <a:cs typeface="Consolas" pitchFamily="49" charset="0"/>
              </a:rPr>
              <a:t>print(cos_sim(cat, airplane))   </a:t>
            </a:r>
            <a:r>
              <a:rPr lang="en-US" sz="1200" i="1" dirty="0">
                <a:solidFill>
                  <a:srgbClr val="F2A541"/>
                </a:solidFill>
                <a:latin typeface="Consolas" pitchFamily="49" charset="0"/>
                <a:cs typeface="Consolas" pitchFamily="49" charset="0"/>
              </a:rPr>
              <a:t># ~0.35 -&gt; unrelated</a:t>
            </a:r>
          </a:p>
          <a:p>
            <a:pPr marL="0" indent="0">
              <a:lnSpc>
                <a:spcPct val="115000"/>
              </a:lnSpc>
              <a:buNone/>
            </a:pPr>
            <a:endParaRPr lang="en-US" sz="1200">
              <a:latin typeface="Consolas" pitchFamily="49" charset="0"/>
              <a:cs typeface="Consolas" pitchFamily="49" charset="0"/>
            </a:endParaRPr>
          </a:p>
          <a:p>
            <a:pPr marL="0" indent="0">
              <a:lnSpc>
                <a:spcPct val="115000"/>
              </a:lnSpc>
              <a:buNone/>
            </a:pPr>
            <a:r>
              <a:rPr lang="en-US" sz="1200" i="1" dirty="0">
                <a:solidFill>
                  <a:srgbClr val="F2A541"/>
                </a:solidFill>
                <a:latin typeface="Consolas" pitchFamily="49" charset="0"/>
                <a:cs typeface="Consolas" pitchFamily="49" charset="0"/>
              </a:rPr>
              <a:t># Slide 7: attention in 4 lines</a:t>
            </a:r>
          </a:p>
          <a:p>
            <a:pPr marL="0" indent="0">
              <a:lnSpc>
                <a:spcPct val="115000"/>
              </a:lnSpc>
              <a:buNone/>
            </a:pPr>
            <a:r>
              <a:rPr lang="en-US" sz="1200" dirty="0">
                <a:solidFill>
                  <a:srgbClr val="E8F0F5"/>
                </a:solidFill>
                <a:latin typeface="Consolas" pitchFamily="49" charset="0"/>
                <a:cs typeface="Consolas" pitchFamily="49" charset="0"/>
              </a:rPr>
              <a:t>def attention(Q, K, V):</a:t>
            </a:r>
          </a:p>
          <a:p>
            <a:pPr marL="0" indent="0">
              <a:lnSpc>
                <a:spcPct val="115000"/>
              </a:lnSpc>
              <a:buNone/>
            </a:pPr>
            <a:r>
              <a:rPr lang="en-US" sz="1200" dirty="0">
                <a:solidFill>
                  <a:srgbClr val="E8F0F5"/>
                </a:solidFill>
                <a:latin typeface="Consolas" pitchFamily="49" charset="0"/>
                <a:cs typeface="Consolas" pitchFamily="49" charset="0"/>
              </a:rPr>
              <a:t>    scores = Q @ K.T / np.sqrt(K.shape[-1])</a:t>
            </a:r>
          </a:p>
          <a:p>
            <a:pPr marL="0" indent="0">
              <a:lnSpc>
                <a:spcPct val="115000"/>
              </a:lnSpc>
              <a:buNone/>
            </a:pPr>
            <a:r>
              <a:rPr lang="en-US" sz="1200" dirty="0">
                <a:solidFill>
                  <a:srgbClr val="E8F0F5"/>
                </a:solidFill>
                <a:latin typeface="Consolas" pitchFamily="49" charset="0"/>
                <a:cs typeface="Consolas" pitchFamily="49" charset="0"/>
              </a:rPr>
              <a:t>    weights = np.exp(scores) / np.exp(scores).sum(-1, keepdims=True)</a:t>
            </a:r>
          </a:p>
          <a:p>
            <a:pPr marL="0" indent="0">
              <a:lnSpc>
                <a:spcPct val="115000"/>
              </a:lnSpc>
              <a:buNone/>
            </a:pPr>
            <a:r>
              <a:rPr lang="en-US" sz="1200" dirty="0">
                <a:solidFill>
                  <a:srgbClr val="E8F0F5"/>
                </a:solidFill>
                <a:latin typeface="Consolas" pitchFamily="49" charset="0"/>
                <a:cs typeface="Consolas" pitchFamily="49" charset="0"/>
              </a:rPr>
              <a:t>    return weights @ V</a:t>
            </a:r>
          </a:p>
        </p:txBody>
      </p:sp>
      <p:sp>
        <p:nvSpPr>
          <p:cNvPr id="5" name="Caption"/>
          <p:cNvSpPr/>
          <p:nvPr/>
        </p:nvSpPr>
        <p:spPr>
          <a:xfrm>
            <a:off x="548640" y="6309360"/>
            <a:ext cx="11064240" cy="548640"/>
          </a:xfrm>
          <a:prstGeom prst="rect">
            <a:avLst/>
          </a:prstGeom>
          <a:noFill/>
          <a:ln/>
        </p:spPr>
        <p:txBody>
          <a:bodyPr wrap="square" rtlCol="0" anchor="ctr"/>
          <a:lstStyle/>
          <a:p>
            <a:pPr marL="0" indent="0">
              <a:buNone/>
            </a:pPr>
            <a:r>
              <a:rPr lang="en-US" sz="1350" i="1" dirty="0">
                <a:solidFill>
                  <a:srgbClr val="CADCFC"/>
                </a:solidFill>
                <a:latin typeface="Aharoni" panose="02010803020104030203" pitchFamily="2" charset="-79"/>
                <a:ea typeface="Calibri" pitchFamily="34" charset="-122"/>
                <a:cs typeface="Aharoni" panose="02010803020104030203" pitchFamily="2" charset="-79"/>
              </a:rPr>
              <a:t>Ties back to Slide 4 (cosine similarity) and Slide 7 (attention) — same math, a few lines of NumPy.</a:t>
            </a:r>
          </a:p>
        </p:txBody>
      </p:sp>
      <p:sp>
        <p:nvSpPr>
          <p:cNvPr id="6" name="PageNum"/>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a:effectLst/>
      </p:bgPr>
    </p:bg>
    <p:spTree>
      <p:nvGrpSpPr>
        <p:cNvPr id="1" name=""/>
        <p:cNvGrpSpPr/>
        <p:nvPr/>
      </p:nvGrpSpPr>
      <p:grpSpPr>
        <a:xfrm>
          <a:off x="0" y="0"/>
          <a:ext cx="0" cy="0"/>
          <a:chOff x="0" y="0"/>
          <a:chExt cx="0" cy="0"/>
        </a:xfrm>
      </p:grpSpPr>
      <p:sp>
        <p:nvSpPr>
          <p:cNvPr id="2" name="Eyebrow"/>
          <p:cNvSpPr/>
          <p:nvPr/>
        </p:nvSpPr>
        <p:spPr>
          <a:xfrm>
            <a:off x="548640" y="457200"/>
            <a:ext cx="96012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CODE BREAK · SEE IT RUN</a:t>
            </a:r>
          </a:p>
        </p:txBody>
      </p:sp>
      <p:sp>
        <p:nvSpPr>
          <p:cNvPr id="3" name="Title"/>
          <p:cNvSpPr/>
          <p:nvPr/>
        </p:nvSpPr>
        <p:spPr>
          <a:xfrm>
            <a:off x="548640" y="777240"/>
            <a:ext cx="11064240" cy="822960"/>
          </a:xfrm>
          <a:prstGeom prst="rect">
            <a:avLst/>
          </a:prstGeom>
          <a:noFill/>
          <a:ln/>
        </p:spPr>
        <p:txBody>
          <a:bodyPr wrap="square" rtlCol="0" anchor="ctr"/>
          <a:lstStyle/>
          <a:p>
            <a:pPr marL="0" indent="0" algn="l">
              <a:buNone/>
            </a:pPr>
            <a:r>
              <a:rPr lang="en-US" sz="3200" b="1" dirty="0">
                <a:solidFill>
                  <a:srgbClr val="FFFFFF"/>
                </a:solidFill>
                <a:latin typeface="Aharoni" panose="02010803020104030203" pitchFamily="2" charset="-79"/>
                <a:ea typeface="Cambria" pitchFamily="34" charset="-122"/>
                <a:cs typeface="Aharoni" panose="02010803020104030203" pitchFamily="2" charset="-79"/>
              </a:rPr>
              <a:t>Gradient Descent, in Code</a:t>
            </a:r>
          </a:p>
        </p:txBody>
      </p:sp>
      <p:sp>
        <p:nvSpPr>
          <p:cNvPr id="4" name="CodeCard"/>
          <p:cNvSpPr/>
          <p:nvPr/>
        </p:nvSpPr>
        <p:spPr>
          <a:xfrm>
            <a:off x="548640" y="1828800"/>
            <a:ext cx="11064240" cy="3474720"/>
          </a:xfrm>
          <a:prstGeom prst="roundRect">
            <a:avLst>
              <a:gd name="adj" fmla="val 3500"/>
            </a:avLst>
          </a:prstGeom>
          <a:solidFill>
            <a:srgbClr val="13203A"/>
          </a:solidFill>
          <a:ln w="12700">
            <a:solidFill>
              <a:srgbClr val="1C7293"/>
            </a:solidFill>
            <a:prstDash val="solid"/>
          </a:ln>
        </p:spPr>
        <p:txBody>
          <a:bodyPr wrap="square" lIns="274320" tIns="228600" rIns="274320" bIns="228600" anchor="t"/>
          <a:lstStyle/>
          <a:p>
            <a:pPr marL="0" indent="0">
              <a:lnSpc>
                <a:spcPct val="130000"/>
              </a:lnSpc>
              <a:buNone/>
            </a:pPr>
            <a:r>
              <a:rPr lang="en-US" sz="1400" dirty="0">
                <a:solidFill>
                  <a:srgbClr val="E8F0F5"/>
                </a:solidFill>
                <a:latin typeface="Consolas" pitchFamily="49" charset="0"/>
                <a:cs typeface="Consolas" pitchFamily="49" charset="0"/>
              </a:rPr>
              <a:t>import numpy as np</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i="1" dirty="0">
                <a:solidFill>
                  <a:srgbClr val="F2A541"/>
                </a:solidFill>
                <a:latin typeface="Consolas" pitchFamily="49" charset="0"/>
                <a:cs typeface="Consolas" pitchFamily="49" charset="0"/>
              </a:rPr>
              <a:t># toy loss, minimum at w = 3 (Slide 9 &amp; 10)</a:t>
            </a:r>
          </a:p>
          <a:p>
            <a:pPr marL="0" indent="0">
              <a:lnSpc>
                <a:spcPct val="130000"/>
              </a:lnSpc>
              <a:buNone/>
            </a:pPr>
            <a:r>
              <a:rPr lang="en-US" sz="1400" dirty="0">
                <a:solidFill>
                  <a:srgbClr val="E8F0F5"/>
                </a:solidFill>
                <a:latin typeface="Consolas" pitchFamily="49" charset="0"/>
                <a:cs typeface="Consolas" pitchFamily="49" charset="0"/>
              </a:rPr>
              <a:t>L = lambda w: (w - 3) ** 2</a:t>
            </a:r>
          </a:p>
          <a:p>
            <a:pPr marL="0" indent="0">
              <a:lnSpc>
                <a:spcPct val="130000"/>
              </a:lnSpc>
              <a:buNone/>
            </a:pPr>
            <a:r>
              <a:rPr lang="en-US" sz="1400" dirty="0">
                <a:solidFill>
                  <a:srgbClr val="E8F0F5"/>
                </a:solidFill>
                <a:latin typeface="Consolas" pitchFamily="49" charset="0"/>
                <a:cs typeface="Consolas" pitchFamily="49" charset="0"/>
              </a:rPr>
              <a:t>grad = lambda w: 2 * (w - 3)</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dirty="0">
                <a:solidFill>
                  <a:srgbClr val="E8F0F5"/>
                </a:solidFill>
                <a:latin typeface="Consolas" pitchFamily="49" charset="0"/>
                <a:cs typeface="Consolas" pitchFamily="49" charset="0"/>
              </a:rPr>
              <a:t>w, lr = 0.0, 0.1</a:t>
            </a:r>
          </a:p>
          <a:p>
            <a:pPr marL="0" indent="0">
              <a:lnSpc>
                <a:spcPct val="130000"/>
              </a:lnSpc>
              <a:buNone/>
            </a:pPr>
            <a:r>
              <a:rPr lang="en-US" sz="1400" dirty="0">
                <a:solidFill>
                  <a:srgbClr val="E8F0F5"/>
                </a:solidFill>
                <a:latin typeface="Consolas" pitchFamily="49" charset="0"/>
                <a:cs typeface="Consolas" pitchFamily="49" charset="0"/>
              </a:rPr>
              <a:t>for step in range(20):</a:t>
            </a:r>
          </a:p>
          <a:p>
            <a:pPr marL="0" indent="0">
              <a:lnSpc>
                <a:spcPct val="130000"/>
              </a:lnSpc>
              <a:buNone/>
            </a:pPr>
            <a:r>
              <a:rPr lang="en-US" sz="1400" dirty="0">
                <a:solidFill>
                  <a:srgbClr val="E8F0F5"/>
                </a:solidFill>
                <a:latin typeface="Consolas" pitchFamily="49" charset="0"/>
                <a:cs typeface="Consolas" pitchFamily="49" charset="0"/>
              </a:rPr>
              <a:t>    w = w - lr * grad(w)</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dirty="0">
                <a:solidFill>
                  <a:srgbClr val="E8F0F5"/>
                </a:solidFill>
                <a:latin typeface="Consolas" pitchFamily="49" charset="0"/>
                <a:cs typeface="Consolas" pitchFamily="49" charset="0"/>
              </a:rPr>
              <a:t>print(w)   </a:t>
            </a:r>
            <a:r>
              <a:rPr lang="en-US" sz="1400" i="1" dirty="0">
                <a:solidFill>
                  <a:srgbClr val="F2A541"/>
                </a:solidFill>
                <a:latin typeface="Consolas" pitchFamily="49" charset="0"/>
                <a:cs typeface="Consolas" pitchFamily="49" charset="0"/>
              </a:rPr>
              <a:t># converges toward 3.0</a:t>
            </a:r>
          </a:p>
        </p:txBody>
      </p:sp>
      <p:sp>
        <p:nvSpPr>
          <p:cNvPr id="5" name="Caption"/>
          <p:cNvSpPr/>
          <p:nvPr/>
        </p:nvSpPr>
        <p:spPr>
          <a:xfrm>
            <a:off x="548640" y="5486400"/>
            <a:ext cx="11064240" cy="548640"/>
          </a:xfrm>
          <a:prstGeom prst="rect">
            <a:avLst/>
          </a:prstGeom>
          <a:noFill/>
          <a:ln/>
        </p:spPr>
        <p:txBody>
          <a:bodyPr wrap="square" rtlCol="0" anchor="ctr"/>
          <a:lstStyle/>
          <a:p>
            <a:pPr marL="0" indent="0">
              <a:buNone/>
            </a:pPr>
            <a:r>
              <a:rPr lang="en-US" sz="1350" i="1" dirty="0">
                <a:solidFill>
                  <a:srgbClr val="CADCFC"/>
                </a:solidFill>
                <a:latin typeface="Aharoni" panose="02010803020104030203" pitchFamily="2" charset="-79"/>
                <a:ea typeface="Calibri" pitchFamily="34" charset="-122"/>
                <a:cs typeface="Aharoni" panose="02010803020104030203" pitchFamily="2" charset="-79"/>
              </a:rPr>
              <a:t>One line of math from Slide 10 (w &lt;- w - lr . grad L(w)) becomes one line of code.</a:t>
            </a:r>
          </a:p>
        </p:txBody>
      </p:sp>
      <p:sp>
        <p:nvSpPr>
          <p:cNvPr id="6" name="PageNum"/>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a:effectLst/>
      </p:bgPr>
    </p:bg>
    <p:spTree>
      <p:nvGrpSpPr>
        <p:cNvPr id="1" name=""/>
        <p:cNvGrpSpPr/>
        <p:nvPr/>
      </p:nvGrpSpPr>
      <p:grpSpPr>
        <a:xfrm>
          <a:off x="0" y="0"/>
          <a:ext cx="0" cy="0"/>
          <a:chOff x="0" y="0"/>
          <a:chExt cx="0" cy="0"/>
        </a:xfrm>
      </p:grpSpPr>
      <p:sp>
        <p:nvSpPr>
          <p:cNvPr id="2" name="Eyebrow"/>
          <p:cNvSpPr/>
          <p:nvPr/>
        </p:nvSpPr>
        <p:spPr>
          <a:xfrm>
            <a:off x="548640" y="457200"/>
            <a:ext cx="96012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CODE BREAK · SEE IT RUN</a:t>
            </a:r>
          </a:p>
        </p:txBody>
      </p:sp>
      <p:sp>
        <p:nvSpPr>
          <p:cNvPr id="3" name="Title"/>
          <p:cNvSpPr/>
          <p:nvPr/>
        </p:nvSpPr>
        <p:spPr>
          <a:xfrm>
            <a:off x="548640" y="777240"/>
            <a:ext cx="11064240" cy="822960"/>
          </a:xfrm>
          <a:prstGeom prst="rect">
            <a:avLst/>
          </a:prstGeom>
          <a:noFill/>
          <a:ln/>
        </p:spPr>
        <p:txBody>
          <a:bodyPr wrap="square" rtlCol="0" anchor="ctr"/>
          <a:lstStyle/>
          <a:p>
            <a:pPr marL="0" indent="0" algn="l">
              <a:buNone/>
            </a:pPr>
            <a:r>
              <a:rPr lang="en-US" sz="3200" b="1" dirty="0">
                <a:solidFill>
                  <a:srgbClr val="FFFFFF"/>
                </a:solidFill>
                <a:latin typeface="Aharoni" panose="02010803020104030203" pitchFamily="2" charset="-79"/>
                <a:ea typeface="Cambria" pitchFamily="34" charset="-122"/>
                <a:cs typeface="Aharoni" panose="02010803020104030203" pitchFamily="2" charset="-79"/>
              </a:rPr>
              <a:t>Autograd: Backprop Without the Pain</a:t>
            </a:r>
          </a:p>
        </p:txBody>
      </p:sp>
      <p:sp>
        <p:nvSpPr>
          <p:cNvPr id="4" name="CodeCard"/>
          <p:cNvSpPr/>
          <p:nvPr/>
        </p:nvSpPr>
        <p:spPr>
          <a:xfrm>
            <a:off x="548640" y="1828800"/>
            <a:ext cx="11064240" cy="3474720"/>
          </a:xfrm>
          <a:prstGeom prst="roundRect">
            <a:avLst>
              <a:gd name="adj" fmla="val 3500"/>
            </a:avLst>
          </a:prstGeom>
          <a:solidFill>
            <a:srgbClr val="13203A"/>
          </a:solidFill>
          <a:ln w="12700">
            <a:solidFill>
              <a:srgbClr val="1C7293"/>
            </a:solidFill>
            <a:prstDash val="solid"/>
          </a:ln>
        </p:spPr>
        <p:txBody>
          <a:bodyPr wrap="square" lIns="274320" tIns="228600" rIns="274320" bIns="228600" anchor="t"/>
          <a:lstStyle/>
          <a:p>
            <a:pPr marL="0" indent="0">
              <a:lnSpc>
                <a:spcPct val="130000"/>
              </a:lnSpc>
              <a:buNone/>
            </a:pPr>
            <a:r>
              <a:rPr lang="en-US" sz="1400" dirty="0">
                <a:solidFill>
                  <a:srgbClr val="E8F0F5"/>
                </a:solidFill>
                <a:latin typeface="Consolas" pitchFamily="49" charset="0"/>
                <a:cs typeface="Consolas" pitchFamily="49" charset="0"/>
              </a:rPr>
              <a:t>import torch</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dirty="0">
                <a:solidFill>
                  <a:srgbClr val="E8F0F5"/>
                </a:solidFill>
                <a:latin typeface="Consolas" pitchFamily="49" charset="0"/>
                <a:cs typeface="Consolas" pitchFamily="49" charset="0"/>
              </a:rPr>
              <a:t>w = torch.tensor(0.0, requires_grad=True)</a:t>
            </a:r>
          </a:p>
          <a:p>
            <a:pPr marL="0" indent="0">
              <a:lnSpc>
                <a:spcPct val="130000"/>
              </a:lnSpc>
              <a:buNone/>
            </a:pPr>
            <a:r>
              <a:rPr lang="en-US" sz="1400" dirty="0">
                <a:solidFill>
                  <a:srgbClr val="E8F0F5"/>
                </a:solidFill>
                <a:latin typeface="Consolas" pitchFamily="49" charset="0"/>
                <a:cs typeface="Consolas" pitchFamily="49" charset="0"/>
              </a:rPr>
              <a:t>loss = (w - 3) ** 2</a:t>
            </a:r>
          </a:p>
          <a:p>
            <a:pPr marL="0" indent="0">
              <a:lnSpc>
                <a:spcPct val="130000"/>
              </a:lnSpc>
              <a:buNone/>
            </a:pPr>
            <a:r>
              <a:rPr lang="en-US" sz="1400" dirty="0">
                <a:solidFill>
                  <a:srgbClr val="E8F0F5"/>
                </a:solidFill>
                <a:latin typeface="Consolas" pitchFamily="49" charset="0"/>
                <a:cs typeface="Consolas" pitchFamily="49" charset="0"/>
              </a:rPr>
              <a:t>loss.backward()</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dirty="0">
                <a:solidFill>
                  <a:srgbClr val="E8F0F5"/>
                </a:solidFill>
                <a:latin typeface="Consolas" pitchFamily="49" charset="0"/>
                <a:cs typeface="Consolas" pitchFamily="49" charset="0"/>
              </a:rPr>
              <a:t>print(w.grad)   </a:t>
            </a:r>
            <a:r>
              <a:rPr lang="en-US" sz="1400" i="1" dirty="0">
                <a:solidFill>
                  <a:srgbClr val="F2A541"/>
                </a:solidFill>
                <a:latin typeface="Consolas" pitchFamily="49" charset="0"/>
                <a:cs typeface="Consolas" pitchFamily="49" charset="0"/>
              </a:rPr>
              <a:t># -6.0, via the chain rule</a:t>
            </a:r>
          </a:p>
          <a:p>
            <a:pPr marL="0" indent="0">
              <a:lnSpc>
                <a:spcPct val="130000"/>
              </a:lnSpc>
              <a:buNone/>
            </a:pPr>
            <a:r>
              <a:rPr lang="en-US" sz="1400" dirty="0">
                <a:solidFill>
                  <a:srgbClr val="E8F0F5"/>
                </a:solidFill>
                <a:latin typeface="Consolas" pitchFamily="49" charset="0"/>
                <a:cs typeface="Consolas" pitchFamily="49" charset="0"/>
              </a:rPr>
              <a:t>                </a:t>
            </a:r>
            <a:r>
              <a:rPr lang="en-US" sz="1400" i="1" dirty="0">
                <a:solidFill>
                  <a:srgbClr val="F2A541"/>
                </a:solidFill>
                <a:latin typeface="Consolas" pitchFamily="49" charset="0"/>
                <a:cs typeface="Consolas" pitchFamily="49" charset="0"/>
              </a:rPr>
              <a:t># computed automatically</a:t>
            </a:r>
          </a:p>
        </p:txBody>
      </p:sp>
      <p:sp>
        <p:nvSpPr>
          <p:cNvPr id="5" name="Caption"/>
          <p:cNvSpPr/>
          <p:nvPr/>
        </p:nvSpPr>
        <p:spPr>
          <a:xfrm>
            <a:off x="548640" y="5486400"/>
            <a:ext cx="11064240" cy="548640"/>
          </a:xfrm>
          <a:prstGeom prst="rect">
            <a:avLst/>
          </a:prstGeom>
          <a:noFill/>
          <a:ln/>
        </p:spPr>
        <p:txBody>
          <a:bodyPr wrap="square" rtlCol="0" anchor="ctr"/>
          <a:lstStyle/>
          <a:p>
            <a:pPr marL="0" indent="0">
              <a:buNone/>
            </a:pPr>
            <a:r>
              <a:rPr lang="en-US" sz="1350" i="1" dirty="0">
                <a:solidFill>
                  <a:srgbClr val="CADCFC"/>
                </a:solidFill>
                <a:latin typeface="Aharoni" panose="02010803020104030203" pitchFamily="2" charset="-79"/>
                <a:ea typeface="Calibri" pitchFamily="34" charset="-122"/>
                <a:cs typeface="Aharoni" panose="02010803020104030203" pitchFamily="2" charset="-79"/>
              </a:rPr>
              <a:t>The chain rule from Slide 11 is one call: .backward(). This is what every training loop does.</a:t>
            </a:r>
          </a:p>
        </p:txBody>
      </p:sp>
      <p:sp>
        <p:nvSpPr>
          <p:cNvPr id="6" name="PageNum"/>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21295C"/>
        </a:solidFill>
        <a:effectLst/>
      </p:bgPr>
    </p:bg>
    <p:spTree>
      <p:nvGrpSpPr>
        <p:cNvPr id="1" name=""/>
        <p:cNvGrpSpPr/>
        <p:nvPr/>
      </p:nvGrpSpPr>
      <p:grpSpPr>
        <a:xfrm>
          <a:off x="0" y="0"/>
          <a:ext cx="0" cy="0"/>
          <a:chOff x="0" y="0"/>
          <a:chExt cx="0" cy="0"/>
        </a:xfrm>
      </p:grpSpPr>
      <p:sp>
        <p:nvSpPr>
          <p:cNvPr id="2" name="Eyebrow"/>
          <p:cNvSpPr/>
          <p:nvPr/>
        </p:nvSpPr>
        <p:spPr>
          <a:xfrm>
            <a:off x="548640" y="457200"/>
            <a:ext cx="96012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CODE BREAK · SEE IT RUN</a:t>
            </a:r>
          </a:p>
        </p:txBody>
      </p:sp>
      <p:sp>
        <p:nvSpPr>
          <p:cNvPr id="3" name="Title"/>
          <p:cNvSpPr/>
          <p:nvPr/>
        </p:nvSpPr>
        <p:spPr>
          <a:xfrm>
            <a:off x="548640" y="777240"/>
            <a:ext cx="11064240" cy="822960"/>
          </a:xfrm>
          <a:prstGeom prst="rect">
            <a:avLst/>
          </a:prstGeom>
          <a:noFill/>
          <a:ln/>
        </p:spPr>
        <p:txBody>
          <a:bodyPr wrap="square" rtlCol="0" anchor="ctr"/>
          <a:lstStyle/>
          <a:p>
            <a:pPr marL="0" indent="0" algn="l">
              <a:buNone/>
            </a:pPr>
            <a:r>
              <a:rPr lang="en-US" sz="3200" b="1" dirty="0">
                <a:solidFill>
                  <a:srgbClr val="FFFFFF"/>
                </a:solidFill>
                <a:latin typeface="Aharoni" panose="02010803020104030203" pitchFamily="2" charset="-79"/>
                <a:ea typeface="Cambria" pitchFamily="34" charset="-122"/>
                <a:cs typeface="Aharoni" panose="02010803020104030203" pitchFamily="2" charset="-79"/>
              </a:rPr>
              <a:t>LoRA: Same Idea, Two Lines</a:t>
            </a:r>
          </a:p>
        </p:txBody>
      </p:sp>
      <p:sp>
        <p:nvSpPr>
          <p:cNvPr id="4" name="CodeCard"/>
          <p:cNvSpPr/>
          <p:nvPr/>
        </p:nvSpPr>
        <p:spPr>
          <a:xfrm>
            <a:off x="548640" y="1828800"/>
            <a:ext cx="11064240" cy="3474720"/>
          </a:xfrm>
          <a:prstGeom prst="roundRect">
            <a:avLst>
              <a:gd name="adj" fmla="val 3500"/>
            </a:avLst>
          </a:prstGeom>
          <a:solidFill>
            <a:srgbClr val="13203A"/>
          </a:solidFill>
          <a:ln w="12700">
            <a:solidFill>
              <a:srgbClr val="1C7293"/>
            </a:solidFill>
            <a:prstDash val="solid"/>
          </a:ln>
        </p:spPr>
        <p:txBody>
          <a:bodyPr wrap="square" lIns="274320" tIns="228600" rIns="274320" bIns="228600" anchor="t"/>
          <a:lstStyle/>
          <a:p>
            <a:pPr marL="0" indent="0">
              <a:lnSpc>
                <a:spcPct val="130000"/>
              </a:lnSpc>
              <a:buNone/>
            </a:pPr>
            <a:r>
              <a:rPr lang="en-US" sz="1400" dirty="0">
                <a:solidFill>
                  <a:srgbClr val="E8F0F5"/>
                </a:solidFill>
                <a:latin typeface="Consolas" pitchFamily="49" charset="0"/>
                <a:cs typeface="Consolas" pitchFamily="49" charset="0"/>
              </a:rPr>
              <a:t>import torch</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dirty="0">
                <a:solidFill>
                  <a:srgbClr val="E8F0F5"/>
                </a:solidFill>
                <a:latin typeface="Consolas" pitchFamily="49" charset="0"/>
                <a:cs typeface="Consolas" pitchFamily="49" charset="0"/>
              </a:rPr>
              <a:t>W = torch.randn(4096, 4096)   </a:t>
            </a:r>
            <a:r>
              <a:rPr lang="en-US" sz="1400" i="1" dirty="0">
                <a:solidFill>
                  <a:srgbClr val="F2A541"/>
                </a:solidFill>
                <a:latin typeface="Consolas" pitchFamily="49" charset="0"/>
                <a:cs typeface="Consolas" pitchFamily="49" charset="0"/>
              </a:rPr>
              <a:t># 16.8M values, frozen</a:t>
            </a:r>
          </a:p>
          <a:p>
            <a:pPr marL="0" indent="0">
              <a:lnSpc>
                <a:spcPct val="130000"/>
              </a:lnSpc>
              <a:buNone/>
            </a:pPr>
            <a:r>
              <a:rPr lang="en-US" sz="1400" dirty="0">
                <a:solidFill>
                  <a:srgbClr val="E8F0F5"/>
                </a:solidFill>
                <a:latin typeface="Consolas" pitchFamily="49" charset="0"/>
                <a:cs typeface="Consolas" pitchFamily="49" charset="0"/>
              </a:rPr>
              <a:t>A = torch.randn(4096, 8, requires_grad=True)  </a:t>
            </a:r>
            <a:r>
              <a:rPr lang="en-US" sz="1400" i="1" dirty="0">
                <a:solidFill>
                  <a:srgbClr val="F2A541"/>
                </a:solidFill>
                <a:latin typeface="Consolas" pitchFamily="49" charset="0"/>
                <a:cs typeface="Consolas" pitchFamily="49" charset="0"/>
              </a:rPr>
              <a:t># ~33K trainable</a:t>
            </a:r>
          </a:p>
          <a:p>
            <a:pPr marL="0" indent="0">
              <a:lnSpc>
                <a:spcPct val="130000"/>
              </a:lnSpc>
              <a:buNone/>
            </a:pPr>
            <a:r>
              <a:rPr lang="en-US" sz="1400" dirty="0">
                <a:solidFill>
                  <a:srgbClr val="E8F0F5"/>
                </a:solidFill>
                <a:latin typeface="Consolas" pitchFamily="49" charset="0"/>
                <a:cs typeface="Consolas" pitchFamily="49" charset="0"/>
              </a:rPr>
              <a:t>B = torch.randn(8, 4096, requires_grad=True)  </a:t>
            </a:r>
            <a:r>
              <a:rPr lang="en-US" sz="1400" i="1" dirty="0">
                <a:solidFill>
                  <a:srgbClr val="F2A541"/>
                </a:solidFill>
                <a:latin typeface="Consolas" pitchFamily="49" charset="0"/>
                <a:cs typeface="Consolas" pitchFamily="49" charset="0"/>
              </a:rPr>
              <a:t># ~33K trainable</a:t>
            </a:r>
          </a:p>
          <a:p>
            <a:pPr marL="0" indent="0">
              <a:lnSpc>
                <a:spcPct val="130000"/>
              </a:lnSpc>
              <a:buNone/>
            </a:pPr>
            <a:endParaRPr lang="en-US" sz="1400">
              <a:latin typeface="Consolas" pitchFamily="49" charset="0"/>
              <a:cs typeface="Consolas" pitchFamily="49" charset="0"/>
            </a:endParaRPr>
          </a:p>
          <a:p>
            <a:pPr marL="0" indent="0">
              <a:lnSpc>
                <a:spcPct val="130000"/>
              </a:lnSpc>
              <a:buNone/>
            </a:pPr>
            <a:r>
              <a:rPr lang="en-US" sz="1400" dirty="0">
                <a:solidFill>
                  <a:srgbClr val="E8F0F5"/>
                </a:solidFill>
                <a:latin typeface="Consolas" pitchFamily="49" charset="0"/>
                <a:cs typeface="Consolas" pitchFamily="49" charset="0"/>
              </a:rPr>
              <a:t>W_adapted = W + A @ B   </a:t>
            </a:r>
            <a:r>
              <a:rPr lang="en-US" sz="1400" i="1" dirty="0">
                <a:solidFill>
                  <a:srgbClr val="F2A541"/>
                </a:solidFill>
                <a:latin typeface="Consolas" pitchFamily="49" charset="0"/>
                <a:cs typeface="Consolas" pitchFamily="49" charset="0"/>
              </a:rPr>
              <a:t># only A, B get updated in fine-tuning</a:t>
            </a:r>
          </a:p>
        </p:txBody>
      </p:sp>
      <p:sp>
        <p:nvSpPr>
          <p:cNvPr id="5" name="Caption"/>
          <p:cNvSpPr/>
          <p:nvPr/>
        </p:nvSpPr>
        <p:spPr>
          <a:xfrm>
            <a:off x="548640" y="5486400"/>
            <a:ext cx="11064240" cy="548640"/>
          </a:xfrm>
          <a:prstGeom prst="rect">
            <a:avLst/>
          </a:prstGeom>
          <a:noFill/>
          <a:ln/>
        </p:spPr>
        <p:txBody>
          <a:bodyPr wrap="square" rtlCol="0" anchor="ctr"/>
          <a:lstStyle/>
          <a:p>
            <a:pPr marL="0" indent="0">
              <a:buNone/>
            </a:pPr>
            <a:r>
              <a:rPr lang="en-US" sz="1350" i="1" dirty="0">
                <a:solidFill>
                  <a:srgbClr val="CADCFC"/>
                </a:solidFill>
                <a:latin typeface="Aharoni" panose="02010803020104030203" pitchFamily="2" charset="-79"/>
                <a:ea typeface="Calibri" pitchFamily="34" charset="-122"/>
                <a:cs typeface="Aharoni" panose="02010803020104030203" pitchFamily="2" charset="-79"/>
              </a:rPr>
              <a:t>Closes the loop with Slide 14 — same 250x reduction, now visible as two small tensors.</a:t>
            </a:r>
          </a:p>
        </p:txBody>
      </p:sp>
      <p:sp>
        <p:nvSpPr>
          <p:cNvPr id="6" name="PageNum"/>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1C7293"/>
                </a:solidFill>
                <a:latin typeface="Aharoni" panose="02010803020104030203" pitchFamily="2" charset="-79"/>
                <a:ea typeface="Calibri" pitchFamily="34" charset="-122"/>
                <a:cs typeface="Aharoni" panose="02010803020104030203" pitchFamily="2" charset="-79"/>
              </a:rPr>
              <a:t>INTERACTIVE</a:t>
            </a:r>
            <a:endParaRPr lang="en-US" sz="1300" dirty="0">
              <a:latin typeface="Aharoni" panose="02010803020104030203" pitchFamily="2" charset="-79"/>
              <a:cs typeface="Aharoni" panose="02010803020104030203" pitchFamily="2" charset="-79"/>
            </a:endParaRPr>
          </a:p>
        </p:txBody>
      </p:sp>
      <p:sp>
        <p:nvSpPr>
          <p:cNvPr id="3" name="Text 1"/>
          <p:cNvSpPr/>
          <p:nvPr/>
        </p:nvSpPr>
        <p:spPr>
          <a:xfrm>
            <a:off x="548640" y="777240"/>
            <a:ext cx="9601200" cy="822960"/>
          </a:xfrm>
          <a:prstGeom prst="rect">
            <a:avLst/>
          </a:prstGeom>
          <a:noFill/>
          <a:ln/>
        </p:spPr>
        <p:txBody>
          <a:bodyPr wrap="square" rtlCol="0" anchor="ctr"/>
          <a:lstStyle/>
          <a:p>
            <a:pPr marL="0" indent="0" algn="l">
              <a:buNone/>
            </a:pPr>
            <a:r>
              <a:rPr lang="en-US" sz="3200" b="1" dirty="0">
                <a:solidFill>
                  <a:srgbClr val="21295C"/>
                </a:solidFill>
                <a:latin typeface="Aharoni" panose="02010803020104030203" pitchFamily="2" charset="-79"/>
                <a:ea typeface="Cambria" pitchFamily="34" charset="-122"/>
                <a:cs typeface="Aharoni" panose="02010803020104030203" pitchFamily="2" charset="-79"/>
              </a:rPr>
              <a:t>Quick Check: Is This Image Related to This Caption?</a:t>
            </a:r>
            <a:endParaRPr lang="en-US" sz="3200" dirty="0">
              <a:latin typeface="Aharoni" panose="02010803020104030203" pitchFamily="2" charset="-79"/>
              <a:cs typeface="Aharoni" panose="02010803020104030203" pitchFamily="2" charset="-79"/>
            </a:endParaRPr>
          </a:p>
        </p:txBody>
      </p:sp>
      <p:sp>
        <p:nvSpPr>
          <p:cNvPr id="4" name="Shape 2"/>
          <p:cNvSpPr/>
          <p:nvPr/>
        </p:nvSpPr>
        <p:spPr>
          <a:xfrm>
            <a:off x="548640" y="2011680"/>
            <a:ext cx="5120640" cy="3200400"/>
          </a:xfrm>
          <a:prstGeom prst="roundRect">
            <a:avLst>
              <a:gd name="adj" fmla="val 2857"/>
            </a:avLst>
          </a:prstGeom>
          <a:solidFill>
            <a:srgbClr val="F4F7F9"/>
          </a:solidFill>
          <a:ln w="19050">
            <a:solidFill>
              <a:srgbClr val="065A82"/>
            </a:solidFill>
            <a:prstDash val="solid"/>
          </a:ln>
        </p:spPr>
        <p:txBody>
          <a:bodyPr/>
          <a:lstStyle/>
          <a:p>
            <a:endParaRPr lang="en-US">
              <a:latin typeface="Aharoni" panose="02010803020104030203" pitchFamily="2" charset="-79"/>
              <a:cs typeface="Aharoni" panose="02010803020104030203" pitchFamily="2" charset="-79"/>
            </a:endParaRPr>
          </a:p>
        </p:txBody>
      </p:sp>
      <p:sp>
        <p:nvSpPr>
          <p:cNvPr id="5" name="Text 3"/>
          <p:cNvSpPr/>
          <p:nvPr/>
        </p:nvSpPr>
        <p:spPr>
          <a:xfrm>
            <a:off x="822960" y="2194560"/>
            <a:ext cx="4572000" cy="365760"/>
          </a:xfrm>
          <a:prstGeom prst="rect">
            <a:avLst/>
          </a:prstGeom>
          <a:noFill/>
          <a:ln/>
        </p:spPr>
        <p:txBody>
          <a:bodyPr wrap="square" rtlCol="0" anchor="ctr"/>
          <a:lstStyle/>
          <a:p>
            <a:pPr marL="0" indent="0">
              <a:buNone/>
            </a:pPr>
            <a:endParaRPr lang="en-US" sz="1400" dirty="0">
              <a:latin typeface="Aharoni" panose="02010803020104030203" pitchFamily="2" charset="-79"/>
              <a:cs typeface="Aharoni" panose="02010803020104030203" pitchFamily="2" charset="-79"/>
            </a:endParaRPr>
          </a:p>
        </p:txBody>
      </p:sp>
      <p:sp>
        <p:nvSpPr>
          <p:cNvPr id="6" name="Text 4"/>
          <p:cNvSpPr/>
          <p:nvPr/>
        </p:nvSpPr>
        <p:spPr>
          <a:xfrm>
            <a:off x="822960" y="2256889"/>
            <a:ext cx="4572000" cy="1629311"/>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“If I show you an image and a caption, what's the simplest linear algebra check that they're related?”</a:t>
            </a:r>
            <a:endParaRPr lang="en-US" sz="1500" dirty="0">
              <a:latin typeface="Aharoni" panose="02010803020104030203" pitchFamily="2" charset="-79"/>
              <a:cs typeface="Aharoni" panose="02010803020104030203" pitchFamily="2" charset="-79"/>
            </a:endParaRPr>
          </a:p>
        </p:txBody>
      </p:sp>
      <p:sp>
        <p:nvSpPr>
          <p:cNvPr id="8" name="Shape 6"/>
          <p:cNvSpPr/>
          <p:nvPr/>
        </p:nvSpPr>
        <p:spPr>
          <a:xfrm>
            <a:off x="6035040" y="2011680"/>
            <a:ext cx="5577840" cy="3200400"/>
          </a:xfrm>
          <a:prstGeom prst="roundRect">
            <a:avLst>
              <a:gd name="adj" fmla="val 2857"/>
            </a:avLst>
          </a:prstGeom>
          <a:solidFill>
            <a:srgbClr val="21295C"/>
          </a:solidFill>
          <a:ln/>
        </p:spPr>
        <p:txBody>
          <a:bodyPr/>
          <a:lstStyle/>
          <a:p>
            <a:endParaRPr lang="en-US">
              <a:latin typeface="Aharoni" panose="02010803020104030203" pitchFamily="2" charset="-79"/>
              <a:cs typeface="Aharoni" panose="02010803020104030203" pitchFamily="2" charset="-79"/>
            </a:endParaRPr>
          </a:p>
        </p:txBody>
      </p:sp>
      <p:sp>
        <p:nvSpPr>
          <p:cNvPr id="9" name="Text 7"/>
          <p:cNvSpPr/>
          <p:nvPr/>
        </p:nvSpPr>
        <p:spPr>
          <a:xfrm>
            <a:off x="6309360" y="2194560"/>
            <a:ext cx="5029200" cy="365760"/>
          </a:xfrm>
          <a:prstGeom prst="rect">
            <a:avLst/>
          </a:prstGeom>
          <a:noFill/>
          <a:ln/>
        </p:spPr>
        <p:txBody>
          <a:bodyPr wrap="square" rtlCol="0" anchor="ctr"/>
          <a:lstStyle/>
          <a:p>
            <a:pPr marL="0" indent="0">
              <a:buNone/>
            </a:pPr>
            <a:r>
              <a:rPr lang="en-US" sz="1300" b="1" dirty="0">
                <a:solidFill>
                  <a:srgbClr val="F2A541"/>
                </a:solidFill>
                <a:latin typeface="Aharoni" panose="02010803020104030203" pitchFamily="2" charset="-79"/>
                <a:ea typeface="Calibri" pitchFamily="34" charset="-122"/>
                <a:cs typeface="Aharoni" panose="02010803020104030203" pitchFamily="2" charset="-79"/>
              </a:rPr>
              <a:t>Mini walkthrough on the board:</a:t>
            </a:r>
            <a:endParaRPr lang="en-US" sz="1300" dirty="0">
              <a:latin typeface="Aharoni" panose="02010803020104030203" pitchFamily="2" charset="-79"/>
              <a:cs typeface="Aharoni" panose="02010803020104030203" pitchFamily="2" charset="-79"/>
            </a:endParaRPr>
          </a:p>
        </p:txBody>
      </p:sp>
      <p:sp>
        <p:nvSpPr>
          <p:cNvPr id="10" name="Text 8"/>
          <p:cNvSpPr/>
          <p:nvPr/>
        </p:nvSpPr>
        <p:spPr>
          <a:xfrm>
            <a:off x="6309360" y="2651760"/>
            <a:ext cx="5029200" cy="2377440"/>
          </a:xfrm>
          <a:prstGeom prst="rect">
            <a:avLst/>
          </a:prstGeom>
          <a:noFill/>
          <a:ln/>
        </p:spPr>
        <p:txBody>
          <a:bodyPr wrap="square" rtlCol="0" anchor="ctr"/>
          <a:lstStyle/>
          <a:p>
            <a:pPr marL="342900" indent="-342900">
              <a:spcAft>
                <a:spcPts val="1400"/>
              </a:spcAft>
              <a:buSzPct val="100000"/>
              <a:buChar char="•"/>
            </a:pPr>
            <a:r>
              <a:rPr lang="en-US" sz="1300" dirty="0">
                <a:solidFill>
                  <a:srgbClr val="E8F0F5"/>
                </a:solidFill>
                <a:latin typeface="Aharoni" panose="02010803020104030203" pitchFamily="2" charset="-79"/>
                <a:ea typeface="Calibri" pitchFamily="34" charset="-122"/>
                <a:cs typeface="Aharoni" panose="02010803020104030203" pitchFamily="2" charset="-79"/>
              </a:rPr>
              <a:t>A 3-word sentence and a 2-patch image, each turned into vectors</a:t>
            </a:r>
            <a:endParaRPr lang="en-US" sz="1300"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sz="1300" dirty="0">
                <a:solidFill>
                  <a:srgbClr val="E8F0F5"/>
                </a:solidFill>
                <a:latin typeface="Aharoni" panose="02010803020104030203" pitchFamily="2" charset="-79"/>
                <a:ea typeface="Calibri" pitchFamily="34" charset="-122"/>
                <a:cs typeface="Aharoni" panose="02010803020104030203" pitchFamily="2" charset="-79"/>
              </a:rPr>
              <a:t>Compute Q, K, V for all five tokens</a:t>
            </a:r>
            <a:endParaRPr lang="en-US" sz="1300" dirty="0">
              <a:latin typeface="Aharoni" panose="02010803020104030203" pitchFamily="2" charset="-79"/>
              <a:cs typeface="Aharoni" panose="02010803020104030203" pitchFamily="2" charset="-79"/>
            </a:endParaRPr>
          </a:p>
          <a:p>
            <a:pPr marL="342900" indent="-342900">
              <a:spcAft>
                <a:spcPts val="1400"/>
              </a:spcAft>
              <a:buSzPct val="100000"/>
              <a:buChar char="•"/>
            </a:pPr>
            <a:r>
              <a:rPr lang="en-US" sz="1300" dirty="0">
                <a:solidFill>
                  <a:srgbClr val="E8F0F5"/>
                </a:solidFill>
                <a:latin typeface="Aharoni" panose="02010803020104030203" pitchFamily="2" charset="-79"/>
                <a:ea typeface="Calibri" pitchFamily="34" charset="-122"/>
                <a:cs typeface="Aharoni" panose="02010803020104030203" pitchFamily="2" charset="-79"/>
              </a:rPr>
              <a:t>One attention step: which patch does each word look at most?</a:t>
            </a:r>
            <a:endParaRPr lang="en-US" sz="1300" dirty="0">
              <a:latin typeface="Aharoni" panose="02010803020104030203" pitchFamily="2" charset="-79"/>
              <a:cs typeface="Aharoni" panose="02010803020104030203" pitchFamily="2" charset="-79"/>
            </a:endParaRPr>
          </a:p>
        </p:txBody>
      </p:sp>
      <p:sp>
        <p:nvSpPr>
          <p:cNvPr id="12" name="Text 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19</a:t>
            </a:r>
            <a:endParaRPr lang="en-US" sz="1000" dirty="0">
              <a:latin typeface="Aharoni" panose="02010803020104030203" pitchFamily="2" charset="-79"/>
              <a:cs typeface="Aharoni" panose="02010803020104030203" pitchFamily="2" charset="-79"/>
            </a:endParaRPr>
          </a:p>
        </p:txBody>
      </p:sp>
      <p:sp>
        <p:nvSpPr>
          <p:cNvPr id="13" name="TextBox 12">
            <a:extLst>
              <a:ext uri="{FF2B5EF4-FFF2-40B4-BE49-F238E27FC236}">
                <a16:creationId xmlns:a16="http://schemas.microsoft.com/office/drawing/2014/main" id="{D5461C06-9EDA-E332-9E75-7368E5CC712B}"/>
              </a:ext>
            </a:extLst>
          </p:cNvPr>
          <p:cNvSpPr txBox="1"/>
          <p:nvPr/>
        </p:nvSpPr>
        <p:spPr>
          <a:xfrm>
            <a:off x="548639" y="5868769"/>
            <a:ext cx="10524521" cy="369332"/>
          </a:xfrm>
          <a:prstGeom prst="rect">
            <a:avLst/>
          </a:prstGeom>
          <a:noFill/>
        </p:spPr>
        <p:txBody>
          <a:bodyPr wrap="square">
            <a:spAutoFit/>
          </a:bodyPr>
          <a:lstStyle/>
          <a:p>
            <a:r>
              <a:rPr lang="en-US" dirty="0"/>
              <a:t>https://</a:t>
            </a:r>
            <a:r>
              <a:rPr lang="en-US" dirty="0" err="1"/>
              <a:t>github.com</a:t>
            </a:r>
            <a:r>
              <a:rPr lang="en-US" dirty="0"/>
              <a:t>/subharya83/</a:t>
            </a:r>
            <a:r>
              <a:rPr lang="en-US" dirty="0" err="1"/>
              <a:t>cvml</a:t>
            </a:r>
            <a:r>
              <a:rPr lang="en-US" dirty="0"/>
              <a:t>-exercise/tree/main/ex31</a:t>
            </a:r>
          </a:p>
        </p:txBody>
      </p:sp>
      <p:pic>
        <p:nvPicPr>
          <p:cNvPr id="14" name="Picture 13" descr="Cartoon Moving Red Car Stock Footage Video (100% Royalty-free) 1016450806 |  Shutterstock">
            <a:extLst>
              <a:ext uri="{FF2B5EF4-FFF2-40B4-BE49-F238E27FC236}">
                <a16:creationId xmlns:a16="http://schemas.microsoft.com/office/drawing/2014/main" id="{E7D66A3E-3350-2B0C-073A-EFE66D8B18F4}"/>
              </a:ext>
            </a:extLst>
          </p:cNvPr>
          <p:cNvPicPr>
            <a:picLocks noChangeAspect="1"/>
          </p:cNvPicPr>
          <p:nvPr/>
        </p:nvPicPr>
        <p:blipFill>
          <a:blip r:embed="rId3"/>
          <a:stretch>
            <a:fillRect/>
          </a:stretch>
        </p:blipFill>
        <p:spPr>
          <a:xfrm>
            <a:off x="853440" y="3709732"/>
            <a:ext cx="2090482" cy="1175896"/>
          </a:xfrm>
          <a:prstGeom prst="rect">
            <a:avLst/>
          </a:prstGeom>
        </p:spPr>
      </p:pic>
      <p:sp>
        <p:nvSpPr>
          <p:cNvPr id="15" name="Text 4">
            <a:extLst>
              <a:ext uri="{FF2B5EF4-FFF2-40B4-BE49-F238E27FC236}">
                <a16:creationId xmlns:a16="http://schemas.microsoft.com/office/drawing/2014/main" id="{AEFE9C5D-C442-6DF7-B5B8-6E07B3AA2268}"/>
              </a:ext>
            </a:extLst>
          </p:cNvPr>
          <p:cNvSpPr/>
          <p:nvPr/>
        </p:nvSpPr>
        <p:spPr>
          <a:xfrm>
            <a:off x="3218242" y="3948529"/>
            <a:ext cx="1267520" cy="746134"/>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One red car</a:t>
            </a:r>
            <a:endParaRPr lang="en-US" sz="1500" dirty="0">
              <a:latin typeface="Aharoni" panose="02010803020104030203" pitchFamily="2" charset="-79"/>
              <a:cs typeface="Aharoni" panose="02010803020104030203" pitchFamily="2" charset="-79"/>
            </a:endParaRPr>
          </a:p>
        </p:txBody>
      </p:sp>
      <p:cxnSp>
        <p:nvCxnSpPr>
          <p:cNvPr id="17" name="Straight Connector 16">
            <a:extLst>
              <a:ext uri="{FF2B5EF4-FFF2-40B4-BE49-F238E27FC236}">
                <a16:creationId xmlns:a16="http://schemas.microsoft.com/office/drawing/2014/main" id="{68E449DC-9A6D-A8CA-14E3-883E9521F931}"/>
              </a:ext>
            </a:extLst>
          </p:cNvPr>
          <p:cNvCxnSpPr/>
          <p:nvPr/>
        </p:nvCxnSpPr>
        <p:spPr>
          <a:xfrm>
            <a:off x="1906859" y="3679902"/>
            <a:ext cx="0" cy="12266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Text 4">
            <a:extLst>
              <a:ext uri="{FF2B5EF4-FFF2-40B4-BE49-F238E27FC236}">
                <a16:creationId xmlns:a16="http://schemas.microsoft.com/office/drawing/2014/main" id="{0DCDDA9B-39D3-41DC-4E0A-09EC73AC9144}"/>
              </a:ext>
            </a:extLst>
          </p:cNvPr>
          <p:cNvSpPr/>
          <p:nvPr/>
        </p:nvSpPr>
        <p:spPr>
          <a:xfrm>
            <a:off x="624099" y="4656133"/>
            <a:ext cx="1267520" cy="746134"/>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Patch 1</a:t>
            </a:r>
            <a:endParaRPr lang="en-US" sz="1500" dirty="0">
              <a:latin typeface="Aharoni" panose="02010803020104030203" pitchFamily="2" charset="-79"/>
              <a:cs typeface="Aharoni" panose="02010803020104030203" pitchFamily="2" charset="-79"/>
            </a:endParaRPr>
          </a:p>
        </p:txBody>
      </p:sp>
      <p:sp>
        <p:nvSpPr>
          <p:cNvPr id="19" name="Text 4">
            <a:extLst>
              <a:ext uri="{FF2B5EF4-FFF2-40B4-BE49-F238E27FC236}">
                <a16:creationId xmlns:a16="http://schemas.microsoft.com/office/drawing/2014/main" id="{53B1A318-DC29-296B-0AB5-94A5A9F7F718}"/>
              </a:ext>
            </a:extLst>
          </p:cNvPr>
          <p:cNvSpPr/>
          <p:nvPr/>
        </p:nvSpPr>
        <p:spPr>
          <a:xfrm>
            <a:off x="2062049" y="4648826"/>
            <a:ext cx="1267520" cy="746134"/>
          </a:xfrm>
          <a:prstGeom prst="rect">
            <a:avLst/>
          </a:prstGeom>
          <a:noFill/>
          <a:ln/>
        </p:spPr>
        <p:txBody>
          <a:bodyPr wrap="square" rtlCol="0" anchor="ctr"/>
          <a:lstStyle/>
          <a:p>
            <a:pPr marL="0" indent="0">
              <a:buNone/>
            </a:pPr>
            <a:r>
              <a:rPr lang="en-US" sz="1500" i="1" dirty="0">
                <a:solidFill>
                  <a:srgbClr val="1C7293"/>
                </a:solidFill>
                <a:latin typeface="Aharoni" panose="02010803020104030203" pitchFamily="2" charset="-79"/>
                <a:ea typeface="Cambria" pitchFamily="34" charset="-122"/>
                <a:cs typeface="Aharoni" panose="02010803020104030203" pitchFamily="2" charset="-79"/>
              </a:rPr>
              <a:t>Patch 2</a:t>
            </a:r>
            <a:endParaRPr lang="en-US" sz="1500" dirty="0">
              <a:latin typeface="Aharoni" panose="02010803020104030203" pitchFamily="2" charset="-79"/>
              <a:cs typeface="Aharoni" panose="02010803020104030203" pitchFamily="2" charset="-79"/>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6675120" y="0"/>
            <a:ext cx="5486400" cy="5486400"/>
          </a:xfrm>
          <a:prstGeom prst="ellipse">
            <a:avLst/>
          </a:prstGeom>
          <a:solidFill>
            <a:srgbClr val="065A82">
              <a:alpha val="45000"/>
            </a:srgbClr>
          </a:solidFill>
          <a:ln/>
        </p:spPr>
        <p:txBody>
          <a:bodyPr/>
          <a:lstStyle/>
          <a:p>
            <a:endParaRPr lang="en-US">
              <a:latin typeface="Aharoni" panose="02010803020104030203" pitchFamily="2" charset="-79"/>
              <a:cs typeface="Aharoni" panose="02010803020104030203" pitchFamily="2" charset="-79"/>
            </a:endParaRPr>
          </a:p>
        </p:txBody>
      </p:sp>
      <p:sp>
        <p:nvSpPr>
          <p:cNvPr id="3" name="Text 1"/>
          <p:cNvSpPr/>
          <p:nvPr/>
        </p:nvSpPr>
        <p:spPr>
          <a:xfrm>
            <a:off x="731520" y="640080"/>
            <a:ext cx="5486400" cy="365760"/>
          </a:xfrm>
          <a:prstGeom prst="rect">
            <a:avLst/>
          </a:prstGeom>
          <a:noFill/>
          <a:ln/>
        </p:spPr>
        <p:txBody>
          <a:bodyPr wrap="square" rtlCol="0" anchor="ctr"/>
          <a:lstStyle/>
          <a:p>
            <a:pPr marL="0" indent="0">
              <a:buNone/>
            </a:pPr>
            <a:r>
              <a:rPr lang="en-US" sz="1300" b="1" kern="0" spc="200" dirty="0">
                <a:solidFill>
                  <a:srgbClr val="F2A541"/>
                </a:solidFill>
                <a:latin typeface="Aharoni" panose="02010803020104030203" pitchFamily="2" charset="-79"/>
                <a:ea typeface="Calibri" pitchFamily="34" charset="-122"/>
                <a:cs typeface="Aharoni" panose="02010803020104030203" pitchFamily="2" charset="-79"/>
              </a:rPr>
              <a:t>CLOSING</a:t>
            </a:r>
            <a:endParaRPr lang="en-US" sz="1300" dirty="0">
              <a:latin typeface="Aharoni" panose="02010803020104030203" pitchFamily="2" charset="-79"/>
              <a:cs typeface="Aharoni" panose="02010803020104030203" pitchFamily="2" charset="-79"/>
            </a:endParaRPr>
          </a:p>
        </p:txBody>
      </p:sp>
      <p:sp>
        <p:nvSpPr>
          <p:cNvPr id="4" name="Text 2"/>
          <p:cNvSpPr/>
          <p:nvPr/>
        </p:nvSpPr>
        <p:spPr>
          <a:xfrm>
            <a:off x="731520" y="1051560"/>
            <a:ext cx="8686800" cy="1645920"/>
          </a:xfrm>
          <a:prstGeom prst="rect">
            <a:avLst/>
          </a:prstGeom>
          <a:noFill/>
          <a:ln/>
        </p:spPr>
        <p:txBody>
          <a:bodyPr wrap="square" rtlCol="0" anchor="ctr"/>
          <a:lstStyle/>
          <a:p>
            <a:pPr marL="0" indent="0">
              <a:lnSpc>
                <a:spcPts val="4000"/>
              </a:lnSpc>
              <a:buNone/>
            </a:pPr>
            <a:r>
              <a:rPr lang="en-US" sz="3400" b="1" dirty="0">
                <a:solidFill>
                  <a:srgbClr val="FFFFFF"/>
                </a:solidFill>
                <a:latin typeface="Aharoni" panose="02010803020104030203" pitchFamily="2" charset="-79"/>
                <a:ea typeface="Cambria" pitchFamily="34" charset="-122"/>
                <a:cs typeface="Aharoni" panose="02010803020104030203" pitchFamily="2" charset="-79"/>
              </a:rPr>
              <a:t>The math doesn't change.</a:t>
            </a:r>
            <a:endParaRPr lang="en-US" sz="3400" dirty="0">
              <a:latin typeface="Aharoni" panose="02010803020104030203" pitchFamily="2" charset="-79"/>
              <a:cs typeface="Aharoni" panose="02010803020104030203" pitchFamily="2" charset="-79"/>
            </a:endParaRPr>
          </a:p>
          <a:p>
            <a:pPr marL="0" indent="0">
              <a:lnSpc>
                <a:spcPts val="4000"/>
              </a:lnSpc>
              <a:buNone/>
            </a:pPr>
            <a:r>
              <a:rPr lang="en-US" sz="3400" b="1" dirty="0">
                <a:solidFill>
                  <a:srgbClr val="FFFFFF"/>
                </a:solidFill>
                <a:latin typeface="Aharoni" panose="02010803020104030203" pitchFamily="2" charset="-79"/>
                <a:ea typeface="Cambria" pitchFamily="34" charset="-122"/>
                <a:cs typeface="Aharoni" panose="02010803020104030203" pitchFamily="2" charset="-79"/>
              </a:rPr>
              <a:t>The frameworks do.</a:t>
            </a:r>
            <a:endParaRPr lang="en-US" sz="3400" dirty="0">
              <a:latin typeface="Aharoni" panose="02010803020104030203" pitchFamily="2" charset="-79"/>
              <a:cs typeface="Aharoni" panose="02010803020104030203" pitchFamily="2" charset="-79"/>
            </a:endParaRPr>
          </a:p>
        </p:txBody>
      </p:sp>
      <p:sp>
        <p:nvSpPr>
          <p:cNvPr id="5" name="Text 3"/>
          <p:cNvSpPr/>
          <p:nvPr/>
        </p:nvSpPr>
        <p:spPr>
          <a:xfrm>
            <a:off x="731520" y="2926080"/>
            <a:ext cx="8046720" cy="2377440"/>
          </a:xfrm>
          <a:prstGeom prst="rect">
            <a:avLst/>
          </a:prstGeom>
          <a:noFill/>
          <a:ln/>
        </p:spPr>
        <p:txBody>
          <a:bodyPr wrap="square" rtlCol="0" anchor="ctr"/>
          <a:lstStyle/>
          <a:p>
            <a:pPr marL="342900" indent="-342900">
              <a:spcAft>
                <a:spcPts val="1600"/>
              </a:spcAft>
              <a:buSzPct val="100000"/>
              <a:buChar char="▪"/>
            </a:pPr>
            <a:r>
              <a:rPr lang="en-US" sz="1500" dirty="0">
                <a:solidFill>
                  <a:srgbClr val="E8F0F5"/>
                </a:solidFill>
                <a:latin typeface="Aharoni" panose="02010803020104030203" pitchFamily="2" charset="-79"/>
                <a:ea typeface="Calibri" pitchFamily="34" charset="-122"/>
                <a:cs typeface="Aharoni" panose="02010803020104030203" pitchFamily="2" charset="-79"/>
              </a:rPr>
              <a:t>Linear algebra, multivariable calculus, and probability underlie VLMs — and robotics, recommendation systems, and scientific computing too</a:t>
            </a:r>
            <a:endParaRPr lang="en-US" sz="1500" dirty="0">
              <a:latin typeface="Aharoni" panose="02010803020104030203" pitchFamily="2" charset="-79"/>
              <a:cs typeface="Aharoni" panose="02010803020104030203" pitchFamily="2" charset="-79"/>
            </a:endParaRPr>
          </a:p>
          <a:p>
            <a:pPr marL="342900" indent="-342900">
              <a:spcAft>
                <a:spcPts val="1600"/>
              </a:spcAft>
              <a:buSzPct val="100000"/>
              <a:buChar char="▪"/>
            </a:pPr>
            <a:r>
              <a:rPr lang="en-US" sz="1500" dirty="0">
                <a:solidFill>
                  <a:srgbClr val="E8F0F5"/>
                </a:solidFill>
                <a:latin typeface="Aharoni" panose="02010803020104030203" pitchFamily="2" charset="-79"/>
                <a:ea typeface="Calibri" pitchFamily="34" charset="-122"/>
                <a:cs typeface="Aharoni" panose="02010803020104030203" pitchFamily="2" charset="-79"/>
              </a:rPr>
              <a:t>Strengthen these fundamentals now; specific tools and libraries will keep changing around you</a:t>
            </a:r>
            <a:endParaRPr lang="en-US" sz="1500" dirty="0">
              <a:latin typeface="Aharoni" panose="02010803020104030203" pitchFamily="2" charset="-79"/>
              <a:cs typeface="Aharoni" panose="02010803020104030203" pitchFamily="2" charset="-79"/>
            </a:endParaRPr>
          </a:p>
          <a:p>
            <a:pPr marL="342900" indent="-342900">
              <a:spcAft>
                <a:spcPts val="1600"/>
              </a:spcAft>
              <a:buSzPct val="100000"/>
              <a:buChar char="▪"/>
            </a:pPr>
            <a:r>
              <a:rPr lang="en-US" sz="1500" dirty="0">
                <a:solidFill>
                  <a:srgbClr val="E8F0F5"/>
                </a:solidFill>
                <a:latin typeface="Aharoni" panose="02010803020104030203" pitchFamily="2" charset="-79"/>
                <a:ea typeface="Calibri" pitchFamily="34" charset="-122"/>
                <a:cs typeface="Aharoni" panose="02010803020104030203" pitchFamily="2" charset="-79"/>
              </a:rPr>
              <a:t>From this campus in 2003 to this exact kind of work today — the path runs straight through the math you're studying right now</a:t>
            </a:r>
            <a:endParaRPr lang="en-US" sz="1500" dirty="0">
              <a:latin typeface="Aharoni" panose="02010803020104030203" pitchFamily="2" charset="-79"/>
              <a:cs typeface="Aharoni" panose="02010803020104030203" pitchFamily="2" charset="-79"/>
            </a:endParaRPr>
          </a:p>
        </p:txBody>
      </p:sp>
      <p:sp>
        <p:nvSpPr>
          <p:cNvPr id="6" name="Text 4"/>
          <p:cNvSpPr/>
          <p:nvPr/>
        </p:nvSpPr>
        <p:spPr>
          <a:xfrm>
            <a:off x="731520" y="5760720"/>
            <a:ext cx="7315200" cy="548640"/>
          </a:xfrm>
          <a:prstGeom prst="rect">
            <a:avLst/>
          </a:prstGeom>
          <a:noFill/>
          <a:ln/>
        </p:spPr>
        <p:txBody>
          <a:bodyPr wrap="square" rtlCol="0" anchor="ctr"/>
          <a:lstStyle/>
          <a:p>
            <a:pPr marL="0" indent="0">
              <a:buNone/>
            </a:pPr>
            <a:r>
              <a:rPr lang="en-US" sz="1800" i="1" dirty="0">
                <a:solidFill>
                  <a:srgbClr val="F2A541"/>
                </a:solidFill>
                <a:latin typeface="Aharoni" panose="02010803020104030203" pitchFamily="2" charset="-79"/>
                <a:ea typeface="Cambria" pitchFamily="34" charset="-122"/>
                <a:cs typeface="Aharoni" panose="02010803020104030203" pitchFamily="2" charset="-79"/>
              </a:rPr>
              <a:t>Thank you — Questions?</a:t>
            </a:r>
            <a:endParaRPr lang="en-US" sz="1800" dirty="0">
              <a:latin typeface="Aharoni" panose="02010803020104030203" pitchFamily="2" charset="-79"/>
              <a:cs typeface="Aharoni" panose="02010803020104030203" pitchFamily="2" charset="-79"/>
            </a:endParaRPr>
          </a:p>
        </p:txBody>
      </p:sp>
      <p:sp>
        <p:nvSpPr>
          <p:cNvPr id="8" name="Text 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6B7B85"/>
                </a:solidFill>
                <a:latin typeface="Aharoni" panose="02010803020104030203" pitchFamily="2" charset="-79"/>
                <a:ea typeface="Calibri" pitchFamily="34" charset="-122"/>
                <a:cs typeface="Aharoni" panose="02010803020104030203" pitchFamily="2" charset="-79"/>
              </a:rPr>
              <a:t>20</a:t>
            </a:r>
            <a:endParaRPr lang="en-US" sz="1000" dirty="0">
              <a:latin typeface="Aharoni" panose="02010803020104030203" pitchFamily="2" charset="-79"/>
              <a:cs typeface="Aharoni" panose="02010803020104030203" pitchFamily="2" charset="-79"/>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678</TotalTime>
  <Words>3935</Words>
  <Application>Microsoft Macintosh PowerPoint</Application>
  <PresentationFormat>Widescreen</PresentationFormat>
  <Paragraphs>268</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Aharoni</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Subhabrata Bhattacharya</cp:lastModifiedBy>
  <cp:revision>10</cp:revision>
  <dcterms:created xsi:type="dcterms:W3CDTF">2026-08-03T00:35:15Z</dcterms:created>
  <dcterms:modified xsi:type="dcterms:W3CDTF">2026-08-22T11:22:18Z</dcterms:modified>
</cp:coreProperties>
</file>