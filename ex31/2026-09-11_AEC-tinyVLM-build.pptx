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76" r:id="rId5"/>
    <p:sldId id="260" r:id="rId6"/>
    <p:sldId id="277" r:id="rId7"/>
    <p:sldId id="261" r:id="rId8"/>
    <p:sldId id="278" r:id="rId9"/>
    <p:sldId id="279" r:id="rId10"/>
    <p:sldId id="262" r:id="rId11"/>
    <p:sldId id="264" r:id="rId12"/>
    <p:sldId id="265" r:id="rId13"/>
    <p:sldId id="266" r:id="rId14"/>
    <p:sldId id="267" r:id="rId15"/>
    <p:sldId id="268" r:id="rId16"/>
    <p:sldId id="269" r:id="rId17"/>
    <p:sldId id="270" r:id="rId18"/>
    <p:sldId id="272" r:id="rId19"/>
    <p:sldId id="271" r:id="rId20"/>
    <p:sldId id="273" r:id="rId21"/>
    <p:sldId id="274" r:id="rId22"/>
    <p:sldId id="275"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19"/>
    <p:restoredTop sz="94686"/>
  </p:normalViewPr>
  <p:slideViewPr>
    <p:cSldViewPr snapToGrid="0" snapToObjects="1">
      <p:cViewPr varScale="1">
        <p:scale>
          <a:sx n="109" d="100"/>
          <a:sy n="109" d="100"/>
        </p:scale>
        <p:origin x="512"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62498C-7992-E94C-A01F-F2310322A308}" type="datetimeFigureOut">
              <a:rPr lang="en-US" smtClean="0"/>
              <a:t>9/12/26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BAA04C-1F3A-0E4E-8BDD-670A8B69DE1B}" type="slidenum">
              <a:rPr lang="en-US" smtClean="0"/>
              <a:t>‹#›</a:t>
            </a:fld>
            <a:endParaRPr lang="en-US"/>
          </a:p>
        </p:txBody>
      </p:sp>
    </p:spTree>
    <p:extLst>
      <p:ext uri="{BB962C8B-B14F-4D97-AF65-F5344CB8AC3E}">
        <p14:creationId xmlns:p14="http://schemas.microsoft.com/office/powerpoint/2010/main" val="836107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BAA04C-1F3A-0E4E-8BDD-670A8B69DE1B}" type="slidenum">
              <a:rPr lang="en-US" smtClean="0"/>
              <a:t>8</a:t>
            </a:fld>
            <a:endParaRPr lang="en-US"/>
          </a:p>
        </p:txBody>
      </p:sp>
    </p:spTree>
    <p:extLst>
      <p:ext uri="{BB962C8B-B14F-4D97-AF65-F5344CB8AC3E}">
        <p14:creationId xmlns:p14="http://schemas.microsoft.com/office/powerpoint/2010/main" val="3002256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2" name="Oval 1"/>
          <p:cNvSpPr/>
          <p:nvPr/>
        </p:nvSpPr>
        <p:spPr>
          <a:xfrm>
            <a:off x="6096000" y="0"/>
            <a:ext cx="5943600" cy="5943600"/>
          </a:xfrm>
          <a:prstGeom prst="ellipse">
            <a:avLst/>
          </a:prstGeom>
          <a:solidFill>
            <a:srgbClr val="065A82">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024343" y="2651760"/>
            <a:ext cx="4114800" cy="4114800"/>
          </a:xfrm>
          <a:prstGeom prst="ellipse">
            <a:avLst/>
          </a:prstGeom>
          <a:solidFill>
            <a:srgbClr val="1C7293">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8229600" cy="365760"/>
          </a:xfrm>
          <a:prstGeom prst="rect">
            <a:avLst/>
          </a:prstGeom>
          <a:noFill/>
        </p:spPr>
        <p:txBody>
          <a:bodyPr wrap="square" anchor="ctr">
            <a:spAutoFit/>
          </a:bodyPr>
          <a:lstStyle/>
          <a:p>
            <a:pPr algn="l"/>
            <a:r>
              <a:rPr sz="1300" b="1" i="0">
                <a:solidFill>
                  <a:srgbClr val="F2A541"/>
                </a:solidFill>
                <a:latin typeface="Aharoni"/>
              </a:rPr>
              <a:t>ASANSOL ENGINEERING COLLEGE  ·  ALUMNI TALK, PART 2</a:t>
            </a:r>
          </a:p>
        </p:txBody>
      </p:sp>
      <p:sp>
        <p:nvSpPr>
          <p:cNvPr id="5" name="TextBox 4"/>
          <p:cNvSpPr txBox="1"/>
          <p:nvPr/>
        </p:nvSpPr>
        <p:spPr>
          <a:xfrm>
            <a:off x="731520" y="1371600"/>
            <a:ext cx="9601200" cy="2194560"/>
          </a:xfrm>
          <a:prstGeom prst="rect">
            <a:avLst/>
          </a:prstGeom>
          <a:noFill/>
        </p:spPr>
        <p:txBody>
          <a:bodyPr wrap="square" anchor="ctr">
            <a:spAutoFit/>
          </a:bodyPr>
          <a:lstStyle/>
          <a:p>
            <a:pPr algn="l">
              <a:lnSpc>
                <a:spcPct val="105000"/>
              </a:lnSpc>
            </a:pPr>
            <a:r>
              <a:rPr sz="4200" b="1" i="0">
                <a:solidFill>
                  <a:srgbClr val="FFFFFF"/>
                </a:solidFill>
                <a:latin typeface="Aharoni"/>
              </a:rPr>
              <a:t>Build a Tiny Captioning VLM</a:t>
            </a:r>
          </a:p>
        </p:txBody>
      </p:sp>
      <p:sp>
        <p:nvSpPr>
          <p:cNvPr id="6" name="TextBox 5"/>
          <p:cNvSpPr txBox="1"/>
          <p:nvPr/>
        </p:nvSpPr>
        <p:spPr>
          <a:xfrm>
            <a:off x="731520" y="3100000"/>
            <a:ext cx="9601200" cy="640080"/>
          </a:xfrm>
          <a:prstGeom prst="rect">
            <a:avLst/>
          </a:prstGeom>
          <a:noFill/>
        </p:spPr>
        <p:txBody>
          <a:bodyPr wrap="square" anchor="ctr">
            <a:spAutoFit/>
          </a:bodyPr>
          <a:lstStyle/>
          <a:p>
            <a:pPr algn="l">
              <a:lnSpc>
                <a:spcPct val="120000"/>
              </a:lnSpc>
            </a:pPr>
            <a:r>
              <a:rPr sz="1800" b="0" i="0">
                <a:solidFill>
                  <a:srgbClr val="E7E6E6"/>
                </a:solidFill>
                <a:latin typeface="Aharoni"/>
              </a:rPr>
              <a:t>A frozen vision encoder, a learned adapter, and a small decoder -- trained live, on a laptop.</a:t>
            </a:r>
          </a:p>
        </p:txBody>
      </p:sp>
      <p:sp>
        <p:nvSpPr>
          <p:cNvPr id="7" name="TextBox 6"/>
          <p:cNvSpPr txBox="1"/>
          <p:nvPr/>
        </p:nvSpPr>
        <p:spPr>
          <a:xfrm>
            <a:off x="731520" y="4100000"/>
            <a:ext cx="9601200" cy="500000"/>
          </a:xfrm>
          <a:prstGeom prst="rect">
            <a:avLst/>
          </a:prstGeom>
          <a:noFill/>
        </p:spPr>
        <p:txBody>
          <a:bodyPr wrap="square" anchor="ctr">
            <a:spAutoFit/>
          </a:bodyPr>
          <a:lstStyle/>
          <a:p>
            <a:pPr algn="l"/>
            <a:r>
              <a:rPr sz="1400" b="0" i="1">
                <a:solidFill>
                  <a:srgbClr val="F2A541"/>
                </a:solidFill>
                <a:latin typeface="Aharoni"/>
              </a:rPr>
              <a:t>“From scratch” only for the two pieces that actually train here.</a:t>
            </a:r>
          </a:p>
        </p:txBody>
      </p:sp>
      <p:sp>
        <p:nvSpPr>
          <p:cNvPr id="8" name="TextBox 7"/>
          <p:cNvSpPr txBox="1"/>
          <p:nvPr/>
        </p:nvSpPr>
        <p:spPr>
          <a:xfrm>
            <a:off x="11150000" y="6500000"/>
            <a:ext cx="800000" cy="274320"/>
          </a:xfrm>
          <a:prstGeom prst="rect">
            <a:avLst/>
          </a:prstGeom>
          <a:noFill/>
        </p:spPr>
        <p:txBody>
          <a:bodyPr wrap="square" anchor="ctr">
            <a:spAutoFit/>
          </a:bodyPr>
          <a:lstStyle/>
          <a:p>
            <a:pPr algn="r"/>
            <a:r>
              <a:rPr sz="1100" b="1" i="0">
                <a:solidFill>
                  <a:srgbClr val="E7E6E6"/>
                </a:solidFill>
                <a:latin typeface="Aharoni"/>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8229600" cy="320040"/>
          </a:xfrm>
          <a:prstGeom prst="rect">
            <a:avLst/>
          </a:prstGeom>
          <a:noFill/>
        </p:spPr>
        <p:txBody>
          <a:bodyPr wrap="square" anchor="ctr">
            <a:spAutoFit/>
          </a:bodyPr>
          <a:lstStyle/>
          <a:p>
            <a:pPr algn="l"/>
            <a:r>
              <a:rPr sz="1300" b="1" i="0">
                <a:solidFill>
                  <a:srgbClr val="F2A541"/>
                </a:solidFill>
                <a:latin typeface="Aharoni"/>
              </a:rPr>
              <a:t>LEARNING OUTCOMES</a:t>
            </a:r>
          </a:p>
        </p:txBody>
      </p:sp>
      <p:sp>
        <p:nvSpPr>
          <p:cNvPr id="3" name="TextBox 2"/>
          <p:cNvSpPr txBox="1"/>
          <p:nvPr/>
        </p:nvSpPr>
        <p:spPr>
          <a:xfrm>
            <a:off x="731520" y="914400"/>
            <a:ext cx="10700000" cy="822960"/>
          </a:xfrm>
          <a:prstGeom prst="rect">
            <a:avLst/>
          </a:prstGeom>
          <a:noFill/>
        </p:spPr>
        <p:txBody>
          <a:bodyPr wrap="square" anchor="ctr">
            <a:spAutoFit/>
          </a:bodyPr>
          <a:lstStyle/>
          <a:p>
            <a:pPr algn="l"/>
            <a:r>
              <a:rPr sz="3000" b="1" i="0">
                <a:solidFill>
                  <a:srgbClr val="21295C"/>
                </a:solidFill>
                <a:latin typeface="Aharoni"/>
              </a:rPr>
              <a:t>One tensor's journey, start to finish</a:t>
            </a:r>
          </a:p>
        </p:txBody>
      </p:sp>
      <p:sp>
        <p:nvSpPr>
          <p:cNvPr id="4" name="TextBox 3"/>
          <p:cNvSpPr txBox="1"/>
          <p:nvPr/>
        </p:nvSpPr>
        <p:spPr>
          <a:xfrm>
            <a:off x="731520" y="1637585"/>
            <a:ext cx="6384388" cy="784830"/>
          </a:xfrm>
          <a:prstGeom prst="rect">
            <a:avLst/>
          </a:prstGeom>
          <a:noFill/>
        </p:spPr>
        <p:txBody>
          <a:bodyPr wrap="square" anchor="ctr">
            <a:spAutoFit/>
          </a:bodyPr>
          <a:lstStyle/>
          <a:p>
            <a:pPr algn="l"/>
            <a:r>
              <a:rPr sz="1500" b="0" i="0" dirty="0">
                <a:solidFill>
                  <a:srgbClr val="3A4750"/>
                </a:solidFill>
                <a:latin typeface="Aharoni"/>
              </a:rPr>
              <a:t>By the end of this talk you should be able to trace one image, as a tensor, through every stage below -- and connect each stage back to Part 1's mathematics.</a:t>
            </a:r>
          </a:p>
        </p:txBody>
      </p:sp>
      <p:graphicFrame>
        <p:nvGraphicFramePr>
          <p:cNvPr id="5" name="Table 4"/>
          <p:cNvGraphicFramePr>
            <a:graphicFrameLocks noGrp="1"/>
          </p:cNvGraphicFramePr>
          <p:nvPr>
            <p:extLst>
              <p:ext uri="{D42A27DB-BD31-4B8C-83A1-F6EECF244321}">
                <p14:modId xmlns:p14="http://schemas.microsoft.com/office/powerpoint/2010/main" val="801804556"/>
              </p:ext>
            </p:extLst>
          </p:nvPr>
        </p:nvGraphicFramePr>
        <p:xfrm>
          <a:off x="832338" y="2460545"/>
          <a:ext cx="7069016" cy="4127826"/>
        </p:xfrm>
        <a:graphic>
          <a:graphicData uri="http://schemas.openxmlformats.org/drawingml/2006/table">
            <a:tbl>
              <a:tblPr firstRow="1" bandRow="1">
                <a:tableStyleId>{5C22544A-7EE6-4342-B048-85BDC9FD1C3A}</a:tableStyleId>
              </a:tblPr>
              <a:tblGrid>
                <a:gridCol w="1641231">
                  <a:extLst>
                    <a:ext uri="{9D8B030D-6E8A-4147-A177-3AD203B41FA5}">
                      <a16:colId xmlns:a16="http://schemas.microsoft.com/office/drawing/2014/main" val="20000"/>
                    </a:ext>
                  </a:extLst>
                </a:gridCol>
                <a:gridCol w="5427785">
                  <a:extLst>
                    <a:ext uri="{9D8B030D-6E8A-4147-A177-3AD203B41FA5}">
                      <a16:colId xmlns:a16="http://schemas.microsoft.com/office/drawing/2014/main" val="20001"/>
                    </a:ext>
                  </a:extLst>
                </a:gridCol>
              </a:tblGrid>
              <a:tr h="354120">
                <a:tc>
                  <a:txBody>
                    <a:bodyPr/>
                    <a:lstStyle/>
                    <a:p>
                      <a:r>
                        <a:rPr sz="1300" b="1">
                          <a:solidFill>
                            <a:srgbClr val="FFFFFF"/>
                          </a:solidFill>
                          <a:latin typeface="Aharoni"/>
                        </a:rPr>
                        <a:t>Part 1 concept</a:t>
                      </a:r>
                    </a:p>
                  </a:txBody>
                  <a:tcPr anchor="ctr">
                    <a:solidFill>
                      <a:srgbClr val="21295C"/>
                    </a:solidFill>
                  </a:tcPr>
                </a:tc>
                <a:tc>
                  <a:txBody>
                    <a:bodyPr/>
                    <a:lstStyle/>
                    <a:p>
                      <a:r>
                        <a:rPr sz="1300" b="1" dirty="0">
                          <a:solidFill>
                            <a:srgbClr val="FFFFFF"/>
                          </a:solidFill>
                          <a:latin typeface="Aharoni"/>
                        </a:rPr>
                        <a:t>Where it shows up today</a:t>
                      </a:r>
                    </a:p>
                  </a:txBody>
                  <a:tcPr anchor="ctr">
                    <a:solidFill>
                      <a:srgbClr val="21295C"/>
                    </a:solidFill>
                  </a:tcPr>
                </a:tc>
                <a:extLst>
                  <a:ext uri="{0D108BD9-81ED-4DB2-BD59-A6C34878D82A}">
                    <a16:rowId xmlns:a16="http://schemas.microsoft.com/office/drawing/2014/main" val="10000"/>
                  </a:ext>
                </a:extLst>
              </a:tr>
              <a:tr h="628950">
                <a:tc>
                  <a:txBody>
                    <a:bodyPr/>
                    <a:lstStyle/>
                    <a:p>
                      <a:r>
                        <a:rPr sz="1300">
                          <a:solidFill>
                            <a:srgbClr val="3A4750"/>
                          </a:solidFill>
                          <a:latin typeface="Aharoni"/>
                        </a:rPr>
                        <a:t>y = Wx + b</a:t>
                      </a:r>
                    </a:p>
                  </a:txBody>
                  <a:tcPr anchor="ctr">
                    <a:solidFill>
                      <a:srgbClr val="FFFFFF"/>
                    </a:solidFill>
                  </a:tcPr>
                </a:tc>
                <a:tc>
                  <a:txBody>
                    <a:bodyPr/>
                    <a:lstStyle/>
                    <a:p>
                      <a:r>
                        <a:rPr sz="1300" dirty="0">
                          <a:solidFill>
                            <a:srgbClr val="3A4750"/>
                          </a:solidFill>
                          <a:latin typeface="Aharoni"/>
                        </a:rPr>
                        <a:t>The two linear layers inside the projector</a:t>
                      </a:r>
                    </a:p>
                  </a:txBody>
                  <a:tcPr anchor="ctr">
                    <a:solidFill>
                      <a:srgbClr val="FFFFFF"/>
                    </a:solidFill>
                  </a:tcPr>
                </a:tc>
                <a:extLst>
                  <a:ext uri="{0D108BD9-81ED-4DB2-BD59-A6C34878D82A}">
                    <a16:rowId xmlns:a16="http://schemas.microsoft.com/office/drawing/2014/main" val="10001"/>
                  </a:ext>
                </a:extLst>
              </a:tr>
              <a:tr h="628950">
                <a:tc>
                  <a:txBody>
                    <a:bodyPr/>
                    <a:lstStyle/>
                    <a:p>
                      <a:r>
                        <a:rPr sz="1300">
                          <a:solidFill>
                            <a:srgbClr val="3A4750"/>
                          </a:solidFill>
                          <a:latin typeface="Aharoni"/>
                        </a:rPr>
                        <a:t>Embeddings</a:t>
                      </a:r>
                    </a:p>
                  </a:txBody>
                  <a:tcPr anchor="ctr">
                    <a:solidFill>
                      <a:srgbClr val="E7E6E6"/>
                    </a:solidFill>
                  </a:tcPr>
                </a:tc>
                <a:tc>
                  <a:txBody>
                    <a:bodyPr/>
                    <a:lstStyle/>
                    <a:p>
                      <a:r>
                        <a:rPr sz="1300">
                          <a:solidFill>
                            <a:srgbClr val="3A4750"/>
                          </a:solidFill>
                          <a:latin typeface="Aharoni"/>
                        </a:rPr>
                        <a:t>CLIP's pooled vector; the decoder's token embeddings</a:t>
                      </a:r>
                    </a:p>
                  </a:txBody>
                  <a:tcPr anchor="ctr">
                    <a:solidFill>
                      <a:srgbClr val="E7E6E6"/>
                    </a:solidFill>
                  </a:tcPr>
                </a:tc>
                <a:extLst>
                  <a:ext uri="{0D108BD9-81ED-4DB2-BD59-A6C34878D82A}">
                    <a16:rowId xmlns:a16="http://schemas.microsoft.com/office/drawing/2014/main" val="10002"/>
                  </a:ext>
                </a:extLst>
              </a:tr>
              <a:tr h="628950">
                <a:tc>
                  <a:txBody>
                    <a:bodyPr/>
                    <a:lstStyle/>
                    <a:p>
                      <a:r>
                        <a:rPr sz="1300">
                          <a:solidFill>
                            <a:srgbClr val="3A4750"/>
                          </a:solidFill>
                          <a:latin typeface="Aharoni"/>
                        </a:rPr>
                        <a:t>Attention</a:t>
                      </a:r>
                    </a:p>
                  </a:txBody>
                  <a:tcPr anchor="ctr">
                    <a:solidFill>
                      <a:srgbClr val="FFFFFF"/>
                    </a:solidFill>
                  </a:tcPr>
                </a:tc>
                <a:tc>
                  <a:txBody>
                    <a:bodyPr/>
                    <a:lstStyle/>
                    <a:p>
                      <a:r>
                        <a:rPr sz="1300" dirty="0">
                          <a:solidFill>
                            <a:srgbClr val="3A4750"/>
                          </a:solidFill>
                          <a:latin typeface="Aharoni"/>
                        </a:rPr>
                        <a:t>Causal self-attention over [visual token, caption tokens]</a:t>
                      </a:r>
                    </a:p>
                  </a:txBody>
                  <a:tcPr anchor="ctr">
                    <a:solidFill>
                      <a:srgbClr val="FFFFFF"/>
                    </a:solidFill>
                  </a:tcPr>
                </a:tc>
                <a:extLst>
                  <a:ext uri="{0D108BD9-81ED-4DB2-BD59-A6C34878D82A}">
                    <a16:rowId xmlns:a16="http://schemas.microsoft.com/office/drawing/2014/main" val="10003"/>
                  </a:ext>
                </a:extLst>
              </a:tr>
              <a:tr h="628950">
                <a:tc>
                  <a:txBody>
                    <a:bodyPr/>
                    <a:lstStyle/>
                    <a:p>
                      <a:r>
                        <a:rPr sz="1300">
                          <a:solidFill>
                            <a:srgbClr val="3A4750"/>
                          </a:solidFill>
                          <a:latin typeface="Aharoni"/>
                        </a:rPr>
                        <a:t>Loss minimization</a:t>
                      </a:r>
                    </a:p>
                  </a:txBody>
                  <a:tcPr anchor="ctr">
                    <a:solidFill>
                      <a:srgbClr val="E7E6E6"/>
                    </a:solidFill>
                  </a:tcPr>
                </a:tc>
                <a:tc>
                  <a:txBody>
                    <a:bodyPr/>
                    <a:lstStyle/>
                    <a:p>
                      <a:r>
                        <a:rPr sz="1300">
                          <a:solidFill>
                            <a:srgbClr val="3A4750"/>
                          </a:solidFill>
                          <a:latin typeface="Aharoni"/>
                        </a:rPr>
                        <a:t>Cross-entropy on the next caption token</a:t>
                      </a:r>
                    </a:p>
                  </a:txBody>
                  <a:tcPr anchor="ctr">
                    <a:solidFill>
                      <a:srgbClr val="E7E6E6"/>
                    </a:solidFill>
                  </a:tcPr>
                </a:tc>
                <a:extLst>
                  <a:ext uri="{0D108BD9-81ED-4DB2-BD59-A6C34878D82A}">
                    <a16:rowId xmlns:a16="http://schemas.microsoft.com/office/drawing/2014/main" val="10004"/>
                  </a:ext>
                </a:extLst>
              </a:tr>
              <a:tr h="628950">
                <a:tc>
                  <a:txBody>
                    <a:bodyPr/>
                    <a:lstStyle/>
                    <a:p>
                      <a:r>
                        <a:rPr sz="1300">
                          <a:solidFill>
                            <a:srgbClr val="3A4750"/>
                          </a:solidFill>
                          <a:latin typeface="Aharoni"/>
                        </a:rPr>
                        <a:t>Backpropagation</a:t>
                      </a:r>
                    </a:p>
                  </a:txBody>
                  <a:tcPr anchor="ctr">
                    <a:solidFill>
                      <a:srgbClr val="FFFFFF"/>
                    </a:solidFill>
                  </a:tcPr>
                </a:tc>
                <a:tc>
                  <a:txBody>
                    <a:bodyPr/>
                    <a:lstStyle/>
                    <a:p>
                      <a:r>
                        <a:rPr sz="1300">
                          <a:solidFill>
                            <a:srgbClr val="3A4750"/>
                          </a:solidFill>
                          <a:latin typeface="Aharoni"/>
                        </a:rPr>
                        <a:t>loss.backward()</a:t>
                      </a:r>
                    </a:p>
                  </a:txBody>
                  <a:tcPr anchor="ctr">
                    <a:solidFill>
                      <a:srgbClr val="FFFFFF"/>
                    </a:solidFill>
                  </a:tcPr>
                </a:tc>
                <a:extLst>
                  <a:ext uri="{0D108BD9-81ED-4DB2-BD59-A6C34878D82A}">
                    <a16:rowId xmlns:a16="http://schemas.microsoft.com/office/drawing/2014/main" val="10005"/>
                  </a:ext>
                </a:extLst>
              </a:tr>
              <a:tr h="628956">
                <a:tc>
                  <a:txBody>
                    <a:bodyPr/>
                    <a:lstStyle/>
                    <a:p>
                      <a:r>
                        <a:rPr sz="1300">
                          <a:solidFill>
                            <a:srgbClr val="3A4750"/>
                          </a:solidFill>
                          <a:latin typeface="Aharoni"/>
                        </a:rPr>
                        <a:t>Adam</a:t>
                      </a:r>
                    </a:p>
                  </a:txBody>
                  <a:tcPr anchor="ctr">
                    <a:solidFill>
                      <a:srgbClr val="E7E6E6"/>
                    </a:solidFill>
                  </a:tcPr>
                </a:tc>
                <a:tc>
                  <a:txBody>
                    <a:bodyPr/>
                    <a:lstStyle/>
                    <a:p>
                      <a:r>
                        <a:rPr sz="1300" dirty="0" err="1">
                          <a:solidFill>
                            <a:srgbClr val="3A4750"/>
                          </a:solidFill>
                          <a:latin typeface="Aharoni"/>
                        </a:rPr>
                        <a:t>torch.optim.AdamW</a:t>
                      </a:r>
                      <a:endParaRPr sz="1300" dirty="0">
                        <a:solidFill>
                          <a:srgbClr val="3A4750"/>
                        </a:solidFill>
                        <a:latin typeface="Aharoni"/>
                      </a:endParaRPr>
                    </a:p>
                  </a:txBody>
                  <a:tcPr anchor="ctr">
                    <a:solidFill>
                      <a:srgbClr val="E7E6E6"/>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11150000" y="6500000"/>
            <a:ext cx="800000" cy="274320"/>
          </a:xfrm>
          <a:prstGeom prst="rect">
            <a:avLst/>
          </a:prstGeom>
          <a:noFill/>
        </p:spPr>
        <p:txBody>
          <a:bodyPr wrap="square" anchor="ctr">
            <a:spAutoFit/>
          </a:bodyPr>
          <a:lstStyle/>
          <a:p>
            <a:pPr algn="r"/>
            <a:r>
              <a:rPr sz="1100" b="1" i="0">
                <a:solidFill>
                  <a:srgbClr val="E7E6E6"/>
                </a:solidFill>
                <a:latin typeface="Aharoni"/>
              </a:rPr>
              <a:t>2</a:t>
            </a:r>
          </a:p>
        </p:txBody>
      </p:sp>
      <p:pic>
        <p:nvPicPr>
          <p:cNvPr id="7" name="Picture 6">
            <a:extLst>
              <a:ext uri="{FF2B5EF4-FFF2-40B4-BE49-F238E27FC236}">
                <a16:creationId xmlns:a16="http://schemas.microsoft.com/office/drawing/2014/main" id="{CB12F382-77BE-DDB3-012D-48B7EFCC4DB5}"/>
              </a:ext>
            </a:extLst>
          </p:cNvPr>
          <p:cNvPicPr>
            <a:picLocks noChangeAspect="1"/>
          </p:cNvPicPr>
          <p:nvPr/>
        </p:nvPicPr>
        <p:blipFill>
          <a:blip r:embed="rId2"/>
          <a:stretch>
            <a:fillRect/>
          </a:stretch>
        </p:blipFill>
        <p:spPr>
          <a:xfrm>
            <a:off x="9150676" y="644906"/>
            <a:ext cx="2959100" cy="6070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8229600" cy="320040"/>
          </a:xfrm>
          <a:prstGeom prst="rect">
            <a:avLst/>
          </a:prstGeom>
          <a:noFill/>
        </p:spPr>
        <p:txBody>
          <a:bodyPr wrap="square" anchor="ctr">
            <a:spAutoFit/>
          </a:bodyPr>
          <a:lstStyle/>
          <a:p>
            <a:pPr algn="l"/>
            <a:r>
              <a:rPr sz="1300" b="1" i="0" dirty="0">
                <a:solidFill>
                  <a:srgbClr val="F2A541"/>
                </a:solidFill>
                <a:latin typeface="Aharoni"/>
              </a:rPr>
              <a:t>STEP 0  ·  BEFORE ANYTHING ELSE</a:t>
            </a:r>
          </a:p>
        </p:txBody>
      </p:sp>
      <p:sp>
        <p:nvSpPr>
          <p:cNvPr id="3" name="TextBox 2"/>
          <p:cNvSpPr txBox="1"/>
          <p:nvPr/>
        </p:nvSpPr>
        <p:spPr>
          <a:xfrm>
            <a:off x="731520" y="914400"/>
            <a:ext cx="10700000" cy="822960"/>
          </a:xfrm>
          <a:prstGeom prst="rect">
            <a:avLst/>
          </a:prstGeom>
          <a:noFill/>
        </p:spPr>
        <p:txBody>
          <a:bodyPr wrap="square" anchor="ctr">
            <a:spAutoFit/>
          </a:bodyPr>
          <a:lstStyle/>
          <a:p>
            <a:pPr algn="l"/>
            <a:r>
              <a:rPr sz="3000" b="1" i="0">
                <a:solidFill>
                  <a:srgbClr val="21295C"/>
                </a:solidFill>
                <a:latin typeface="Aharoni"/>
              </a:rPr>
              <a:t>Start training now. We'll watch it while we talk.</a:t>
            </a:r>
          </a:p>
        </p:txBody>
      </p:sp>
      <p:sp>
        <p:nvSpPr>
          <p:cNvPr id="4" name="Rounded Rectangle 3"/>
          <p:cNvSpPr/>
          <p:nvPr/>
        </p:nvSpPr>
        <p:spPr>
          <a:xfrm>
            <a:off x="731520" y="1737359"/>
            <a:ext cx="9601200" cy="2846363"/>
          </a:xfrm>
          <a:prstGeom prst="roundRect">
            <a:avLst>
              <a:gd name="adj" fmla="val 3000"/>
            </a:avLst>
          </a:prstGeom>
          <a:solidFill>
            <a:srgbClr val="14182E"/>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r>
              <a:rPr sz="1400" dirty="0">
                <a:solidFill>
                  <a:srgbClr val="00B050"/>
                </a:solidFill>
                <a:latin typeface="Consolas" panose="020B0609020204030204" pitchFamily="49" charset="0"/>
                <a:cs typeface="Consolas" panose="020B0609020204030204" pitchFamily="49" charset="0"/>
              </a:rPr>
              <a:t>$ ./</a:t>
            </a:r>
            <a:r>
              <a:rPr sz="1400" dirty="0" err="1">
                <a:solidFill>
                  <a:srgbClr val="00B050"/>
                </a:solidFill>
                <a:latin typeface="Consolas" panose="020B0609020204030204" pitchFamily="49" charset="0"/>
                <a:cs typeface="Consolas" panose="020B0609020204030204" pitchFamily="49" charset="0"/>
              </a:rPr>
              <a:t>hardware.sh</a:t>
            </a:r>
            <a:endParaRPr lang="en-US" sz="1400" dirty="0">
              <a:solidFill>
                <a:srgbClr val="00B050"/>
              </a:solidFill>
              <a:latin typeface="Consolas" panose="020B0609020204030204" pitchFamily="49" charset="0"/>
              <a:cs typeface="Consolas" panose="020B0609020204030204" pitchFamily="49" charset="0"/>
            </a:endParaRPr>
          </a:p>
          <a:p>
            <a:r>
              <a:rPr lang="en-US" sz="1400" dirty="0" err="1">
                <a:latin typeface="Consolas" panose="020B0609020204030204" pitchFamily="49" charset="0"/>
                <a:cs typeface="Consolas" panose="020B0609020204030204" pitchFamily="49" charset="0"/>
              </a:rPr>
              <a:t>tinyVLM</a:t>
            </a:r>
            <a:r>
              <a:rPr lang="en-US" sz="1400" dirty="0">
                <a:latin typeface="Consolas" panose="020B0609020204030204" pitchFamily="49" charset="0"/>
                <a:cs typeface="Consolas" panose="020B0609020204030204" pitchFamily="49" charset="0"/>
              </a:rPr>
              <a:t> hardware + environment check</a:t>
            </a:r>
          </a:p>
          <a:p>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OS            : Darwin 25.6.0 arm64</a:t>
            </a:r>
          </a:p>
          <a:p>
            <a:r>
              <a:rPr lang="en-US" sz="1400" dirty="0">
                <a:latin typeface="Consolas" panose="020B0609020204030204" pitchFamily="49" charset="0"/>
                <a:cs typeface="Consolas" panose="020B0609020204030204" pitchFamily="49" charset="0"/>
              </a:rPr>
              <a:t>CPU           : Apple M4</a:t>
            </a:r>
          </a:p>
          <a:p>
            <a:r>
              <a:rPr lang="en-US" sz="1400" dirty="0">
                <a:latin typeface="Consolas" panose="020B0609020204030204" pitchFamily="49" charset="0"/>
                <a:cs typeface="Consolas" panose="020B0609020204030204" pitchFamily="49" charset="0"/>
              </a:rPr>
              <a:t>CPU cores     : 10 physical / 10 logical</a:t>
            </a:r>
          </a:p>
          <a:p>
            <a:r>
              <a:rPr lang="en-US" sz="1400" dirty="0">
                <a:latin typeface="Consolas" panose="020B0609020204030204" pitchFamily="49" charset="0"/>
                <a:cs typeface="Consolas" panose="020B0609020204030204" pitchFamily="49" charset="0"/>
              </a:rPr>
              <a:t>RAM total     : 32 GB</a:t>
            </a:r>
          </a:p>
          <a:p>
            <a:r>
              <a:rPr lang="en-US" sz="1400" dirty="0">
                <a:latin typeface="Consolas" panose="020B0609020204030204" pitchFamily="49" charset="0"/>
                <a:cs typeface="Consolas" panose="020B0609020204030204" pitchFamily="49" charset="0"/>
              </a:rPr>
              <a:t>  -- RAM mostly matters for image decoding + CLIP feature caching, not</a:t>
            </a:r>
          </a:p>
          <a:p>
            <a:r>
              <a:rPr lang="en-US" sz="1400" dirty="0">
                <a:latin typeface="Consolas" panose="020B0609020204030204" pitchFamily="49" charset="0"/>
                <a:cs typeface="Consolas" panose="020B0609020204030204" pitchFamily="49" charset="0"/>
              </a:rPr>
              <a:t>     model size: the trainable parameters here fit in a few hundred MB.</a:t>
            </a:r>
          </a:p>
          <a:p>
            <a:r>
              <a:rPr lang="en-US" sz="1400" dirty="0">
                <a:latin typeface="Consolas" panose="020B0609020204030204" pitchFamily="49" charset="0"/>
                <a:cs typeface="Consolas" panose="020B0609020204030204" pitchFamily="49" charset="0"/>
              </a:rPr>
              <a:t>GPU / accel   :</a:t>
            </a:r>
          </a:p>
          <a:p>
            <a:r>
              <a:rPr lang="en-US" sz="1400" dirty="0">
                <a:latin typeface="Consolas" panose="020B0609020204030204" pitchFamily="49" charset="0"/>
                <a:cs typeface="Consolas" panose="020B0609020204030204" pitchFamily="49" charset="0"/>
              </a:rPr>
              <a:t>         Chipset Model: Apple M4</a:t>
            </a:r>
          </a:p>
          <a:p>
            <a:r>
              <a:rPr lang="en-US" sz="1400" dirty="0">
                <a:latin typeface="Consolas" panose="020B0609020204030204" pitchFamily="49" charset="0"/>
                <a:cs typeface="Consolas" panose="020B0609020204030204" pitchFamily="49" charset="0"/>
              </a:rPr>
              <a:t>         Metal Support: Metal 4</a:t>
            </a:r>
          </a:p>
        </p:txBody>
      </p:sp>
      <p:sp>
        <p:nvSpPr>
          <p:cNvPr id="5" name="TextBox 4"/>
          <p:cNvSpPr txBox="1"/>
          <p:nvPr/>
        </p:nvSpPr>
        <p:spPr>
          <a:xfrm>
            <a:off x="930812" y="6416530"/>
            <a:ext cx="9601200" cy="357790"/>
          </a:xfrm>
          <a:prstGeom prst="rect">
            <a:avLst/>
          </a:prstGeom>
          <a:noFill/>
        </p:spPr>
        <p:txBody>
          <a:bodyPr wrap="square" anchor="ctr">
            <a:spAutoFit/>
          </a:bodyPr>
          <a:lstStyle/>
          <a:p>
            <a:pPr algn="l">
              <a:lnSpc>
                <a:spcPct val="120000"/>
              </a:lnSpc>
            </a:pPr>
            <a:r>
              <a:rPr sz="1500" b="0" i="0" dirty="0">
                <a:solidFill>
                  <a:srgbClr val="3A4750"/>
                </a:solidFill>
                <a:latin typeface="Aharoni"/>
              </a:rPr>
              <a:t>Dataset, CLIP weights, and the holdout demo images are already cached on this machine. </a:t>
            </a:r>
          </a:p>
        </p:txBody>
      </p:sp>
      <p:sp>
        <p:nvSpPr>
          <p:cNvPr id="6" name="TextBox 5"/>
          <p:cNvSpPr txBox="1"/>
          <p:nvPr/>
        </p:nvSpPr>
        <p:spPr>
          <a:xfrm>
            <a:off x="11150000" y="6500000"/>
            <a:ext cx="800000" cy="274320"/>
          </a:xfrm>
          <a:prstGeom prst="rect">
            <a:avLst/>
          </a:prstGeom>
          <a:noFill/>
        </p:spPr>
        <p:txBody>
          <a:bodyPr wrap="square" anchor="ctr">
            <a:spAutoFit/>
          </a:bodyPr>
          <a:lstStyle/>
          <a:p>
            <a:pPr algn="r"/>
            <a:r>
              <a:rPr sz="1100" b="1" i="0">
                <a:solidFill>
                  <a:srgbClr val="E7E6E6"/>
                </a:solidFill>
                <a:latin typeface="Aharoni"/>
              </a:rPr>
              <a:t>3</a:t>
            </a:r>
          </a:p>
        </p:txBody>
      </p:sp>
      <p:sp>
        <p:nvSpPr>
          <p:cNvPr id="9" name="Rounded Rectangle 8">
            <a:extLst>
              <a:ext uri="{FF2B5EF4-FFF2-40B4-BE49-F238E27FC236}">
                <a16:creationId xmlns:a16="http://schemas.microsoft.com/office/drawing/2014/main" id="{8CEE231B-8F1B-1071-B1B0-E03BFCBB3A57}"/>
              </a:ext>
            </a:extLst>
          </p:cNvPr>
          <p:cNvSpPr/>
          <p:nvPr/>
        </p:nvSpPr>
        <p:spPr>
          <a:xfrm>
            <a:off x="731520" y="4799287"/>
            <a:ext cx="9601200" cy="1510073"/>
          </a:xfrm>
          <a:prstGeom prst="roundRect">
            <a:avLst>
              <a:gd name="adj" fmla="val 3000"/>
            </a:avLst>
          </a:prstGeom>
          <a:solidFill>
            <a:srgbClr val="14182E"/>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r>
              <a:rPr sz="1400" dirty="0">
                <a:solidFill>
                  <a:srgbClr val="00B050"/>
                </a:solidFill>
                <a:latin typeface="Consolas"/>
              </a:rPr>
              <a:t>$</a:t>
            </a:r>
            <a:r>
              <a:rPr lang="en-US" sz="1400" dirty="0">
                <a:solidFill>
                  <a:srgbClr val="00B050"/>
                </a:solidFill>
                <a:latin typeface="Consolas"/>
              </a:rPr>
              <a:t>python3 </a:t>
            </a:r>
            <a:r>
              <a:rPr lang="en-US" sz="1400" dirty="0" err="1">
                <a:solidFill>
                  <a:srgbClr val="00B050"/>
                </a:solidFill>
                <a:latin typeface="Consolas"/>
              </a:rPr>
              <a:t>trainVLM.py</a:t>
            </a:r>
            <a:r>
              <a:rPr lang="en-US" sz="1400" dirty="0">
                <a:solidFill>
                  <a:srgbClr val="00B050"/>
                </a:solidFill>
                <a:latin typeface="Consolas"/>
              </a:rPr>
              <a:t> --config </a:t>
            </a:r>
            <a:r>
              <a:rPr lang="en-US" sz="1400" dirty="0" err="1">
                <a:solidFill>
                  <a:srgbClr val="00B050"/>
                </a:solidFill>
                <a:latin typeface="Consolas"/>
              </a:rPr>
              <a:t>config.demo.yaml</a:t>
            </a:r>
            <a:endParaRPr lang="en-US" sz="1400" dirty="0">
              <a:solidFill>
                <a:srgbClr val="00B050"/>
              </a:solidFill>
              <a:latin typeface="Consolas"/>
            </a:endParaRPr>
          </a:p>
          <a:p>
            <a:endParaRPr lang="en-US" sz="1400" dirty="0">
              <a:solidFill>
                <a:srgbClr val="8BE9B0"/>
              </a:solidFill>
              <a:latin typeface="Consolas"/>
            </a:endParaRPr>
          </a:p>
          <a:p>
            <a:r>
              <a:rPr lang="en-US" sz="1400" i="1" dirty="0">
                <a:solidFill>
                  <a:srgbClr val="7A8AA8"/>
                </a:solidFill>
                <a:latin typeface="Consolas"/>
              </a:rPr>
              <a:t># THE exact command timed for this talk: 350 steps, batch size 16,</a:t>
            </a:r>
          </a:p>
          <a:p>
            <a:r>
              <a:rPr lang="en-US" sz="1400" i="1" dirty="0">
                <a:solidFill>
                  <a:srgbClr val="7A8AA8"/>
                </a:solidFill>
                <a:latin typeface="Consolas"/>
              </a:rPr>
              <a:t># a fixed 1,500-image training subset (repeated ~3.7x) -- see </a:t>
            </a:r>
            <a:r>
              <a:rPr lang="en-US" sz="1400" i="1" dirty="0" err="1">
                <a:solidFill>
                  <a:srgbClr val="7A8AA8"/>
                </a:solidFill>
                <a:latin typeface="Consolas"/>
              </a:rPr>
              <a:t>config.demo.yaml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A6B28-2B8F-ED39-14A9-B38D445022A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744ACB-A0B0-E798-00C2-20745891CF8B}"/>
              </a:ext>
            </a:extLst>
          </p:cNvPr>
          <p:cNvSpPr txBox="1"/>
          <p:nvPr/>
        </p:nvSpPr>
        <p:spPr>
          <a:xfrm>
            <a:off x="731520" y="562466"/>
            <a:ext cx="8229600" cy="292388"/>
          </a:xfrm>
          <a:prstGeom prst="rect">
            <a:avLst/>
          </a:prstGeom>
          <a:noFill/>
        </p:spPr>
        <p:txBody>
          <a:bodyPr wrap="square" anchor="ctr">
            <a:spAutoFit/>
          </a:bodyPr>
          <a:lstStyle/>
          <a:p>
            <a:r>
              <a:rPr lang="en-US" sz="1300" b="1" dirty="0">
                <a:solidFill>
                  <a:srgbClr val="F2A541"/>
                </a:solidFill>
                <a:latin typeface="Aharoni"/>
              </a:rPr>
              <a:t>THE WHOLE MODEL, WITH SHAPES</a:t>
            </a:r>
          </a:p>
        </p:txBody>
      </p:sp>
      <p:sp>
        <p:nvSpPr>
          <p:cNvPr id="3" name="TextBox 2">
            <a:extLst>
              <a:ext uri="{FF2B5EF4-FFF2-40B4-BE49-F238E27FC236}">
                <a16:creationId xmlns:a16="http://schemas.microsoft.com/office/drawing/2014/main" id="{9B0263D1-B95C-F4BC-F082-E9FE3BADB140}"/>
              </a:ext>
            </a:extLst>
          </p:cNvPr>
          <p:cNvSpPr txBox="1"/>
          <p:nvPr/>
        </p:nvSpPr>
        <p:spPr>
          <a:xfrm>
            <a:off x="731520" y="1048881"/>
            <a:ext cx="10700000" cy="553998"/>
          </a:xfrm>
          <a:prstGeom prst="rect">
            <a:avLst/>
          </a:prstGeom>
          <a:noFill/>
        </p:spPr>
        <p:txBody>
          <a:bodyPr wrap="square" anchor="ctr">
            <a:spAutoFit/>
          </a:bodyPr>
          <a:lstStyle/>
          <a:p>
            <a:r>
              <a:rPr lang="en-US" sz="3000" b="1" dirty="0">
                <a:latin typeface="Aharoni"/>
              </a:rPr>
              <a:t>Image in, sentence out</a:t>
            </a:r>
          </a:p>
        </p:txBody>
      </p:sp>
      <p:sp>
        <p:nvSpPr>
          <p:cNvPr id="6" name="TextBox 5">
            <a:extLst>
              <a:ext uri="{FF2B5EF4-FFF2-40B4-BE49-F238E27FC236}">
                <a16:creationId xmlns:a16="http://schemas.microsoft.com/office/drawing/2014/main" id="{FE1C645A-5BF2-2FDD-5992-1FC9980B83A5}"/>
              </a:ext>
            </a:extLst>
          </p:cNvPr>
          <p:cNvSpPr txBox="1"/>
          <p:nvPr/>
        </p:nvSpPr>
        <p:spPr>
          <a:xfrm>
            <a:off x="11150000" y="6500000"/>
            <a:ext cx="800000" cy="274320"/>
          </a:xfrm>
          <a:prstGeom prst="rect">
            <a:avLst/>
          </a:prstGeom>
          <a:noFill/>
        </p:spPr>
        <p:txBody>
          <a:bodyPr wrap="square" anchor="ctr">
            <a:spAutoFit/>
          </a:bodyPr>
          <a:lstStyle/>
          <a:p>
            <a:pPr algn="r"/>
            <a:r>
              <a:rPr sz="1100" b="1" i="0">
                <a:solidFill>
                  <a:srgbClr val="E7E6E6"/>
                </a:solidFill>
                <a:latin typeface="Aharoni"/>
              </a:rPr>
              <a:t>3</a:t>
            </a:r>
          </a:p>
        </p:txBody>
      </p:sp>
      <p:sp>
        <p:nvSpPr>
          <p:cNvPr id="16" name="TextBox 15">
            <a:extLst>
              <a:ext uri="{FF2B5EF4-FFF2-40B4-BE49-F238E27FC236}">
                <a16:creationId xmlns:a16="http://schemas.microsoft.com/office/drawing/2014/main" id="{82D513C5-37E2-96EE-3206-D1AAC7082BC5}"/>
              </a:ext>
            </a:extLst>
          </p:cNvPr>
          <p:cNvSpPr txBox="1"/>
          <p:nvPr/>
        </p:nvSpPr>
        <p:spPr>
          <a:xfrm>
            <a:off x="600658" y="6229363"/>
            <a:ext cx="10949342" cy="544957"/>
          </a:xfrm>
          <a:prstGeom prst="rect">
            <a:avLst/>
          </a:prstGeom>
          <a:noFill/>
        </p:spPr>
        <p:txBody>
          <a:bodyPr wrap="square">
            <a:spAutoFit/>
          </a:bodyPr>
          <a:lstStyle/>
          <a:p>
            <a:pPr>
              <a:lnSpc>
                <a:spcPct val="115000"/>
              </a:lnSpc>
            </a:pPr>
            <a:r>
              <a:rPr lang="en-US" sz="1300" b="0" i="0" dirty="0">
                <a:latin typeface="Aharoni"/>
              </a:rPr>
              <a:t>Gray = input, not a model. Teal = frozen. Amber = the two things that train. This is visual-PREFIX self-attention, not cross-attention -- there's one sequence, no separate image keys/values.</a:t>
            </a:r>
          </a:p>
        </p:txBody>
      </p:sp>
      <p:pic>
        <p:nvPicPr>
          <p:cNvPr id="4" name="Picture 3">
            <a:extLst>
              <a:ext uri="{FF2B5EF4-FFF2-40B4-BE49-F238E27FC236}">
                <a16:creationId xmlns:a16="http://schemas.microsoft.com/office/drawing/2014/main" id="{3FB9E8A9-095C-F49C-F348-843B9691E3D4}"/>
              </a:ext>
            </a:extLst>
          </p:cNvPr>
          <p:cNvPicPr>
            <a:picLocks noChangeAspect="1"/>
          </p:cNvPicPr>
          <p:nvPr/>
        </p:nvPicPr>
        <p:blipFill>
          <a:blip r:embed="rId2"/>
          <a:srcRect b="50461"/>
          <a:stretch>
            <a:fillRect/>
          </a:stretch>
        </p:blipFill>
        <p:spPr>
          <a:xfrm>
            <a:off x="2069121" y="1678304"/>
            <a:ext cx="8531533" cy="1973834"/>
          </a:xfrm>
          <a:prstGeom prst="rect">
            <a:avLst/>
          </a:prstGeom>
        </p:spPr>
      </p:pic>
      <p:pic>
        <p:nvPicPr>
          <p:cNvPr id="8" name="Picture 7">
            <a:extLst>
              <a:ext uri="{FF2B5EF4-FFF2-40B4-BE49-F238E27FC236}">
                <a16:creationId xmlns:a16="http://schemas.microsoft.com/office/drawing/2014/main" id="{30A5FA47-DC56-354D-4794-CFED2A9AD459}"/>
              </a:ext>
            </a:extLst>
          </p:cNvPr>
          <p:cNvPicPr>
            <a:picLocks noChangeAspect="1"/>
          </p:cNvPicPr>
          <p:nvPr/>
        </p:nvPicPr>
        <p:blipFill>
          <a:blip r:embed="rId3"/>
          <a:stretch>
            <a:fillRect/>
          </a:stretch>
        </p:blipFill>
        <p:spPr>
          <a:xfrm>
            <a:off x="1022837" y="2338241"/>
            <a:ext cx="952500" cy="609600"/>
          </a:xfrm>
          <a:prstGeom prst="rect">
            <a:avLst/>
          </a:prstGeom>
        </p:spPr>
      </p:pic>
      <p:pic>
        <p:nvPicPr>
          <p:cNvPr id="10" name="Picture 9">
            <a:extLst>
              <a:ext uri="{FF2B5EF4-FFF2-40B4-BE49-F238E27FC236}">
                <a16:creationId xmlns:a16="http://schemas.microsoft.com/office/drawing/2014/main" id="{B7A18E24-38E1-7237-9AF5-3E839DCC1372}"/>
              </a:ext>
            </a:extLst>
          </p:cNvPr>
          <p:cNvPicPr>
            <a:picLocks noChangeAspect="1"/>
          </p:cNvPicPr>
          <p:nvPr/>
        </p:nvPicPr>
        <p:blipFill>
          <a:blip r:embed="rId4"/>
          <a:stretch>
            <a:fillRect/>
          </a:stretch>
        </p:blipFill>
        <p:spPr>
          <a:xfrm>
            <a:off x="8013377" y="3762613"/>
            <a:ext cx="4178623" cy="2072325"/>
          </a:xfrm>
          <a:prstGeom prst="rect">
            <a:avLst/>
          </a:prstGeom>
        </p:spPr>
      </p:pic>
      <p:sp>
        <p:nvSpPr>
          <p:cNvPr id="12" name="Rounded Rectangle 11">
            <a:extLst>
              <a:ext uri="{FF2B5EF4-FFF2-40B4-BE49-F238E27FC236}">
                <a16:creationId xmlns:a16="http://schemas.microsoft.com/office/drawing/2014/main" id="{01E850EC-F46B-A71C-855E-3FF9BB05C4C7}"/>
              </a:ext>
            </a:extLst>
          </p:cNvPr>
          <p:cNvSpPr/>
          <p:nvPr/>
        </p:nvSpPr>
        <p:spPr>
          <a:xfrm>
            <a:off x="194258" y="3948776"/>
            <a:ext cx="8360462" cy="1700000"/>
          </a:xfrm>
          <a:prstGeom prst="roundRect">
            <a:avLst>
              <a:gd name="adj" fmla="val 3000"/>
            </a:avLst>
          </a:prstGeom>
          <a:solidFill>
            <a:srgbClr val="14182E"/>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r>
              <a:rPr sz="1400" dirty="0">
                <a:solidFill>
                  <a:srgbClr val="FFFFFF"/>
                </a:solidFill>
                <a:latin typeface="Consolas"/>
              </a:rPr>
              <a:t>pixels          [B, 3, 224, 224]      &lt;- one photo, batch of B</a:t>
            </a:r>
          </a:p>
          <a:p>
            <a:r>
              <a:rPr sz="1400" dirty="0">
                <a:solidFill>
                  <a:srgbClr val="FFFFFF"/>
                </a:solidFill>
                <a:latin typeface="Consolas"/>
              </a:rPr>
              <a:t>CLIP embedding  [B, 512]              &lt;- pooled, frozen, cached per image</a:t>
            </a:r>
          </a:p>
          <a:p>
            <a:r>
              <a:rPr sz="1400" dirty="0">
                <a:solidFill>
                  <a:srgbClr val="FFFFFF"/>
                </a:solidFill>
                <a:latin typeface="Consolas"/>
              </a:rPr>
              <a:t>visual token    [B, 1, 288]           &lt;- projector output</a:t>
            </a:r>
          </a:p>
          <a:p>
            <a:r>
              <a:rPr sz="1400" dirty="0">
                <a:solidFill>
                  <a:srgbClr val="FFFFFF"/>
                </a:solidFill>
                <a:latin typeface="Consolas"/>
              </a:rPr>
              <a:t>text embeddings [B, T-1, 288]         &lt;- BOS + caption so far</a:t>
            </a:r>
          </a:p>
          <a:p>
            <a:r>
              <a:rPr sz="1400" dirty="0">
                <a:solidFill>
                  <a:srgbClr val="FFFFFF"/>
                </a:solidFill>
                <a:latin typeface="Consolas"/>
              </a:rPr>
              <a:t>decoder input   [B, T, 288]           &lt;- </a:t>
            </a:r>
            <a:r>
              <a:rPr sz="1400" dirty="0" err="1">
                <a:solidFill>
                  <a:srgbClr val="FFFFFF"/>
                </a:solidFill>
                <a:latin typeface="Consolas"/>
              </a:rPr>
              <a:t>concat</a:t>
            </a:r>
            <a:r>
              <a:rPr sz="1400" dirty="0">
                <a:solidFill>
                  <a:srgbClr val="FFFFFF"/>
                </a:solidFill>
                <a:latin typeface="Consolas"/>
              </a:rPr>
              <a:t>(visual token, text embeddings)</a:t>
            </a:r>
          </a:p>
          <a:p>
            <a:r>
              <a:rPr sz="1400" dirty="0">
                <a:solidFill>
                  <a:srgbClr val="FFFFFF"/>
                </a:solidFill>
                <a:latin typeface="Consolas"/>
              </a:rPr>
              <a:t>logits          [B, T-1, V]           &lt;- see 'teacher forcing' slide for the T-1</a:t>
            </a:r>
          </a:p>
        </p:txBody>
      </p:sp>
      <p:pic>
        <p:nvPicPr>
          <p:cNvPr id="11" name="Picture 10">
            <a:extLst>
              <a:ext uri="{FF2B5EF4-FFF2-40B4-BE49-F238E27FC236}">
                <a16:creationId xmlns:a16="http://schemas.microsoft.com/office/drawing/2014/main" id="{4518BCE7-0FDE-EC27-B0AB-FF6F59EB9D5E}"/>
              </a:ext>
            </a:extLst>
          </p:cNvPr>
          <p:cNvPicPr>
            <a:picLocks noChangeAspect="1"/>
          </p:cNvPicPr>
          <p:nvPr/>
        </p:nvPicPr>
        <p:blipFill>
          <a:blip r:embed="rId5"/>
          <a:stretch>
            <a:fillRect/>
          </a:stretch>
        </p:blipFill>
        <p:spPr>
          <a:xfrm>
            <a:off x="8507828" y="1826481"/>
            <a:ext cx="393700" cy="279400"/>
          </a:xfrm>
          <a:prstGeom prst="rect">
            <a:avLst/>
          </a:prstGeom>
        </p:spPr>
      </p:pic>
    </p:spTree>
    <p:extLst>
      <p:ext uri="{BB962C8B-B14F-4D97-AF65-F5344CB8AC3E}">
        <p14:creationId xmlns:p14="http://schemas.microsoft.com/office/powerpoint/2010/main" val="2000216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8229600" cy="320040"/>
          </a:xfrm>
          <a:prstGeom prst="rect">
            <a:avLst/>
          </a:prstGeom>
          <a:noFill/>
        </p:spPr>
        <p:txBody>
          <a:bodyPr wrap="square" anchor="ctr">
            <a:spAutoFit/>
          </a:bodyPr>
          <a:lstStyle/>
          <a:p>
            <a:pPr algn="l"/>
            <a:r>
              <a:rPr sz="1300" b="1" i="0">
                <a:solidFill>
                  <a:srgbClr val="F2A541"/>
                </a:solidFill>
                <a:latin typeface="Aharoni"/>
              </a:rPr>
              <a:t>STAGE 1  ·  DATA</a:t>
            </a:r>
          </a:p>
        </p:txBody>
      </p:sp>
      <p:sp>
        <p:nvSpPr>
          <p:cNvPr id="3" name="TextBox 2"/>
          <p:cNvSpPr txBox="1"/>
          <p:nvPr/>
        </p:nvSpPr>
        <p:spPr>
          <a:xfrm>
            <a:off x="731520" y="914400"/>
            <a:ext cx="10700000" cy="822960"/>
          </a:xfrm>
          <a:prstGeom prst="rect">
            <a:avLst/>
          </a:prstGeom>
          <a:noFill/>
        </p:spPr>
        <p:txBody>
          <a:bodyPr wrap="square" anchor="ctr">
            <a:spAutoFit/>
          </a:bodyPr>
          <a:lstStyle/>
          <a:p>
            <a:pPr algn="l"/>
            <a:r>
              <a:rPr sz="3000" b="1" i="0" dirty="0">
                <a:solidFill>
                  <a:srgbClr val="21295C"/>
                </a:solidFill>
                <a:latin typeface="Aharoni"/>
              </a:rPr>
              <a:t>Split by image, not by caption</a:t>
            </a:r>
          </a:p>
        </p:txBody>
      </p:sp>
      <p:sp>
        <p:nvSpPr>
          <p:cNvPr id="4" name="Rounded Rectangle 3"/>
          <p:cNvSpPr/>
          <p:nvPr/>
        </p:nvSpPr>
        <p:spPr>
          <a:xfrm>
            <a:off x="731520" y="1780000"/>
            <a:ext cx="7498080" cy="1550000"/>
          </a:xfrm>
          <a:prstGeom prst="roundRect">
            <a:avLst>
              <a:gd name="adj" fmla="val 3000"/>
            </a:avLst>
          </a:prstGeom>
          <a:solidFill>
            <a:srgbClr val="14182E"/>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r>
              <a:rPr sz="1400" dirty="0">
                <a:solidFill>
                  <a:srgbClr val="FFFFFF"/>
                </a:solidFill>
                <a:latin typeface="Consolas"/>
              </a:rPr>
              <a:t>image      : 1000268201_693b08cb0e.jpg</a:t>
            </a:r>
          </a:p>
          <a:p>
            <a:r>
              <a:rPr sz="1400" dirty="0">
                <a:solidFill>
                  <a:srgbClr val="FFFFFF"/>
                </a:solidFill>
                <a:latin typeface="Consolas"/>
              </a:rPr>
              <a:t>caption_0  : a child in a pink dress is climbing up a set of stairs</a:t>
            </a:r>
          </a:p>
          <a:p>
            <a:r>
              <a:rPr sz="1400" dirty="0">
                <a:solidFill>
                  <a:srgbClr val="FFFFFF"/>
                </a:solidFill>
                <a:latin typeface="Consolas"/>
              </a:rPr>
              <a:t>caption_1  : a girl going into a wooden building</a:t>
            </a:r>
          </a:p>
          <a:p>
            <a:r>
              <a:rPr sz="1400" dirty="0">
                <a:solidFill>
                  <a:srgbClr val="FFFFFF"/>
                </a:solidFill>
                <a:latin typeface="Consolas"/>
              </a:rPr>
              <a:t>caption_2  : a little girl climbing into a wooden playhouse</a:t>
            </a:r>
          </a:p>
          <a:p>
            <a:r>
              <a:rPr sz="1400" dirty="0">
                <a:solidFill>
                  <a:srgbClr val="FFFFFF"/>
                </a:solidFill>
                <a:latin typeface="Consolas"/>
              </a:rPr>
              <a:t>caption_3  : a little girl climbing the stairs to her playhouse</a:t>
            </a:r>
          </a:p>
          <a:p>
            <a:r>
              <a:rPr sz="1400" dirty="0">
                <a:solidFill>
                  <a:srgbClr val="FFFFFF"/>
                </a:solidFill>
                <a:latin typeface="Consolas"/>
              </a:rPr>
              <a:t>caption_4  : a little girl in a pink dress going into a wooden cabin</a:t>
            </a:r>
          </a:p>
        </p:txBody>
      </p:sp>
      <p:sp>
        <p:nvSpPr>
          <p:cNvPr id="5" name="TextBox 4"/>
          <p:cNvSpPr txBox="1"/>
          <p:nvPr/>
        </p:nvSpPr>
        <p:spPr>
          <a:xfrm>
            <a:off x="731520" y="3500000"/>
            <a:ext cx="9601200" cy="700000"/>
          </a:xfrm>
          <a:prstGeom prst="rect">
            <a:avLst/>
          </a:prstGeom>
          <a:noFill/>
        </p:spPr>
        <p:txBody>
          <a:bodyPr wrap="square" anchor="ctr">
            <a:spAutoFit/>
          </a:bodyPr>
          <a:lstStyle/>
          <a:p>
            <a:pPr algn="l">
              <a:lnSpc>
                <a:spcPct val="115000"/>
              </a:lnSpc>
            </a:pPr>
            <a:r>
              <a:rPr sz="1500" b="0" i="0" dirty="0">
                <a:solidFill>
                  <a:srgbClr val="3A4750"/>
                </a:solidFill>
                <a:latin typeface="Aharoni"/>
              </a:rPr>
              <a:t>Five captions, one photo. They're near-duplicates of each other -- which is exactly why the split has to happen at the IMAGE level, before any caption is picked.</a:t>
            </a:r>
          </a:p>
        </p:txBody>
      </p:sp>
      <p:sp>
        <p:nvSpPr>
          <p:cNvPr id="6" name="Rounded Rectangle 5"/>
          <p:cNvSpPr/>
          <p:nvPr/>
        </p:nvSpPr>
        <p:spPr>
          <a:xfrm>
            <a:off x="731520" y="4350000"/>
            <a:ext cx="2950000" cy="1500000"/>
          </a:xfrm>
          <a:prstGeom prst="roundRect">
            <a:avLst>
              <a:gd name="adj" fmla="val 8000"/>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Aharoni"/>
              </a:rPr>
              <a:t>TRAIN</a:t>
            </a:r>
          </a:p>
          <a:p>
            <a:pPr algn="ctr"/>
            <a:r>
              <a:rPr sz="1100">
                <a:solidFill>
                  <a:srgbClr val="FFFFFF"/>
                </a:solidFill>
                <a:latin typeface="Aharoni"/>
              </a:rPr>
              <a:t>~6,000 images official
(1,500-image subset for this demo)</a:t>
            </a:r>
          </a:p>
        </p:txBody>
      </p:sp>
      <p:sp>
        <p:nvSpPr>
          <p:cNvPr id="7" name="Rounded Rectangle 6"/>
          <p:cNvSpPr/>
          <p:nvPr/>
        </p:nvSpPr>
        <p:spPr>
          <a:xfrm>
            <a:off x="3881520" y="4350000"/>
            <a:ext cx="2950000" cy="1500000"/>
          </a:xfrm>
          <a:prstGeom prst="roundRect">
            <a:avLst>
              <a:gd name="adj" fmla="val 8000"/>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Aharoni"/>
              </a:rPr>
              <a:t>VALIDATION</a:t>
            </a:r>
          </a:p>
          <a:p>
            <a:pPr algn="ctr"/>
            <a:r>
              <a:rPr sz="1100">
                <a:solidFill>
                  <a:srgbClr val="FFFFFF"/>
                </a:solidFill>
                <a:latin typeface="Aharoni"/>
              </a:rPr>
              <a:t>~1,000 images
picks best.pt</a:t>
            </a:r>
          </a:p>
        </p:txBody>
      </p:sp>
      <p:sp>
        <p:nvSpPr>
          <p:cNvPr id="8" name="Rounded Rectangle 7"/>
          <p:cNvSpPr/>
          <p:nvPr/>
        </p:nvSpPr>
        <p:spPr>
          <a:xfrm>
            <a:off x="7031520" y="4350000"/>
            <a:ext cx="2950000" cy="1500000"/>
          </a:xfrm>
          <a:prstGeom prst="roundRect">
            <a:avLst>
              <a:gd name="adj" fmla="val 8000"/>
            </a:avLst>
          </a:prstGeom>
          <a:solidFill>
            <a:srgbClr val="F2A5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21295C"/>
                </a:solidFill>
                <a:latin typeface="Aharoni"/>
              </a:rPr>
              <a:t>TEST / HOLDOUT</a:t>
            </a:r>
          </a:p>
          <a:p>
            <a:pPr algn="ctr"/>
            <a:r>
              <a:rPr sz="1100">
                <a:solidFill>
                  <a:srgbClr val="21295C"/>
                </a:solidFill>
                <a:latin typeface="Aharoni"/>
              </a:rPr>
              <a:t>~1,000 images
never trained on</a:t>
            </a:r>
          </a:p>
        </p:txBody>
      </p:sp>
      <p:sp>
        <p:nvSpPr>
          <p:cNvPr id="9" name="TextBox 8"/>
          <p:cNvSpPr txBox="1"/>
          <p:nvPr/>
        </p:nvSpPr>
        <p:spPr>
          <a:xfrm>
            <a:off x="11150000" y="6500000"/>
            <a:ext cx="800000" cy="274320"/>
          </a:xfrm>
          <a:prstGeom prst="rect">
            <a:avLst/>
          </a:prstGeom>
          <a:noFill/>
        </p:spPr>
        <p:txBody>
          <a:bodyPr wrap="square" anchor="ctr">
            <a:spAutoFit/>
          </a:bodyPr>
          <a:lstStyle/>
          <a:p>
            <a:pPr algn="r"/>
            <a:r>
              <a:rPr sz="1100" b="1" i="0">
                <a:solidFill>
                  <a:srgbClr val="E7E6E6"/>
                </a:solidFill>
                <a:latin typeface="Aharon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F09FE00-B1BF-A326-6134-5D87D6A0B398}"/>
              </a:ext>
            </a:extLst>
          </p:cNvPr>
          <p:cNvGraphicFramePr>
            <a:graphicFrameLocks noGrp="1"/>
          </p:cNvGraphicFramePr>
          <p:nvPr>
            <p:extLst>
              <p:ext uri="{D42A27DB-BD31-4B8C-83A1-F6EECF244321}">
                <p14:modId xmlns:p14="http://schemas.microsoft.com/office/powerpoint/2010/main" val="3745237234"/>
              </p:ext>
            </p:extLst>
          </p:nvPr>
        </p:nvGraphicFramePr>
        <p:xfrm>
          <a:off x="346725" y="1588476"/>
          <a:ext cx="11293522" cy="4729854"/>
        </p:xfrm>
        <a:graphic>
          <a:graphicData uri="http://schemas.openxmlformats.org/drawingml/2006/table">
            <a:tbl>
              <a:tblPr>
                <a:tableStyleId>{5C22544A-7EE6-4342-B048-85BDC9FD1C3A}</a:tableStyleId>
              </a:tblPr>
              <a:tblGrid>
                <a:gridCol w="2408198">
                  <a:extLst>
                    <a:ext uri="{9D8B030D-6E8A-4147-A177-3AD203B41FA5}">
                      <a16:colId xmlns:a16="http://schemas.microsoft.com/office/drawing/2014/main" val="94122688"/>
                    </a:ext>
                  </a:extLst>
                </a:gridCol>
                <a:gridCol w="8885324">
                  <a:extLst>
                    <a:ext uri="{9D8B030D-6E8A-4147-A177-3AD203B41FA5}">
                      <a16:colId xmlns:a16="http://schemas.microsoft.com/office/drawing/2014/main" val="1729597557"/>
                    </a:ext>
                  </a:extLst>
                </a:gridCol>
              </a:tblGrid>
              <a:tr h="205726">
                <a:tc>
                  <a:txBody>
                    <a:bodyPr/>
                    <a:lstStyle/>
                    <a:p>
                      <a:pPr>
                        <a:buNone/>
                      </a:pPr>
                      <a:r>
                        <a:rPr lang="en-US" sz="1600">
                          <a:latin typeface="Aharoni" panose="02010803020104030203" pitchFamily="2" charset="-79"/>
                          <a:cs typeface="Aharoni" panose="02010803020104030203" pitchFamily="2" charset="-79"/>
                        </a:rPr>
                        <a:t>Field</a:t>
                      </a:r>
                    </a:p>
                  </a:txBody>
                  <a:tcPr marL="51431" marR="51431" marT="25716" marB="25716" anchor="ctr"/>
                </a:tc>
                <a:tc>
                  <a:txBody>
                    <a:bodyPr/>
                    <a:lstStyle/>
                    <a:p>
                      <a:pPr>
                        <a:buNone/>
                      </a:pPr>
                      <a:r>
                        <a:rPr lang="en-US" sz="1600">
                          <a:latin typeface="Aharoni" panose="02010803020104030203" pitchFamily="2" charset="-79"/>
                          <a:cs typeface="Aharoni" panose="02010803020104030203" pitchFamily="2" charset="-79"/>
                        </a:rPr>
                        <a:t>Meaning</a:t>
                      </a:r>
                    </a:p>
                  </a:txBody>
                  <a:tcPr marL="51431" marR="51431" marT="25716" marB="25716" anchor="ctr"/>
                </a:tc>
                <a:extLst>
                  <a:ext uri="{0D108BD9-81ED-4DB2-BD59-A6C34878D82A}">
                    <a16:rowId xmlns:a16="http://schemas.microsoft.com/office/drawing/2014/main" val="1333126879"/>
                  </a:ext>
                </a:extLst>
              </a:tr>
              <a:tr h="514314">
                <a:tc>
                  <a:txBody>
                    <a:bodyPr/>
                    <a:lstStyle/>
                    <a:p>
                      <a:pPr>
                        <a:buNone/>
                      </a:pPr>
                      <a:r>
                        <a:rPr lang="en-US" sz="1600" dirty="0">
                          <a:latin typeface="Aharoni" panose="02010803020104030203" pitchFamily="2" charset="-79"/>
                          <a:cs typeface="Aharoni" panose="02010803020104030203" pitchFamily="2" charset="-79"/>
                        </a:rPr>
                        <a:t>dataset</a:t>
                      </a:r>
                    </a:p>
                  </a:txBody>
                  <a:tcPr marL="51431" marR="51431" marT="25716" marB="25716" anchor="ctr"/>
                </a:tc>
                <a:tc>
                  <a:txBody>
                    <a:bodyPr/>
                    <a:lstStyle/>
                    <a:p>
                      <a:pPr>
                        <a:buNone/>
                      </a:pPr>
                      <a:r>
                        <a:rPr lang="en-US" sz="1600">
                          <a:latin typeface="Aharoni" panose="02010803020104030203" pitchFamily="2" charset="-79"/>
                          <a:cs typeface="Aharoni" panose="02010803020104030203" pitchFamily="2" charset="-79"/>
                        </a:rPr>
                        <a:t>HuggingFace dataset id (jxie/flickr8k), passed to load_dataset()</a:t>
                      </a:r>
                    </a:p>
                  </a:txBody>
                  <a:tcPr marL="51431" marR="51431" marT="25716" marB="25716" anchor="ctr"/>
                </a:tc>
                <a:extLst>
                  <a:ext uri="{0D108BD9-81ED-4DB2-BD59-A6C34878D82A}">
                    <a16:rowId xmlns:a16="http://schemas.microsoft.com/office/drawing/2014/main" val="3716275869"/>
                  </a:ext>
                </a:extLst>
              </a:tr>
              <a:tr h="360020">
                <a:tc>
                  <a:txBody>
                    <a:bodyPr/>
                    <a:lstStyle/>
                    <a:p>
                      <a:pPr>
                        <a:buNone/>
                      </a:pPr>
                      <a:r>
                        <a:rPr lang="en-US" sz="1600">
                          <a:latin typeface="Aharoni" panose="02010803020104030203" pitchFamily="2" charset="-79"/>
                          <a:cs typeface="Aharoni" panose="02010803020104030203" pitchFamily="2" charset="-79"/>
                        </a:rPr>
                        <a:t>cache_dir</a:t>
                      </a:r>
                    </a:p>
                  </a:txBody>
                  <a:tcPr marL="51431" marR="51431" marT="25716" marB="25716" anchor="ctr"/>
                </a:tc>
                <a:tc>
                  <a:txBody>
                    <a:bodyPr/>
                    <a:lstStyle/>
                    <a:p>
                      <a:pPr>
                        <a:buNone/>
                      </a:pPr>
                      <a:r>
                        <a:rPr lang="en-US" sz="1600">
                          <a:latin typeface="Aharoni" panose="02010803020104030203" pitchFamily="2" charset="-79"/>
                          <a:cs typeface="Aharoni" panose="02010803020104030203" pitchFamily="2" charset="-79"/>
                        </a:rPr>
                        <a:t>Where the downloaded images/captions get cached locally</a:t>
                      </a:r>
                    </a:p>
                  </a:txBody>
                  <a:tcPr marL="51431" marR="51431" marT="25716" marB="25716" anchor="ctr"/>
                </a:tc>
                <a:extLst>
                  <a:ext uri="{0D108BD9-81ED-4DB2-BD59-A6C34878D82A}">
                    <a16:rowId xmlns:a16="http://schemas.microsoft.com/office/drawing/2014/main" val="4074466718"/>
                  </a:ext>
                </a:extLst>
              </a:tr>
              <a:tr h="668608">
                <a:tc>
                  <a:txBody>
                    <a:bodyPr/>
                    <a:lstStyle/>
                    <a:p>
                      <a:pPr>
                        <a:buNone/>
                      </a:pPr>
                      <a:r>
                        <a:rPr lang="en-US" sz="1600">
                          <a:latin typeface="Aharoni" panose="02010803020104030203" pitchFamily="2" charset="-79"/>
                          <a:cs typeface="Aharoni" panose="02010803020104030203" pitchFamily="2" charset="-79"/>
                        </a:rPr>
                        <a:t>image_size</a:t>
                      </a:r>
                    </a:p>
                  </a:txBody>
                  <a:tcPr marL="51431" marR="51431" marT="25716" marB="25716" anchor="ctr"/>
                </a:tc>
                <a:tc>
                  <a:txBody>
                    <a:bodyPr/>
                    <a:lstStyle/>
                    <a:p>
                      <a:pPr>
                        <a:buNone/>
                      </a:pPr>
                      <a:r>
                        <a:rPr lang="en-US" sz="1600">
                          <a:latin typeface="Aharoni" panose="02010803020104030203" pitchFamily="2" charset="-79"/>
                          <a:cs typeface="Aharoni" panose="02010803020104030203" pitchFamily="2" charset="-79"/>
                        </a:rPr>
                        <a:t>Documents CLIP's expected input size (224×224); the actual resizing happens inside CLIPImageProcessor, not read directly from here</a:t>
                      </a:r>
                    </a:p>
                  </a:txBody>
                  <a:tcPr marL="51431" marR="51431" marT="25716" marB="25716" anchor="ctr"/>
                </a:tc>
                <a:extLst>
                  <a:ext uri="{0D108BD9-81ED-4DB2-BD59-A6C34878D82A}">
                    <a16:rowId xmlns:a16="http://schemas.microsoft.com/office/drawing/2014/main" val="1913529185"/>
                  </a:ext>
                </a:extLst>
              </a:tr>
              <a:tr h="514314">
                <a:tc>
                  <a:txBody>
                    <a:bodyPr/>
                    <a:lstStyle/>
                    <a:p>
                      <a:pPr>
                        <a:buNone/>
                      </a:pPr>
                      <a:r>
                        <a:rPr lang="en-US" sz="1600">
                          <a:latin typeface="Aharoni" panose="02010803020104030203" pitchFamily="2" charset="-79"/>
                          <a:cs typeface="Aharoni" panose="02010803020104030203" pitchFamily="2" charset="-79"/>
                        </a:rPr>
                        <a:t>max_caption_len</a:t>
                      </a:r>
                    </a:p>
                  </a:txBody>
                  <a:tcPr marL="51431" marR="51431" marT="25716" marB="25716" anchor="ctr"/>
                </a:tc>
                <a:tc>
                  <a:txBody>
                    <a:bodyPr/>
                    <a:lstStyle/>
                    <a:p>
                      <a:pPr>
                        <a:buNone/>
                      </a:pPr>
                      <a:r>
                        <a:rPr lang="en-US" sz="1600">
                          <a:latin typeface="Aharoni" panose="02010803020104030203" pitchFamily="2" charset="-79"/>
                          <a:cs typeface="Aharoni" panose="02010803020104030203" pitchFamily="2" charset="-79"/>
                        </a:rPr>
                        <a:t>Caption token cap, including &lt;bos&gt;/&lt;eos&gt; — longer captions get truncated</a:t>
                      </a:r>
                    </a:p>
                  </a:txBody>
                  <a:tcPr marL="51431" marR="51431" marT="25716" marB="25716" anchor="ctr"/>
                </a:tc>
                <a:extLst>
                  <a:ext uri="{0D108BD9-81ED-4DB2-BD59-A6C34878D82A}">
                    <a16:rowId xmlns:a16="http://schemas.microsoft.com/office/drawing/2014/main" val="4124641749"/>
                  </a:ext>
                </a:extLst>
              </a:tr>
              <a:tr h="514314">
                <a:tc>
                  <a:txBody>
                    <a:bodyPr/>
                    <a:lstStyle/>
                    <a:p>
                      <a:pPr>
                        <a:buNone/>
                      </a:pPr>
                      <a:r>
                        <a:rPr lang="en-US" sz="1600">
                          <a:latin typeface="Aharoni" panose="02010803020104030203" pitchFamily="2" charset="-79"/>
                          <a:cs typeface="Aharoni" panose="02010803020104030203" pitchFamily="2" charset="-79"/>
                        </a:rPr>
                        <a:t>seed</a:t>
                      </a:r>
                    </a:p>
                  </a:txBody>
                  <a:tcPr marL="51431" marR="51431" marT="25716" marB="25716" anchor="ctr"/>
                </a:tc>
                <a:tc>
                  <a:txBody>
                    <a:bodyPr/>
                    <a:lstStyle/>
                    <a:p>
                      <a:pPr>
                        <a:buNone/>
                      </a:pPr>
                      <a:r>
                        <a:rPr lang="en-US" sz="1600">
                          <a:latin typeface="Aharoni" panose="02010803020104030203" pitchFamily="2" charset="-79"/>
                          <a:cs typeface="Aharoni" panose="02010803020104030203" pitchFamily="2" charset="-79"/>
                        </a:rPr>
                        <a:t>Used for the train-subset shuffle and the holdout-image selection, so both are reproducible run to run</a:t>
                      </a:r>
                    </a:p>
                  </a:txBody>
                  <a:tcPr marL="51431" marR="51431" marT="25716" marB="25716" anchor="ctr"/>
                </a:tc>
                <a:extLst>
                  <a:ext uri="{0D108BD9-81ED-4DB2-BD59-A6C34878D82A}">
                    <a16:rowId xmlns:a16="http://schemas.microsoft.com/office/drawing/2014/main" val="3420568764"/>
                  </a:ext>
                </a:extLst>
              </a:tr>
              <a:tr h="822902">
                <a:tc>
                  <a:txBody>
                    <a:bodyPr/>
                    <a:lstStyle/>
                    <a:p>
                      <a:pPr>
                        <a:buNone/>
                      </a:pPr>
                      <a:r>
                        <a:rPr lang="en-US" sz="1600">
                          <a:latin typeface="Aharoni" panose="02010803020104030203" pitchFamily="2" charset="-79"/>
                          <a:cs typeface="Aharoni" panose="02010803020104030203" pitchFamily="2" charset="-79"/>
                        </a:rPr>
                        <a:t>train_subset_size</a:t>
                      </a:r>
                    </a:p>
                  </a:txBody>
                  <a:tcPr marL="51431" marR="51431" marT="25716" marB="25716" anchor="ctr"/>
                </a:tc>
                <a:tc>
                  <a:txBody>
                    <a:bodyPr/>
                    <a:lstStyle/>
                    <a:p>
                      <a:pPr>
                        <a:buNone/>
                      </a:pPr>
                      <a:r>
                        <a:rPr lang="en-US" sz="1600">
                          <a:latin typeface="Aharoni" panose="02010803020104030203" pitchFamily="2" charset="-79"/>
                          <a:cs typeface="Aharoni" panose="02010803020104030203" pitchFamily="2" charset="-79"/>
                        </a:rPr>
                        <a:t>The lecture-specific trick: train on only this many images (1,500) instead of the full ~6,000, so the CLIP feature cache actually gets reused within 350 steps (see the file header comment)</a:t>
                      </a:r>
                    </a:p>
                  </a:txBody>
                  <a:tcPr marL="51431" marR="51431" marT="25716" marB="25716" anchor="ctr"/>
                </a:tc>
                <a:extLst>
                  <a:ext uri="{0D108BD9-81ED-4DB2-BD59-A6C34878D82A}">
                    <a16:rowId xmlns:a16="http://schemas.microsoft.com/office/drawing/2014/main" val="4080476514"/>
                  </a:ext>
                </a:extLst>
              </a:tr>
              <a:tr h="360020">
                <a:tc>
                  <a:txBody>
                    <a:bodyPr/>
                    <a:lstStyle/>
                    <a:p>
                      <a:pPr>
                        <a:buNone/>
                      </a:pPr>
                      <a:r>
                        <a:rPr lang="en-US" sz="1600">
                          <a:latin typeface="Aharoni" panose="02010803020104030203" pitchFamily="2" charset="-79"/>
                          <a:cs typeface="Aharoni" panose="02010803020104030203" pitchFamily="2" charset="-79"/>
                        </a:rPr>
                        <a:t>export_holdout</a:t>
                      </a:r>
                    </a:p>
                  </a:txBody>
                  <a:tcPr marL="51431" marR="51431" marT="25716" marB="25716" anchor="ctr"/>
                </a:tc>
                <a:tc>
                  <a:txBody>
                    <a:bodyPr/>
                    <a:lstStyle/>
                    <a:p>
                      <a:pPr>
                        <a:buNone/>
                      </a:pPr>
                      <a:r>
                        <a:rPr lang="en-US" sz="1600">
                          <a:latin typeface="Aharoni" panose="02010803020104030203" pitchFamily="2" charset="-79"/>
                          <a:cs typeface="Aharoni" panose="02010803020104030203" pitchFamily="2" charset="-79"/>
                        </a:rPr>
                        <a:t>Whether to write demo images + references + manifest to disk on each run</a:t>
                      </a:r>
                    </a:p>
                  </a:txBody>
                  <a:tcPr marL="51431" marR="51431" marT="25716" marB="25716" anchor="ctr"/>
                </a:tc>
                <a:extLst>
                  <a:ext uri="{0D108BD9-81ED-4DB2-BD59-A6C34878D82A}">
                    <a16:rowId xmlns:a16="http://schemas.microsoft.com/office/drawing/2014/main" val="2444733326"/>
                  </a:ext>
                </a:extLst>
              </a:tr>
              <a:tr h="360020">
                <a:tc>
                  <a:txBody>
                    <a:bodyPr/>
                    <a:lstStyle/>
                    <a:p>
                      <a:pPr>
                        <a:buNone/>
                      </a:pPr>
                      <a:r>
                        <a:rPr lang="en-US" sz="1600">
                          <a:latin typeface="Aharoni" panose="02010803020104030203" pitchFamily="2" charset="-79"/>
                          <a:cs typeface="Aharoni" panose="02010803020104030203" pitchFamily="2" charset="-79"/>
                        </a:rPr>
                        <a:t>holdout_dir</a:t>
                      </a:r>
                    </a:p>
                  </a:txBody>
                  <a:tcPr marL="51431" marR="51431" marT="25716" marB="25716" anchor="ctr"/>
                </a:tc>
                <a:tc>
                  <a:txBody>
                    <a:bodyPr/>
                    <a:lstStyle/>
                    <a:p>
                      <a:pPr>
                        <a:buNone/>
                      </a:pPr>
                      <a:r>
                        <a:rPr lang="en-US" sz="1600">
                          <a:latin typeface="Aharoni" panose="02010803020104030203" pitchFamily="2" charset="-79"/>
                          <a:cs typeface="Aharoni" panose="02010803020104030203" pitchFamily="2" charset="-79"/>
                        </a:rPr>
                        <a:t>Where those go (inferVLM.py --holdout-index reads from here)</a:t>
                      </a:r>
                    </a:p>
                  </a:txBody>
                  <a:tcPr marL="51431" marR="51431" marT="25716" marB="25716" anchor="ctr"/>
                </a:tc>
                <a:extLst>
                  <a:ext uri="{0D108BD9-81ED-4DB2-BD59-A6C34878D82A}">
                    <a16:rowId xmlns:a16="http://schemas.microsoft.com/office/drawing/2014/main" val="2643159294"/>
                  </a:ext>
                </a:extLst>
              </a:tr>
              <a:tr h="205726">
                <a:tc>
                  <a:txBody>
                    <a:bodyPr/>
                    <a:lstStyle/>
                    <a:p>
                      <a:pPr>
                        <a:buNone/>
                      </a:pPr>
                      <a:r>
                        <a:rPr lang="en-US" sz="1600">
                          <a:latin typeface="Aharoni" panose="02010803020104030203" pitchFamily="2" charset="-79"/>
                          <a:cs typeface="Aharoni" panose="02010803020104030203" pitchFamily="2" charset="-79"/>
                        </a:rPr>
                        <a:t>holdout_n</a:t>
                      </a:r>
                    </a:p>
                  </a:txBody>
                  <a:tcPr marL="51431" marR="51431" marT="25716" marB="25716" anchor="ctr"/>
                </a:tc>
                <a:tc>
                  <a:txBody>
                    <a:bodyPr/>
                    <a:lstStyle/>
                    <a:p>
                      <a:pPr>
                        <a:buNone/>
                      </a:pPr>
                      <a:r>
                        <a:rPr lang="en-US" sz="1600" dirty="0">
                          <a:latin typeface="Aharoni" panose="02010803020104030203" pitchFamily="2" charset="-79"/>
                          <a:cs typeface="Aharoni" panose="02010803020104030203" pitchFamily="2" charset="-79"/>
                        </a:rPr>
                        <a:t>How many holdout images to export</a:t>
                      </a:r>
                    </a:p>
                  </a:txBody>
                  <a:tcPr marL="51431" marR="51431" marT="25716" marB="25716" anchor="ctr"/>
                </a:tc>
                <a:extLst>
                  <a:ext uri="{0D108BD9-81ED-4DB2-BD59-A6C34878D82A}">
                    <a16:rowId xmlns:a16="http://schemas.microsoft.com/office/drawing/2014/main" val="4069353215"/>
                  </a:ext>
                </a:extLst>
              </a:tr>
            </a:tbl>
          </a:graphicData>
        </a:graphic>
      </p:graphicFrame>
      <p:sp>
        <p:nvSpPr>
          <p:cNvPr id="4" name="TextBox 3">
            <a:extLst>
              <a:ext uri="{FF2B5EF4-FFF2-40B4-BE49-F238E27FC236}">
                <a16:creationId xmlns:a16="http://schemas.microsoft.com/office/drawing/2014/main" id="{4F1C2ED7-28B8-36F1-2FE7-3D5BA0202628}"/>
              </a:ext>
            </a:extLst>
          </p:cNvPr>
          <p:cNvSpPr txBox="1"/>
          <p:nvPr/>
        </p:nvSpPr>
        <p:spPr>
          <a:xfrm>
            <a:off x="346725" y="743560"/>
            <a:ext cx="6096000" cy="553998"/>
          </a:xfrm>
          <a:prstGeom prst="rect">
            <a:avLst/>
          </a:prstGeom>
          <a:noFill/>
        </p:spPr>
        <p:txBody>
          <a:bodyPr wrap="square">
            <a:spAutoFit/>
          </a:bodyPr>
          <a:lstStyle/>
          <a:p>
            <a:pPr algn="l"/>
            <a:r>
              <a:rPr lang="en-US" sz="3000" b="1" i="0" dirty="0">
                <a:solidFill>
                  <a:srgbClr val="21295C"/>
                </a:solidFill>
                <a:latin typeface="Aharoni"/>
              </a:rPr>
              <a:t>Configuration parameters : data</a:t>
            </a:r>
          </a:p>
        </p:txBody>
      </p:sp>
    </p:spTree>
    <p:extLst>
      <p:ext uri="{BB962C8B-B14F-4D97-AF65-F5344CB8AC3E}">
        <p14:creationId xmlns:p14="http://schemas.microsoft.com/office/powerpoint/2010/main" val="674331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8229600" cy="320040"/>
          </a:xfrm>
          <a:prstGeom prst="rect">
            <a:avLst/>
          </a:prstGeom>
          <a:noFill/>
        </p:spPr>
        <p:txBody>
          <a:bodyPr wrap="square" anchor="ctr">
            <a:spAutoFit/>
          </a:bodyPr>
          <a:lstStyle/>
          <a:p>
            <a:pPr algn="l"/>
            <a:r>
              <a:rPr sz="1300" b="1" i="0">
                <a:solidFill>
                  <a:srgbClr val="F2A541"/>
                </a:solidFill>
                <a:latin typeface="Aharoni"/>
              </a:rPr>
              <a:t>STAGE 2  ·  TOKENIZATION &amp; BATCHING</a:t>
            </a:r>
          </a:p>
        </p:txBody>
      </p:sp>
      <p:sp>
        <p:nvSpPr>
          <p:cNvPr id="3" name="TextBox 2"/>
          <p:cNvSpPr txBox="1"/>
          <p:nvPr/>
        </p:nvSpPr>
        <p:spPr>
          <a:xfrm>
            <a:off x="731520" y="914400"/>
            <a:ext cx="10700000" cy="822960"/>
          </a:xfrm>
          <a:prstGeom prst="rect">
            <a:avLst/>
          </a:prstGeom>
          <a:noFill/>
        </p:spPr>
        <p:txBody>
          <a:bodyPr wrap="square" anchor="ctr">
            <a:spAutoFit/>
          </a:bodyPr>
          <a:lstStyle/>
          <a:p>
            <a:pPr algn="l"/>
            <a:r>
              <a:rPr sz="3000" b="1" i="0">
                <a:solidFill>
                  <a:srgbClr val="21295C"/>
                </a:solidFill>
                <a:latin typeface="Aharoni"/>
              </a:rPr>
              <a:t>Turning text into padded integer tensors</a:t>
            </a:r>
          </a:p>
        </p:txBody>
      </p:sp>
      <p:sp>
        <p:nvSpPr>
          <p:cNvPr id="4" name="Oval 3"/>
          <p:cNvSpPr/>
          <p:nvPr/>
        </p:nvSpPr>
        <p:spPr>
          <a:xfrm>
            <a:off x="731520" y="1780000"/>
            <a:ext cx="502920" cy="50292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80000"/>
            <a:ext cx="502920" cy="502920"/>
          </a:xfrm>
          <a:prstGeom prst="rect">
            <a:avLst/>
          </a:prstGeom>
          <a:noFill/>
        </p:spPr>
        <p:txBody>
          <a:bodyPr wrap="square" anchor="ctr">
            <a:spAutoFit/>
          </a:bodyPr>
          <a:lstStyle/>
          <a:p>
            <a:pPr algn="ctr"/>
            <a:r>
              <a:rPr sz="1800" b="1" i="0">
                <a:solidFill>
                  <a:srgbClr val="FFFFFF"/>
                </a:solidFill>
                <a:latin typeface="Aharoni"/>
              </a:rPr>
              <a:t>1</a:t>
            </a:r>
          </a:p>
        </p:txBody>
      </p:sp>
      <p:sp>
        <p:nvSpPr>
          <p:cNvPr id="6" name="TextBox 5"/>
          <p:cNvSpPr txBox="1"/>
          <p:nvPr/>
        </p:nvSpPr>
        <p:spPr>
          <a:xfrm>
            <a:off x="1463040" y="1734280"/>
            <a:ext cx="9601200" cy="411480"/>
          </a:xfrm>
          <a:prstGeom prst="rect">
            <a:avLst/>
          </a:prstGeom>
          <a:noFill/>
        </p:spPr>
        <p:txBody>
          <a:bodyPr wrap="square" anchor="ctr">
            <a:spAutoFit/>
          </a:bodyPr>
          <a:lstStyle/>
          <a:p>
            <a:pPr algn="l"/>
            <a:r>
              <a:rPr sz="1800" b="1" i="0">
                <a:solidFill>
                  <a:srgbClr val="21295C"/>
                </a:solidFill>
                <a:latin typeface="Aharoni"/>
              </a:rPr>
              <a:t>Character-level tokenizer, by default</a:t>
            </a:r>
          </a:p>
        </p:txBody>
      </p:sp>
      <p:sp>
        <p:nvSpPr>
          <p:cNvPr id="7" name="TextBox 6"/>
          <p:cNvSpPr txBox="1"/>
          <p:nvPr/>
        </p:nvSpPr>
        <p:spPr>
          <a:xfrm>
            <a:off x="1463040" y="2015267"/>
            <a:ext cx="9968480" cy="307777"/>
          </a:xfrm>
          <a:prstGeom prst="rect">
            <a:avLst/>
          </a:prstGeom>
          <a:noFill/>
        </p:spPr>
        <p:txBody>
          <a:bodyPr wrap="square" anchor="ctr">
            <a:spAutoFit/>
          </a:bodyPr>
          <a:lstStyle/>
          <a:p>
            <a:pPr algn="l"/>
            <a:r>
              <a:rPr sz="1400" b="0" i="0" dirty="0">
                <a:solidFill>
                  <a:srgbClr val="3A4750"/>
                </a:solidFill>
                <a:latin typeface="Aharoni"/>
              </a:rPr>
              <a:t>no </a:t>
            </a:r>
            <a:r>
              <a:rPr lang="en-US" sz="1400" b="0" i="0" dirty="0">
                <a:solidFill>
                  <a:srgbClr val="3A4750"/>
                </a:solidFill>
                <a:latin typeface="Aharoni"/>
              </a:rPr>
              <a:t>additional tokenizer model</a:t>
            </a:r>
            <a:r>
              <a:rPr sz="1400" b="0" i="0" dirty="0">
                <a:solidFill>
                  <a:srgbClr val="3A4750"/>
                </a:solidFill>
                <a:latin typeface="Aharoni"/>
              </a:rPr>
              <a:t> download; vocab built from the training captions themselves (~75 symbols).</a:t>
            </a:r>
          </a:p>
        </p:txBody>
      </p:sp>
      <p:sp>
        <p:nvSpPr>
          <p:cNvPr id="8" name="Oval 7"/>
          <p:cNvSpPr/>
          <p:nvPr/>
        </p:nvSpPr>
        <p:spPr>
          <a:xfrm>
            <a:off x="723314" y="2548165"/>
            <a:ext cx="502920" cy="50292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3314" y="2548165"/>
            <a:ext cx="502920" cy="502920"/>
          </a:xfrm>
          <a:prstGeom prst="rect">
            <a:avLst/>
          </a:prstGeom>
          <a:noFill/>
        </p:spPr>
        <p:txBody>
          <a:bodyPr wrap="square" anchor="ctr">
            <a:spAutoFit/>
          </a:bodyPr>
          <a:lstStyle/>
          <a:p>
            <a:pPr algn="ctr"/>
            <a:r>
              <a:rPr sz="1800" b="1" i="0">
                <a:solidFill>
                  <a:srgbClr val="FFFFFF"/>
                </a:solidFill>
                <a:latin typeface="Aharoni"/>
              </a:rPr>
              <a:t>2</a:t>
            </a:r>
          </a:p>
        </p:txBody>
      </p:sp>
      <p:sp>
        <p:nvSpPr>
          <p:cNvPr id="10" name="TextBox 9"/>
          <p:cNvSpPr txBox="1"/>
          <p:nvPr/>
        </p:nvSpPr>
        <p:spPr>
          <a:xfrm>
            <a:off x="1454834" y="2523519"/>
            <a:ext cx="5063197" cy="369332"/>
          </a:xfrm>
          <a:prstGeom prst="rect">
            <a:avLst/>
          </a:prstGeom>
          <a:noFill/>
        </p:spPr>
        <p:txBody>
          <a:bodyPr wrap="square" anchor="ctr">
            <a:spAutoFit/>
          </a:bodyPr>
          <a:lstStyle/>
          <a:p>
            <a:pPr algn="l"/>
            <a:r>
              <a:rPr sz="1800" b="1" i="0" dirty="0">
                <a:solidFill>
                  <a:srgbClr val="21295C"/>
                </a:solidFill>
                <a:latin typeface="Aharoni"/>
              </a:rPr>
              <a:t>One caption sampled per image per epoch</a:t>
            </a:r>
          </a:p>
        </p:txBody>
      </p:sp>
      <p:sp>
        <p:nvSpPr>
          <p:cNvPr id="11" name="TextBox 10"/>
          <p:cNvSpPr txBox="1"/>
          <p:nvPr/>
        </p:nvSpPr>
        <p:spPr>
          <a:xfrm>
            <a:off x="1420250" y="2799625"/>
            <a:ext cx="9601200" cy="307777"/>
          </a:xfrm>
          <a:prstGeom prst="rect">
            <a:avLst/>
          </a:prstGeom>
          <a:noFill/>
        </p:spPr>
        <p:txBody>
          <a:bodyPr wrap="square" anchor="ctr">
            <a:spAutoFit/>
          </a:bodyPr>
          <a:lstStyle/>
          <a:p>
            <a:pPr algn="l"/>
            <a:r>
              <a:rPr sz="1400" b="0" i="0" dirty="0">
                <a:solidFill>
                  <a:srgbClr val="3A4750"/>
                </a:solidFill>
                <a:latin typeface="Aharoni"/>
              </a:rPr>
              <a:t>a different one of the five each epoch -- free augmentation, no expanded dataset.</a:t>
            </a:r>
          </a:p>
        </p:txBody>
      </p:sp>
      <p:sp>
        <p:nvSpPr>
          <p:cNvPr id="12" name="Oval 11"/>
          <p:cNvSpPr/>
          <p:nvPr/>
        </p:nvSpPr>
        <p:spPr>
          <a:xfrm>
            <a:off x="731520" y="3328361"/>
            <a:ext cx="502920" cy="50292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Aharoni" panose="02010803020104030203" pitchFamily="2" charset="-79"/>
                <a:cs typeface="Aharoni" panose="02010803020104030203" pitchFamily="2" charset="-79"/>
              </a:rPr>
              <a:t>3</a:t>
            </a:r>
            <a:endParaRPr dirty="0">
              <a:latin typeface="Aharoni" panose="02010803020104030203" pitchFamily="2" charset="-79"/>
              <a:cs typeface="Aharoni" panose="02010803020104030203" pitchFamily="2" charset="-79"/>
            </a:endParaRPr>
          </a:p>
        </p:txBody>
      </p:sp>
      <p:sp>
        <p:nvSpPr>
          <p:cNvPr id="14" name="TextBox 13"/>
          <p:cNvSpPr txBox="1"/>
          <p:nvPr/>
        </p:nvSpPr>
        <p:spPr>
          <a:xfrm>
            <a:off x="1454834" y="3224408"/>
            <a:ext cx="5160498" cy="369332"/>
          </a:xfrm>
          <a:prstGeom prst="rect">
            <a:avLst/>
          </a:prstGeom>
          <a:noFill/>
        </p:spPr>
        <p:txBody>
          <a:bodyPr wrap="square" anchor="ctr">
            <a:spAutoFit/>
          </a:bodyPr>
          <a:lstStyle/>
          <a:p>
            <a:pPr algn="l"/>
            <a:r>
              <a:rPr sz="1800" b="1" i="0" dirty="0">
                <a:solidFill>
                  <a:srgbClr val="21295C"/>
                </a:solidFill>
                <a:latin typeface="Aharoni"/>
              </a:rPr>
              <a:t>Pad to the longest caption in the batch</a:t>
            </a:r>
          </a:p>
        </p:txBody>
      </p:sp>
      <p:sp>
        <p:nvSpPr>
          <p:cNvPr id="15" name="TextBox 14"/>
          <p:cNvSpPr txBox="1"/>
          <p:nvPr/>
        </p:nvSpPr>
        <p:spPr>
          <a:xfrm>
            <a:off x="1454834" y="3540088"/>
            <a:ext cx="9811043" cy="307777"/>
          </a:xfrm>
          <a:prstGeom prst="rect">
            <a:avLst/>
          </a:prstGeom>
          <a:noFill/>
        </p:spPr>
        <p:txBody>
          <a:bodyPr wrap="square" anchor="ctr">
            <a:spAutoFit/>
          </a:bodyPr>
          <a:lstStyle/>
          <a:p>
            <a:pPr algn="l"/>
            <a:r>
              <a:rPr sz="1400" b="0" i="0" dirty="0">
                <a:solidFill>
                  <a:srgbClr val="3A4750"/>
                </a:solidFill>
                <a:latin typeface="Aharoni"/>
              </a:rPr>
              <a:t>no attention mask needed: right-padding + causal attention can't leak, and the loss ignores pad positions directly.</a:t>
            </a:r>
          </a:p>
        </p:txBody>
      </p:sp>
      <p:sp>
        <p:nvSpPr>
          <p:cNvPr id="17" name="TextBox 16"/>
          <p:cNvSpPr txBox="1"/>
          <p:nvPr/>
        </p:nvSpPr>
        <p:spPr>
          <a:xfrm>
            <a:off x="11150000" y="6500000"/>
            <a:ext cx="800000" cy="274320"/>
          </a:xfrm>
          <a:prstGeom prst="rect">
            <a:avLst/>
          </a:prstGeom>
          <a:noFill/>
        </p:spPr>
        <p:txBody>
          <a:bodyPr wrap="square" anchor="ctr">
            <a:spAutoFit/>
          </a:bodyPr>
          <a:lstStyle/>
          <a:p>
            <a:pPr algn="r"/>
            <a:r>
              <a:rPr sz="1100" b="1" i="0">
                <a:solidFill>
                  <a:srgbClr val="E7E6E6"/>
                </a:solidFill>
                <a:latin typeface="Aharoni"/>
              </a:rPr>
              <a:t>6</a:t>
            </a:r>
          </a:p>
        </p:txBody>
      </p:sp>
      <p:graphicFrame>
        <p:nvGraphicFramePr>
          <p:cNvPr id="18" name="Table 17">
            <a:extLst>
              <a:ext uri="{FF2B5EF4-FFF2-40B4-BE49-F238E27FC236}">
                <a16:creationId xmlns:a16="http://schemas.microsoft.com/office/drawing/2014/main" id="{9FADEB07-885A-18BA-BDBD-D7A6AD8349F4}"/>
              </a:ext>
            </a:extLst>
          </p:cNvPr>
          <p:cNvGraphicFramePr>
            <a:graphicFrameLocks noGrp="1"/>
          </p:cNvGraphicFramePr>
          <p:nvPr>
            <p:extLst>
              <p:ext uri="{D42A27DB-BD31-4B8C-83A1-F6EECF244321}">
                <p14:modId xmlns:p14="http://schemas.microsoft.com/office/powerpoint/2010/main" val="1564212570"/>
              </p:ext>
            </p:extLst>
          </p:nvPr>
        </p:nvGraphicFramePr>
        <p:xfrm>
          <a:off x="105508" y="5788675"/>
          <a:ext cx="11980983" cy="914400"/>
        </p:xfrm>
        <a:graphic>
          <a:graphicData uri="http://schemas.openxmlformats.org/drawingml/2006/table">
            <a:tbl>
              <a:tblPr>
                <a:tableStyleId>{5C22544A-7EE6-4342-B048-85BDC9FD1C3A}</a:tableStyleId>
              </a:tblPr>
              <a:tblGrid>
                <a:gridCol w="820615">
                  <a:extLst>
                    <a:ext uri="{9D8B030D-6E8A-4147-A177-3AD203B41FA5}">
                      <a16:colId xmlns:a16="http://schemas.microsoft.com/office/drawing/2014/main" val="2956521109"/>
                    </a:ext>
                  </a:extLst>
                </a:gridCol>
                <a:gridCol w="1641231">
                  <a:extLst>
                    <a:ext uri="{9D8B030D-6E8A-4147-A177-3AD203B41FA5}">
                      <a16:colId xmlns:a16="http://schemas.microsoft.com/office/drawing/2014/main" val="508802440"/>
                    </a:ext>
                  </a:extLst>
                </a:gridCol>
                <a:gridCol w="2555631">
                  <a:extLst>
                    <a:ext uri="{9D8B030D-6E8A-4147-A177-3AD203B41FA5}">
                      <a16:colId xmlns:a16="http://schemas.microsoft.com/office/drawing/2014/main" val="1667841479"/>
                    </a:ext>
                  </a:extLst>
                </a:gridCol>
                <a:gridCol w="4567309">
                  <a:extLst>
                    <a:ext uri="{9D8B030D-6E8A-4147-A177-3AD203B41FA5}">
                      <a16:colId xmlns:a16="http://schemas.microsoft.com/office/drawing/2014/main" val="4098609000"/>
                    </a:ext>
                  </a:extLst>
                </a:gridCol>
                <a:gridCol w="2396197">
                  <a:extLst>
                    <a:ext uri="{9D8B030D-6E8A-4147-A177-3AD203B41FA5}">
                      <a16:colId xmlns:a16="http://schemas.microsoft.com/office/drawing/2014/main" val="362940894"/>
                    </a:ext>
                  </a:extLst>
                </a:gridCol>
              </a:tblGrid>
              <a:tr h="0">
                <a:tc>
                  <a:txBody>
                    <a:bodyPr/>
                    <a:lstStyle/>
                    <a:p>
                      <a:pPr algn="l">
                        <a:buNone/>
                      </a:pPr>
                      <a:r>
                        <a:rPr lang="en-US" sz="1400" dirty="0">
                          <a:effectLst/>
                          <a:latin typeface="Aharoni" panose="02010803020104030203" pitchFamily="2" charset="-79"/>
                          <a:cs typeface="Aharoni" panose="02010803020104030203" pitchFamily="2" charset="-79"/>
                        </a:rPr>
                        <a:t>Sample</a:t>
                      </a:r>
                      <a:endParaRPr lang="en-US" sz="1400" b="0" i="0" dirty="0">
                        <a:solidFill>
                          <a:srgbClr val="000000"/>
                        </a:solidFill>
                        <a:effectLst/>
                        <a:latin typeface="Aharoni" panose="02010803020104030203" pitchFamily="2" charset="-79"/>
                        <a:cs typeface="Aharoni" panose="02010803020104030203" pitchFamily="2" charset="-79"/>
                      </a:endParaRPr>
                    </a:p>
                  </a:txBody>
                  <a:tcPr anchor="ctr"/>
                </a:tc>
                <a:tc>
                  <a:txBody>
                    <a:bodyPr/>
                    <a:lstStyle/>
                    <a:p>
                      <a:pPr algn="l">
                        <a:buNone/>
                      </a:pPr>
                      <a:r>
                        <a:rPr lang="en-US" sz="1400">
                          <a:effectLst/>
                          <a:latin typeface="Aharoni" panose="02010803020104030203" pitchFamily="2" charset="-79"/>
                          <a:cs typeface="Aharoni" panose="02010803020104030203" pitchFamily="2" charset="-79"/>
                        </a:rPr>
                        <a:t>Original caption</a:t>
                      </a:r>
                      <a:endParaRPr lang="en-US" sz="1400" b="0" i="0">
                        <a:solidFill>
                          <a:srgbClr val="000000"/>
                        </a:solidFill>
                        <a:effectLst/>
                        <a:latin typeface="Aharoni" panose="02010803020104030203" pitchFamily="2" charset="-79"/>
                        <a:cs typeface="Aharoni" panose="02010803020104030203" pitchFamily="2" charset="-79"/>
                      </a:endParaRPr>
                    </a:p>
                  </a:txBody>
                  <a:tcPr anchor="ctr"/>
                </a:tc>
                <a:tc>
                  <a:txBody>
                    <a:bodyPr/>
                    <a:lstStyle/>
                    <a:p>
                      <a:pPr algn="l">
                        <a:buNone/>
                      </a:pPr>
                      <a:r>
                        <a:rPr lang="en-US" sz="1400">
                          <a:effectLst/>
                          <a:latin typeface="Aharoni" panose="02010803020104030203" pitchFamily="2" charset="-79"/>
                          <a:cs typeface="Aharoni" panose="02010803020104030203" pitchFamily="2" charset="-79"/>
                        </a:rPr>
                        <a:t>Character tokens</a:t>
                      </a:r>
                      <a:endParaRPr lang="en-US" sz="1400" b="0" i="0">
                        <a:solidFill>
                          <a:srgbClr val="000000"/>
                        </a:solidFill>
                        <a:effectLst/>
                        <a:latin typeface="Aharoni" panose="02010803020104030203" pitchFamily="2" charset="-79"/>
                        <a:cs typeface="Aharoni" panose="02010803020104030203" pitchFamily="2" charset="-79"/>
                      </a:endParaRPr>
                    </a:p>
                  </a:txBody>
                  <a:tcPr anchor="ctr"/>
                </a:tc>
                <a:tc>
                  <a:txBody>
                    <a:bodyPr/>
                    <a:lstStyle/>
                    <a:p>
                      <a:pPr algn="l">
                        <a:buNone/>
                      </a:pPr>
                      <a:r>
                        <a:rPr lang="en-US" sz="1400">
                          <a:effectLst/>
                          <a:latin typeface="Aharoni" panose="02010803020104030203" pitchFamily="2" charset="-79"/>
                          <a:cs typeface="Aharoni" panose="02010803020104030203" pitchFamily="2" charset="-79"/>
                        </a:rPr>
                        <a:t>Padded tensor row</a:t>
                      </a:r>
                      <a:endParaRPr lang="en-US" sz="1400" b="0" i="0">
                        <a:solidFill>
                          <a:srgbClr val="000000"/>
                        </a:solidFill>
                        <a:effectLst/>
                        <a:latin typeface="Aharoni" panose="02010803020104030203" pitchFamily="2" charset="-79"/>
                        <a:cs typeface="Aharoni" panose="02010803020104030203" pitchFamily="2" charset="-79"/>
                      </a:endParaRPr>
                    </a:p>
                  </a:txBody>
                  <a:tcPr anchor="ctr"/>
                </a:tc>
                <a:tc>
                  <a:txBody>
                    <a:bodyPr/>
                    <a:lstStyle/>
                    <a:p>
                      <a:pPr algn="l">
                        <a:buNone/>
                      </a:pPr>
                      <a:r>
                        <a:rPr lang="en-US" sz="1400">
                          <a:effectLst/>
                          <a:latin typeface="Aharoni" panose="02010803020104030203" pitchFamily="2" charset="-79"/>
                          <a:cs typeface="Aharoni" panose="02010803020104030203" pitchFamily="2" charset="-79"/>
                        </a:rPr>
                        <a:t>Loss evaluated on</a:t>
                      </a:r>
                      <a:endParaRPr lang="en-US" sz="1400" b="0" i="0">
                        <a:solidFill>
                          <a:srgbClr val="000000"/>
                        </a:solidFill>
                        <a:effectLst/>
                        <a:latin typeface="Aharoni" panose="02010803020104030203" pitchFamily="2" charset="-79"/>
                        <a:cs typeface="Aharoni" panose="02010803020104030203" pitchFamily="2" charset="-79"/>
                      </a:endParaRPr>
                    </a:p>
                  </a:txBody>
                  <a:tcPr anchor="ctr"/>
                </a:tc>
                <a:extLst>
                  <a:ext uri="{0D108BD9-81ED-4DB2-BD59-A6C34878D82A}">
                    <a16:rowId xmlns:a16="http://schemas.microsoft.com/office/drawing/2014/main" val="2838268997"/>
                  </a:ext>
                </a:extLst>
              </a:tr>
              <a:tr h="0">
                <a:tc>
                  <a:txBody>
                    <a:bodyPr/>
                    <a:lstStyle/>
                    <a:p>
                      <a:pPr algn="l">
                        <a:buNone/>
                      </a:pPr>
                      <a:r>
                        <a:rPr lang="en-US" sz="1400" dirty="0">
                          <a:effectLst/>
                          <a:latin typeface="Aharoni" panose="02010803020104030203" pitchFamily="2" charset="-79"/>
                          <a:cs typeface="Aharoni" panose="02010803020104030203" pitchFamily="2" charset="-79"/>
                        </a:rPr>
                        <a:t>A</a:t>
                      </a:r>
                      <a:endParaRPr lang="en-US" sz="1400" b="0" i="0" dirty="0">
                        <a:solidFill>
                          <a:srgbClr val="000000"/>
                        </a:solidFill>
                        <a:effectLst/>
                        <a:latin typeface="Aharoni" panose="02010803020104030203" pitchFamily="2" charset="-79"/>
                        <a:cs typeface="Aharoni" panose="02010803020104030203" pitchFamily="2" charset="-79"/>
                      </a:endParaRPr>
                    </a:p>
                  </a:txBody>
                  <a:tcPr anchor="ctr"/>
                </a:tc>
                <a:tc>
                  <a:txBody>
                    <a:bodyPr/>
                    <a:lstStyle/>
                    <a:p>
                      <a:pPr algn="l">
                        <a:buNone/>
                      </a:pPr>
                      <a:r>
                        <a:rPr lang="en-US" sz="1400" dirty="0">
                          <a:effectLst/>
                          <a:latin typeface="Aharoni" panose="02010803020104030203" pitchFamily="2" charset="-79"/>
                          <a:cs typeface="Aharoni" panose="02010803020104030203" pitchFamily="2" charset="-79"/>
                        </a:rPr>
                        <a:t>a dog</a:t>
                      </a:r>
                      <a:endParaRPr lang="en-US" sz="1400" b="0" i="0" dirty="0">
                        <a:solidFill>
                          <a:srgbClr val="000000"/>
                        </a:solidFill>
                        <a:effectLst/>
                        <a:latin typeface="Aharoni" panose="02010803020104030203" pitchFamily="2" charset="-79"/>
                        <a:cs typeface="Aharoni" panose="02010803020104030203" pitchFamily="2" charset="-79"/>
                      </a:endParaRPr>
                    </a:p>
                  </a:txBody>
                  <a:tcPr anchor="ctr"/>
                </a:tc>
                <a:tc>
                  <a:txBody>
                    <a:bodyPr/>
                    <a:lstStyle/>
                    <a:p>
                      <a:pPr algn="l">
                        <a:buNone/>
                      </a:pPr>
                      <a:r>
                        <a:rPr lang="en-US" sz="1400" dirty="0">
                          <a:solidFill>
                            <a:schemeClr val="accent6"/>
                          </a:solidFill>
                          <a:effectLst/>
                          <a:latin typeface="Aharoni" panose="02010803020104030203" pitchFamily="2" charset="-79"/>
                          <a:cs typeface="Aharoni" panose="02010803020104030203" pitchFamily="2" charset="-79"/>
                        </a:rPr>
                        <a:t>&lt;</a:t>
                      </a:r>
                      <a:r>
                        <a:rPr lang="en-US" sz="1400" dirty="0" err="1">
                          <a:solidFill>
                            <a:schemeClr val="accent6"/>
                          </a:solidFill>
                          <a:effectLst/>
                          <a:latin typeface="Aharoni" panose="02010803020104030203" pitchFamily="2" charset="-79"/>
                          <a:cs typeface="Aharoni" panose="02010803020104030203" pitchFamily="2" charset="-79"/>
                        </a:rPr>
                        <a:t>bos</a:t>
                      </a:r>
                      <a:r>
                        <a:rPr lang="en-US" sz="1400" dirty="0">
                          <a:solidFill>
                            <a:schemeClr val="accent6"/>
                          </a:solidFill>
                          <a:effectLst/>
                          <a:latin typeface="Aharoni" panose="02010803020104030203" pitchFamily="2" charset="-79"/>
                          <a:cs typeface="Aharoni" panose="02010803020104030203" pitchFamily="2" charset="-79"/>
                        </a:rPr>
                        <a:t>&gt;</a:t>
                      </a:r>
                      <a:r>
                        <a:rPr lang="en-US" sz="1400" dirty="0">
                          <a:effectLst/>
                          <a:latin typeface="Aharoni" panose="02010803020104030203" pitchFamily="2" charset="-79"/>
                          <a:cs typeface="Aharoni" panose="02010803020104030203" pitchFamily="2" charset="-79"/>
                        </a:rPr>
                        <a:t> a d o g </a:t>
                      </a:r>
                      <a:r>
                        <a:rPr lang="en-US" sz="1400" dirty="0">
                          <a:solidFill>
                            <a:schemeClr val="accent6"/>
                          </a:solidFill>
                          <a:effectLst/>
                          <a:latin typeface="Aharoni" panose="02010803020104030203" pitchFamily="2" charset="-79"/>
                          <a:cs typeface="Aharoni" panose="02010803020104030203" pitchFamily="2" charset="-79"/>
                        </a:rPr>
                        <a:t>&lt;</a:t>
                      </a:r>
                      <a:r>
                        <a:rPr lang="en-US" sz="1400" dirty="0" err="1">
                          <a:solidFill>
                            <a:schemeClr val="accent6"/>
                          </a:solidFill>
                          <a:effectLst/>
                          <a:latin typeface="Aharoni" panose="02010803020104030203" pitchFamily="2" charset="-79"/>
                          <a:cs typeface="Aharoni" panose="02010803020104030203" pitchFamily="2" charset="-79"/>
                        </a:rPr>
                        <a:t>eos</a:t>
                      </a:r>
                      <a:r>
                        <a:rPr lang="en-US" sz="1400" dirty="0">
                          <a:solidFill>
                            <a:schemeClr val="accent6"/>
                          </a:solidFill>
                          <a:effectLst/>
                          <a:latin typeface="Aharoni" panose="02010803020104030203" pitchFamily="2" charset="-79"/>
                          <a:cs typeface="Aharoni" panose="02010803020104030203" pitchFamily="2" charset="-79"/>
                        </a:rPr>
                        <a:t>&gt;</a:t>
                      </a:r>
                      <a:endParaRPr lang="en-US" sz="1400" b="0" i="0" dirty="0">
                        <a:solidFill>
                          <a:schemeClr val="accent6"/>
                        </a:solidFill>
                        <a:effectLst/>
                        <a:latin typeface="Aharoni" panose="02010803020104030203" pitchFamily="2" charset="-79"/>
                        <a:cs typeface="Aharoni" panose="02010803020104030203" pitchFamily="2" charset="-79"/>
                      </a:endParaRPr>
                    </a:p>
                  </a:txBody>
                  <a:tcPr anchor="ctr"/>
                </a:tc>
                <a:tc>
                  <a:txBody>
                    <a:bodyPr/>
                    <a:lstStyle/>
                    <a:p>
                      <a:pPr algn="l">
                        <a:buNone/>
                      </a:pPr>
                      <a:r>
                        <a:rPr lang="en-US" sz="1400" dirty="0">
                          <a:solidFill>
                            <a:schemeClr val="accent6"/>
                          </a:solidFill>
                          <a:effectLst/>
                          <a:latin typeface="Aharoni" panose="02010803020104030203" pitchFamily="2" charset="-79"/>
                          <a:cs typeface="Aharoni" panose="02010803020104030203" pitchFamily="2" charset="-79"/>
                        </a:rPr>
                        <a:t>&lt;</a:t>
                      </a:r>
                      <a:r>
                        <a:rPr lang="en-US" sz="1400" dirty="0" err="1">
                          <a:solidFill>
                            <a:schemeClr val="accent6"/>
                          </a:solidFill>
                          <a:effectLst/>
                          <a:latin typeface="Aharoni" panose="02010803020104030203" pitchFamily="2" charset="-79"/>
                          <a:cs typeface="Aharoni" panose="02010803020104030203" pitchFamily="2" charset="-79"/>
                        </a:rPr>
                        <a:t>bos</a:t>
                      </a:r>
                      <a:r>
                        <a:rPr lang="en-US" sz="1400" dirty="0">
                          <a:solidFill>
                            <a:schemeClr val="accent6"/>
                          </a:solidFill>
                          <a:effectLst/>
                          <a:latin typeface="Aharoni" panose="02010803020104030203" pitchFamily="2" charset="-79"/>
                          <a:cs typeface="Aharoni" panose="02010803020104030203" pitchFamily="2" charset="-79"/>
                        </a:rPr>
                        <a:t>&gt; </a:t>
                      </a:r>
                      <a:r>
                        <a:rPr lang="en-US" sz="1400" dirty="0">
                          <a:effectLst/>
                          <a:latin typeface="Aharoni" panose="02010803020104030203" pitchFamily="2" charset="-79"/>
                          <a:cs typeface="Aharoni" panose="02010803020104030203" pitchFamily="2" charset="-79"/>
                        </a:rPr>
                        <a:t>a d o g </a:t>
                      </a:r>
                      <a:r>
                        <a:rPr lang="en-US" sz="1400" dirty="0">
                          <a:solidFill>
                            <a:schemeClr val="accent6"/>
                          </a:solidFill>
                          <a:effectLst/>
                          <a:latin typeface="Aharoni" panose="02010803020104030203" pitchFamily="2" charset="-79"/>
                          <a:cs typeface="Aharoni" panose="02010803020104030203" pitchFamily="2" charset="-79"/>
                        </a:rPr>
                        <a:t>&lt;</a:t>
                      </a:r>
                      <a:r>
                        <a:rPr lang="en-US" sz="1400" dirty="0" err="1">
                          <a:solidFill>
                            <a:schemeClr val="accent6"/>
                          </a:solidFill>
                          <a:effectLst/>
                          <a:latin typeface="Aharoni" panose="02010803020104030203" pitchFamily="2" charset="-79"/>
                          <a:cs typeface="Aharoni" panose="02010803020104030203" pitchFamily="2" charset="-79"/>
                        </a:rPr>
                        <a:t>eos</a:t>
                      </a:r>
                      <a:r>
                        <a:rPr lang="en-US" sz="1400" dirty="0">
                          <a:solidFill>
                            <a:schemeClr val="accent6"/>
                          </a:solidFill>
                          <a:effectLst/>
                          <a:latin typeface="Aharoni" panose="02010803020104030203" pitchFamily="2" charset="-79"/>
                          <a:cs typeface="Aharoni" panose="02010803020104030203" pitchFamily="2" charset="-79"/>
                        </a:rPr>
                        <a:t>&gt; </a:t>
                      </a:r>
                      <a:r>
                        <a:rPr lang="en-US" sz="1400" dirty="0">
                          <a:solidFill>
                            <a:schemeClr val="bg1">
                              <a:lumMod val="50000"/>
                            </a:schemeClr>
                          </a:solidFill>
                          <a:effectLst/>
                          <a:latin typeface="Aharoni" panose="02010803020104030203" pitchFamily="2" charset="-79"/>
                          <a:cs typeface="Aharoni" panose="02010803020104030203" pitchFamily="2" charset="-79"/>
                        </a:rPr>
                        <a:t>&lt;pad&gt; &lt;pad&gt; &lt;pad&gt;</a:t>
                      </a:r>
                      <a:endParaRPr lang="en-US" sz="1400" b="0" i="0" dirty="0">
                        <a:solidFill>
                          <a:schemeClr val="bg1">
                            <a:lumMod val="50000"/>
                          </a:schemeClr>
                        </a:solidFill>
                        <a:effectLst/>
                        <a:latin typeface="Aharoni" panose="02010803020104030203" pitchFamily="2" charset="-79"/>
                        <a:cs typeface="Aharoni" panose="02010803020104030203" pitchFamily="2" charset="-79"/>
                      </a:endParaRPr>
                    </a:p>
                  </a:txBody>
                  <a:tcPr anchor="ctr"/>
                </a:tc>
                <a:tc>
                  <a:txBody>
                    <a:bodyPr/>
                    <a:lstStyle/>
                    <a:p>
                      <a:pPr algn="l">
                        <a:buNone/>
                      </a:pPr>
                      <a:r>
                        <a:rPr lang="en-US" sz="1400" dirty="0">
                          <a:effectLst/>
                          <a:latin typeface="Aharoni" panose="02010803020104030203" pitchFamily="2" charset="-79"/>
                          <a:cs typeface="Aharoni" panose="02010803020104030203" pitchFamily="2" charset="-79"/>
                        </a:rPr>
                        <a:t>a  d o g </a:t>
                      </a:r>
                      <a:r>
                        <a:rPr lang="en-US" sz="1400" dirty="0">
                          <a:solidFill>
                            <a:schemeClr val="accent6"/>
                          </a:solidFill>
                          <a:effectLst/>
                          <a:latin typeface="Aharoni" panose="02010803020104030203" pitchFamily="2" charset="-79"/>
                          <a:cs typeface="Aharoni" panose="02010803020104030203" pitchFamily="2" charset="-79"/>
                        </a:rPr>
                        <a:t>&lt;</a:t>
                      </a:r>
                      <a:r>
                        <a:rPr lang="en-US" sz="1400" dirty="0" err="1">
                          <a:solidFill>
                            <a:schemeClr val="accent6"/>
                          </a:solidFill>
                          <a:effectLst/>
                          <a:latin typeface="Aharoni" panose="02010803020104030203" pitchFamily="2" charset="-79"/>
                          <a:cs typeface="Aharoni" panose="02010803020104030203" pitchFamily="2" charset="-79"/>
                        </a:rPr>
                        <a:t>eos</a:t>
                      </a:r>
                      <a:r>
                        <a:rPr lang="en-US" sz="1400" dirty="0">
                          <a:solidFill>
                            <a:schemeClr val="accent6"/>
                          </a:solidFill>
                          <a:effectLst/>
                          <a:latin typeface="Aharoni" panose="02010803020104030203" pitchFamily="2" charset="-79"/>
                          <a:cs typeface="Aharoni" panose="02010803020104030203" pitchFamily="2" charset="-79"/>
                        </a:rPr>
                        <a:t>&gt;</a:t>
                      </a:r>
                      <a:endParaRPr lang="en-US" sz="1400" b="0" i="0" dirty="0">
                        <a:solidFill>
                          <a:schemeClr val="accent6"/>
                        </a:solidFill>
                        <a:effectLst/>
                        <a:latin typeface="Aharoni" panose="02010803020104030203" pitchFamily="2" charset="-79"/>
                        <a:cs typeface="Aharoni" panose="02010803020104030203" pitchFamily="2" charset="-79"/>
                      </a:endParaRPr>
                    </a:p>
                  </a:txBody>
                  <a:tcPr anchor="ctr"/>
                </a:tc>
                <a:extLst>
                  <a:ext uri="{0D108BD9-81ED-4DB2-BD59-A6C34878D82A}">
                    <a16:rowId xmlns:a16="http://schemas.microsoft.com/office/drawing/2014/main" val="1001785345"/>
                  </a:ext>
                </a:extLst>
              </a:tr>
              <a:tr h="0">
                <a:tc>
                  <a:txBody>
                    <a:bodyPr/>
                    <a:lstStyle/>
                    <a:p>
                      <a:pPr algn="l">
                        <a:buNone/>
                      </a:pPr>
                      <a:r>
                        <a:rPr lang="en-US" sz="1400" dirty="0">
                          <a:effectLst/>
                          <a:latin typeface="Aharoni" panose="02010803020104030203" pitchFamily="2" charset="-79"/>
                          <a:cs typeface="Aharoni" panose="02010803020104030203" pitchFamily="2" charset="-79"/>
                        </a:rPr>
                        <a:t>B</a:t>
                      </a:r>
                      <a:endParaRPr lang="en-US" sz="1400" b="0" i="0" dirty="0">
                        <a:solidFill>
                          <a:srgbClr val="000000"/>
                        </a:solidFill>
                        <a:effectLst/>
                        <a:latin typeface="Aharoni" panose="02010803020104030203" pitchFamily="2" charset="-79"/>
                        <a:cs typeface="Aharoni" panose="02010803020104030203" pitchFamily="2" charset="-79"/>
                      </a:endParaRPr>
                    </a:p>
                  </a:txBody>
                  <a:tcPr anchor="ctr"/>
                </a:tc>
                <a:tc>
                  <a:txBody>
                    <a:bodyPr/>
                    <a:lstStyle/>
                    <a:p>
                      <a:pPr algn="l">
                        <a:buNone/>
                      </a:pPr>
                      <a:r>
                        <a:rPr lang="en-US" sz="1400" dirty="0">
                          <a:effectLst/>
                          <a:latin typeface="Aharoni" panose="02010803020104030203" pitchFamily="2" charset="-79"/>
                          <a:cs typeface="Aharoni" panose="02010803020104030203" pitchFamily="2" charset="-79"/>
                        </a:rPr>
                        <a:t>two cats</a:t>
                      </a:r>
                      <a:endParaRPr lang="en-US" sz="1400" b="0" i="0" dirty="0">
                        <a:solidFill>
                          <a:srgbClr val="000000"/>
                        </a:solidFill>
                        <a:effectLst/>
                        <a:latin typeface="Aharoni" panose="02010803020104030203" pitchFamily="2" charset="-79"/>
                        <a:cs typeface="Aharoni" panose="02010803020104030203" pitchFamily="2" charset="-79"/>
                      </a:endParaRPr>
                    </a:p>
                  </a:txBody>
                  <a:tcPr anchor="ctr"/>
                </a:tc>
                <a:tc>
                  <a:txBody>
                    <a:bodyPr/>
                    <a:lstStyle/>
                    <a:p>
                      <a:pPr algn="l">
                        <a:buNone/>
                      </a:pPr>
                      <a:r>
                        <a:rPr lang="en-US" sz="1400" dirty="0">
                          <a:solidFill>
                            <a:schemeClr val="accent6"/>
                          </a:solidFill>
                          <a:effectLst/>
                          <a:latin typeface="Aharoni" panose="02010803020104030203" pitchFamily="2" charset="-79"/>
                          <a:cs typeface="Aharoni" panose="02010803020104030203" pitchFamily="2" charset="-79"/>
                        </a:rPr>
                        <a:t>&lt;</a:t>
                      </a:r>
                      <a:r>
                        <a:rPr lang="en-US" sz="1400" dirty="0" err="1">
                          <a:solidFill>
                            <a:schemeClr val="accent6"/>
                          </a:solidFill>
                          <a:effectLst/>
                          <a:latin typeface="Aharoni" panose="02010803020104030203" pitchFamily="2" charset="-79"/>
                          <a:cs typeface="Aharoni" panose="02010803020104030203" pitchFamily="2" charset="-79"/>
                        </a:rPr>
                        <a:t>bos</a:t>
                      </a:r>
                      <a:r>
                        <a:rPr lang="en-US" sz="1400" dirty="0">
                          <a:solidFill>
                            <a:schemeClr val="accent6"/>
                          </a:solidFill>
                          <a:effectLst/>
                          <a:latin typeface="Aharoni" panose="02010803020104030203" pitchFamily="2" charset="-79"/>
                          <a:cs typeface="Aharoni" panose="02010803020104030203" pitchFamily="2" charset="-79"/>
                        </a:rPr>
                        <a:t>&gt; </a:t>
                      </a:r>
                      <a:r>
                        <a:rPr lang="en-US" sz="1400" dirty="0">
                          <a:effectLst/>
                          <a:latin typeface="Aharoni" panose="02010803020104030203" pitchFamily="2" charset="-79"/>
                          <a:cs typeface="Aharoni" panose="02010803020104030203" pitchFamily="2" charset="-79"/>
                        </a:rPr>
                        <a:t>t w o c a t s </a:t>
                      </a:r>
                      <a:r>
                        <a:rPr lang="en-US" sz="1400" dirty="0">
                          <a:solidFill>
                            <a:schemeClr val="accent6"/>
                          </a:solidFill>
                          <a:effectLst/>
                          <a:latin typeface="Aharoni" panose="02010803020104030203" pitchFamily="2" charset="-79"/>
                          <a:cs typeface="Aharoni" panose="02010803020104030203" pitchFamily="2" charset="-79"/>
                        </a:rPr>
                        <a:t>&lt;</a:t>
                      </a:r>
                      <a:r>
                        <a:rPr lang="en-US" sz="1400" dirty="0" err="1">
                          <a:solidFill>
                            <a:schemeClr val="accent6"/>
                          </a:solidFill>
                          <a:effectLst/>
                          <a:latin typeface="Aharoni" panose="02010803020104030203" pitchFamily="2" charset="-79"/>
                          <a:cs typeface="Aharoni" panose="02010803020104030203" pitchFamily="2" charset="-79"/>
                        </a:rPr>
                        <a:t>eos</a:t>
                      </a:r>
                      <a:r>
                        <a:rPr lang="en-US" sz="1400" dirty="0">
                          <a:solidFill>
                            <a:schemeClr val="accent6"/>
                          </a:solidFill>
                          <a:effectLst/>
                          <a:latin typeface="Aharoni" panose="02010803020104030203" pitchFamily="2" charset="-79"/>
                          <a:cs typeface="Aharoni" panose="02010803020104030203" pitchFamily="2" charset="-79"/>
                        </a:rPr>
                        <a:t>&gt;</a:t>
                      </a:r>
                      <a:endParaRPr lang="en-US" sz="1400" b="0" i="0" dirty="0">
                        <a:solidFill>
                          <a:schemeClr val="accent6"/>
                        </a:solidFill>
                        <a:effectLst/>
                        <a:latin typeface="Aharoni" panose="02010803020104030203" pitchFamily="2" charset="-79"/>
                        <a:cs typeface="Aharoni" panose="02010803020104030203" pitchFamily="2" charset="-79"/>
                      </a:endParaRPr>
                    </a:p>
                  </a:txBody>
                  <a:tcPr anchor="ctr"/>
                </a:tc>
                <a:tc>
                  <a:txBody>
                    <a:bodyPr/>
                    <a:lstStyle/>
                    <a:p>
                      <a:pPr algn="l">
                        <a:buNone/>
                      </a:pPr>
                      <a:r>
                        <a:rPr lang="en-US" sz="1400" dirty="0">
                          <a:solidFill>
                            <a:schemeClr val="accent6"/>
                          </a:solidFill>
                          <a:effectLst/>
                          <a:latin typeface="Aharoni" panose="02010803020104030203" pitchFamily="2" charset="-79"/>
                          <a:cs typeface="Aharoni" panose="02010803020104030203" pitchFamily="2" charset="-79"/>
                        </a:rPr>
                        <a:t>&lt;</a:t>
                      </a:r>
                      <a:r>
                        <a:rPr lang="en-US" sz="1400" dirty="0" err="1">
                          <a:solidFill>
                            <a:schemeClr val="accent6"/>
                          </a:solidFill>
                          <a:effectLst/>
                          <a:latin typeface="Aharoni" panose="02010803020104030203" pitchFamily="2" charset="-79"/>
                          <a:cs typeface="Aharoni" panose="02010803020104030203" pitchFamily="2" charset="-79"/>
                        </a:rPr>
                        <a:t>bos</a:t>
                      </a:r>
                      <a:r>
                        <a:rPr lang="en-US" sz="1400" dirty="0">
                          <a:solidFill>
                            <a:schemeClr val="accent6"/>
                          </a:solidFill>
                          <a:effectLst/>
                          <a:latin typeface="Aharoni" panose="02010803020104030203" pitchFamily="2" charset="-79"/>
                          <a:cs typeface="Aharoni" panose="02010803020104030203" pitchFamily="2" charset="-79"/>
                        </a:rPr>
                        <a:t>&gt; </a:t>
                      </a:r>
                      <a:r>
                        <a:rPr lang="en-US" sz="1400" dirty="0">
                          <a:effectLst/>
                          <a:latin typeface="Aharoni" panose="02010803020104030203" pitchFamily="2" charset="-79"/>
                          <a:cs typeface="Aharoni" panose="02010803020104030203" pitchFamily="2" charset="-79"/>
                        </a:rPr>
                        <a:t>t w o c a t s </a:t>
                      </a:r>
                      <a:r>
                        <a:rPr lang="en-US" sz="1400" dirty="0">
                          <a:solidFill>
                            <a:schemeClr val="accent6"/>
                          </a:solidFill>
                          <a:effectLst/>
                          <a:latin typeface="Aharoni" panose="02010803020104030203" pitchFamily="2" charset="-79"/>
                          <a:cs typeface="Aharoni" panose="02010803020104030203" pitchFamily="2" charset="-79"/>
                        </a:rPr>
                        <a:t>&lt;</a:t>
                      </a:r>
                      <a:r>
                        <a:rPr lang="en-US" sz="1400" dirty="0" err="1">
                          <a:solidFill>
                            <a:schemeClr val="accent6"/>
                          </a:solidFill>
                          <a:effectLst/>
                          <a:latin typeface="Aharoni" panose="02010803020104030203" pitchFamily="2" charset="-79"/>
                          <a:cs typeface="Aharoni" panose="02010803020104030203" pitchFamily="2" charset="-79"/>
                        </a:rPr>
                        <a:t>eos</a:t>
                      </a:r>
                      <a:r>
                        <a:rPr lang="en-US" sz="1400" dirty="0">
                          <a:solidFill>
                            <a:schemeClr val="accent6"/>
                          </a:solidFill>
                          <a:effectLst/>
                          <a:latin typeface="Aharoni" panose="02010803020104030203" pitchFamily="2" charset="-79"/>
                          <a:cs typeface="Aharoni" panose="02010803020104030203" pitchFamily="2" charset="-79"/>
                        </a:rPr>
                        <a:t>&gt;</a:t>
                      </a:r>
                      <a:endParaRPr lang="en-US" sz="1400" b="0" i="0" dirty="0">
                        <a:solidFill>
                          <a:schemeClr val="accent6"/>
                        </a:solidFill>
                        <a:effectLst/>
                        <a:latin typeface="Aharoni" panose="02010803020104030203" pitchFamily="2" charset="-79"/>
                        <a:cs typeface="Aharoni" panose="02010803020104030203" pitchFamily="2" charset="-79"/>
                      </a:endParaRPr>
                    </a:p>
                  </a:txBody>
                  <a:tcPr anchor="ctr"/>
                </a:tc>
                <a:tc>
                  <a:txBody>
                    <a:bodyPr/>
                    <a:lstStyle/>
                    <a:p>
                      <a:pPr algn="l">
                        <a:buNone/>
                      </a:pPr>
                      <a:r>
                        <a:rPr lang="en-US" sz="1400" dirty="0">
                          <a:effectLst/>
                          <a:latin typeface="Aharoni" panose="02010803020104030203" pitchFamily="2" charset="-79"/>
                          <a:cs typeface="Aharoni" panose="02010803020104030203" pitchFamily="2" charset="-79"/>
                        </a:rPr>
                        <a:t>t w o c a t s </a:t>
                      </a:r>
                      <a:r>
                        <a:rPr lang="en-US" sz="1400" dirty="0">
                          <a:solidFill>
                            <a:schemeClr val="accent6"/>
                          </a:solidFill>
                          <a:effectLst/>
                          <a:latin typeface="Aharoni" panose="02010803020104030203" pitchFamily="2" charset="-79"/>
                          <a:cs typeface="Aharoni" panose="02010803020104030203" pitchFamily="2" charset="-79"/>
                        </a:rPr>
                        <a:t>&lt;</a:t>
                      </a:r>
                      <a:r>
                        <a:rPr lang="en-US" sz="1400" dirty="0" err="1">
                          <a:solidFill>
                            <a:schemeClr val="accent6"/>
                          </a:solidFill>
                          <a:effectLst/>
                          <a:latin typeface="Aharoni" panose="02010803020104030203" pitchFamily="2" charset="-79"/>
                          <a:cs typeface="Aharoni" panose="02010803020104030203" pitchFamily="2" charset="-79"/>
                        </a:rPr>
                        <a:t>eos</a:t>
                      </a:r>
                      <a:r>
                        <a:rPr lang="en-US" sz="1400" dirty="0">
                          <a:solidFill>
                            <a:schemeClr val="accent6"/>
                          </a:solidFill>
                          <a:effectLst/>
                          <a:latin typeface="Aharoni" panose="02010803020104030203" pitchFamily="2" charset="-79"/>
                          <a:cs typeface="Aharoni" panose="02010803020104030203" pitchFamily="2" charset="-79"/>
                        </a:rPr>
                        <a:t>&gt;</a:t>
                      </a:r>
                      <a:endParaRPr lang="en-US" sz="1400" b="0" i="0" dirty="0">
                        <a:solidFill>
                          <a:schemeClr val="accent6"/>
                        </a:solidFill>
                        <a:effectLst/>
                        <a:latin typeface="Aharoni" panose="02010803020104030203" pitchFamily="2" charset="-79"/>
                        <a:cs typeface="Aharoni" panose="02010803020104030203" pitchFamily="2" charset="-79"/>
                      </a:endParaRPr>
                    </a:p>
                  </a:txBody>
                  <a:tcPr anchor="ctr"/>
                </a:tc>
                <a:extLst>
                  <a:ext uri="{0D108BD9-81ED-4DB2-BD59-A6C34878D82A}">
                    <a16:rowId xmlns:a16="http://schemas.microsoft.com/office/drawing/2014/main" val="4235828779"/>
                  </a:ext>
                </a:extLst>
              </a:tr>
            </a:tbl>
          </a:graphicData>
        </a:graphic>
      </p:graphicFrame>
      <p:pic>
        <p:nvPicPr>
          <p:cNvPr id="13" name="Picture 12">
            <a:extLst>
              <a:ext uri="{FF2B5EF4-FFF2-40B4-BE49-F238E27FC236}">
                <a16:creationId xmlns:a16="http://schemas.microsoft.com/office/drawing/2014/main" id="{5CEBBCD6-8DD2-2C7A-7D8E-C169EBA6FD91}"/>
              </a:ext>
            </a:extLst>
          </p:cNvPr>
          <p:cNvPicPr>
            <a:picLocks noChangeAspect="1"/>
          </p:cNvPicPr>
          <p:nvPr/>
        </p:nvPicPr>
        <p:blipFill>
          <a:blip r:embed="rId2"/>
          <a:stretch>
            <a:fillRect/>
          </a:stretch>
        </p:blipFill>
        <p:spPr>
          <a:xfrm>
            <a:off x="2584938" y="3859955"/>
            <a:ext cx="6277708" cy="15713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B17C25-2EF0-11A2-9603-1DA8BE613439}"/>
              </a:ext>
            </a:extLst>
          </p:cNvPr>
          <p:cNvSpPr txBox="1"/>
          <p:nvPr/>
        </p:nvSpPr>
        <p:spPr>
          <a:xfrm>
            <a:off x="346725" y="743560"/>
            <a:ext cx="6909860" cy="553998"/>
          </a:xfrm>
          <a:prstGeom prst="rect">
            <a:avLst/>
          </a:prstGeom>
          <a:noFill/>
        </p:spPr>
        <p:txBody>
          <a:bodyPr wrap="square">
            <a:spAutoFit/>
          </a:bodyPr>
          <a:lstStyle/>
          <a:p>
            <a:pPr algn="l"/>
            <a:r>
              <a:rPr lang="en-US" sz="3000" b="1" i="0" dirty="0">
                <a:solidFill>
                  <a:srgbClr val="21295C"/>
                </a:solidFill>
                <a:latin typeface="Aharoni"/>
              </a:rPr>
              <a:t>Configuration parameters : projector</a:t>
            </a:r>
          </a:p>
        </p:txBody>
      </p:sp>
      <p:graphicFrame>
        <p:nvGraphicFramePr>
          <p:cNvPr id="4" name="Table 3">
            <a:extLst>
              <a:ext uri="{FF2B5EF4-FFF2-40B4-BE49-F238E27FC236}">
                <a16:creationId xmlns:a16="http://schemas.microsoft.com/office/drawing/2014/main" id="{FB54D0DA-067B-33DB-E71D-D3A4512C3649}"/>
              </a:ext>
            </a:extLst>
          </p:cNvPr>
          <p:cNvGraphicFramePr>
            <a:graphicFrameLocks noGrp="1"/>
          </p:cNvGraphicFramePr>
          <p:nvPr>
            <p:extLst>
              <p:ext uri="{D42A27DB-BD31-4B8C-83A1-F6EECF244321}">
                <p14:modId xmlns:p14="http://schemas.microsoft.com/office/powerpoint/2010/main" val="2120382705"/>
              </p:ext>
            </p:extLst>
          </p:nvPr>
        </p:nvGraphicFramePr>
        <p:xfrm>
          <a:off x="550985" y="1547446"/>
          <a:ext cx="11394830" cy="5019495"/>
        </p:xfrm>
        <a:graphic>
          <a:graphicData uri="http://schemas.openxmlformats.org/drawingml/2006/table">
            <a:tbl>
              <a:tblPr>
                <a:tableStyleId>{5C22544A-7EE6-4342-B048-85BDC9FD1C3A}</a:tableStyleId>
              </a:tblPr>
              <a:tblGrid>
                <a:gridCol w="2712538">
                  <a:extLst>
                    <a:ext uri="{9D8B030D-6E8A-4147-A177-3AD203B41FA5}">
                      <a16:colId xmlns:a16="http://schemas.microsoft.com/office/drawing/2014/main" val="3851136990"/>
                    </a:ext>
                  </a:extLst>
                </a:gridCol>
                <a:gridCol w="8682292">
                  <a:extLst>
                    <a:ext uri="{9D8B030D-6E8A-4147-A177-3AD203B41FA5}">
                      <a16:colId xmlns:a16="http://schemas.microsoft.com/office/drawing/2014/main" val="1554705646"/>
                    </a:ext>
                  </a:extLst>
                </a:gridCol>
              </a:tblGrid>
              <a:tr h="162849">
                <a:tc>
                  <a:txBody>
                    <a:bodyPr/>
                    <a:lstStyle/>
                    <a:p>
                      <a:pPr>
                        <a:buNone/>
                      </a:pPr>
                      <a:r>
                        <a:rPr lang="en-US" sz="1600">
                          <a:latin typeface="Aharoni" panose="02010803020104030203" pitchFamily="2" charset="-79"/>
                          <a:cs typeface="Aharoni" panose="02010803020104030203" pitchFamily="2" charset="-79"/>
                        </a:rPr>
                        <a:t>Field</a:t>
                      </a:r>
                    </a:p>
                  </a:txBody>
                  <a:tcPr marL="40053" marR="40053" marT="20026" marB="20026" anchor="ctr"/>
                </a:tc>
                <a:tc>
                  <a:txBody>
                    <a:bodyPr/>
                    <a:lstStyle/>
                    <a:p>
                      <a:pPr>
                        <a:buNone/>
                      </a:pPr>
                      <a:r>
                        <a:rPr lang="en-US" sz="1600">
                          <a:latin typeface="Aharoni" panose="02010803020104030203" pitchFamily="2" charset="-79"/>
                          <a:cs typeface="Aharoni" panose="02010803020104030203" pitchFamily="2" charset="-79"/>
                        </a:rPr>
                        <a:t>Meaning</a:t>
                      </a:r>
                    </a:p>
                  </a:txBody>
                  <a:tcPr marL="40053" marR="40053" marT="20026" marB="20026" anchor="ctr"/>
                </a:tc>
                <a:extLst>
                  <a:ext uri="{0D108BD9-81ED-4DB2-BD59-A6C34878D82A}">
                    <a16:rowId xmlns:a16="http://schemas.microsoft.com/office/drawing/2014/main" val="3836964921"/>
                  </a:ext>
                </a:extLst>
              </a:tr>
              <a:tr h="402697">
                <a:tc>
                  <a:txBody>
                    <a:bodyPr/>
                    <a:lstStyle/>
                    <a:p>
                      <a:pPr>
                        <a:buNone/>
                      </a:pPr>
                      <a:r>
                        <a:rPr lang="en-US" sz="1600">
                          <a:latin typeface="Aharoni" panose="02010803020104030203" pitchFamily="2" charset="-79"/>
                          <a:cs typeface="Aharoni" panose="02010803020104030203" pitchFamily="2" charset="-79"/>
                        </a:rPr>
                        <a:t>freeze_decoder</a:t>
                      </a:r>
                    </a:p>
                  </a:txBody>
                  <a:tcPr marL="40053" marR="40053" marT="20026" marB="20026" anchor="ctr"/>
                </a:tc>
                <a:tc>
                  <a:txBody>
                    <a:bodyPr/>
                    <a:lstStyle/>
                    <a:p>
                      <a:pPr>
                        <a:buNone/>
                      </a:pPr>
                      <a:r>
                        <a:rPr lang="en-US" sz="1600" dirty="0">
                          <a:latin typeface="Aharoni" panose="02010803020104030203" pitchFamily="2" charset="-79"/>
                          <a:cs typeface="Aharoni" panose="02010803020104030203" pitchFamily="2" charset="-79"/>
                        </a:rPr>
                        <a:t>false = decoder trains too (the default); </a:t>
                      </a:r>
                    </a:p>
                  </a:txBody>
                  <a:tcPr marL="40053" marR="40053" marT="20026" marB="20026" anchor="ctr"/>
                </a:tc>
                <a:extLst>
                  <a:ext uri="{0D108BD9-81ED-4DB2-BD59-A6C34878D82A}">
                    <a16:rowId xmlns:a16="http://schemas.microsoft.com/office/drawing/2014/main" val="3909819705"/>
                  </a:ext>
                </a:extLst>
              </a:tr>
              <a:tr h="162849">
                <a:tc>
                  <a:txBody>
                    <a:bodyPr/>
                    <a:lstStyle/>
                    <a:p>
                      <a:pPr>
                        <a:buNone/>
                      </a:pPr>
                      <a:r>
                        <a:rPr lang="en-US" sz="1600">
                          <a:latin typeface="Aharoni" panose="02010803020104030203" pitchFamily="2" charset="-79"/>
                          <a:cs typeface="Aharoni" panose="02010803020104030203" pitchFamily="2" charset="-79"/>
                        </a:rPr>
                        <a:t>batch_size</a:t>
                      </a:r>
                    </a:p>
                  </a:txBody>
                  <a:tcPr marL="40053" marR="40053" marT="20026" marB="20026" anchor="ctr"/>
                </a:tc>
                <a:tc>
                  <a:txBody>
                    <a:bodyPr/>
                    <a:lstStyle/>
                    <a:p>
                      <a:pPr>
                        <a:buNone/>
                      </a:pPr>
                      <a:r>
                        <a:rPr lang="en-US" sz="1600">
                          <a:latin typeface="Aharoni" panose="02010803020104030203" pitchFamily="2" charset="-79"/>
                          <a:cs typeface="Aharoni" panose="02010803020104030203" pitchFamily="2" charset="-79"/>
                        </a:rPr>
                        <a:t>Images per gradient step (16)</a:t>
                      </a:r>
                    </a:p>
                  </a:txBody>
                  <a:tcPr marL="40053" marR="40053" marT="20026" marB="20026" anchor="ctr"/>
                </a:tc>
                <a:extLst>
                  <a:ext uri="{0D108BD9-81ED-4DB2-BD59-A6C34878D82A}">
                    <a16:rowId xmlns:a16="http://schemas.microsoft.com/office/drawing/2014/main" val="4085379328"/>
                  </a:ext>
                </a:extLst>
              </a:tr>
              <a:tr h="523505">
                <a:tc>
                  <a:txBody>
                    <a:bodyPr/>
                    <a:lstStyle/>
                    <a:p>
                      <a:pPr>
                        <a:buNone/>
                      </a:pPr>
                      <a:r>
                        <a:rPr lang="en-US" sz="1600">
                          <a:latin typeface="Aharoni" panose="02010803020104030203" pitchFamily="2" charset="-79"/>
                          <a:cs typeface="Aharoni" panose="02010803020104030203" pitchFamily="2" charset="-79"/>
                        </a:rPr>
                        <a:t>epochs / max_iters</a:t>
                      </a:r>
                    </a:p>
                  </a:txBody>
                  <a:tcPr marL="40053" marR="40053" marT="20026" marB="20026" anchor="ctr"/>
                </a:tc>
                <a:tc>
                  <a:txBody>
                    <a:bodyPr/>
                    <a:lstStyle/>
                    <a:p>
                      <a:pPr>
                        <a:buNone/>
                      </a:pPr>
                      <a:r>
                        <a:rPr lang="en-US" sz="1600" dirty="0" err="1">
                          <a:latin typeface="Aharoni" panose="02010803020104030203" pitchFamily="2" charset="-79"/>
                          <a:cs typeface="Aharoni" panose="02010803020104030203" pitchFamily="2" charset="-79"/>
                        </a:rPr>
                        <a:t>max_iters</a:t>
                      </a:r>
                      <a:r>
                        <a:rPr lang="en-US" sz="1600" dirty="0">
                          <a:latin typeface="Aharoni" panose="02010803020104030203" pitchFamily="2" charset="-79"/>
                          <a:cs typeface="Aharoni" panose="02010803020104030203" pitchFamily="2" charset="-79"/>
                        </a:rPr>
                        <a:t> is what actually stops the run (350); </a:t>
                      </a:r>
                    </a:p>
                  </a:txBody>
                  <a:tcPr marL="40053" marR="40053" marT="20026" marB="20026" anchor="ctr"/>
                </a:tc>
                <a:extLst>
                  <a:ext uri="{0D108BD9-81ED-4DB2-BD59-A6C34878D82A}">
                    <a16:rowId xmlns:a16="http://schemas.microsoft.com/office/drawing/2014/main" val="806361766"/>
                  </a:ext>
                </a:extLst>
              </a:tr>
              <a:tr h="162849">
                <a:tc>
                  <a:txBody>
                    <a:bodyPr/>
                    <a:lstStyle/>
                    <a:p>
                      <a:pPr>
                        <a:buNone/>
                      </a:pPr>
                      <a:r>
                        <a:rPr lang="en-US" sz="1600">
                          <a:latin typeface="Aharoni" panose="02010803020104030203" pitchFamily="2" charset="-79"/>
                          <a:cs typeface="Aharoni" panose="02010803020104030203" pitchFamily="2" charset="-79"/>
                        </a:rPr>
                        <a:t>lr</a:t>
                      </a:r>
                    </a:p>
                  </a:txBody>
                  <a:tcPr marL="40053" marR="40053" marT="20026" marB="20026" anchor="ctr"/>
                </a:tc>
                <a:tc>
                  <a:txBody>
                    <a:bodyPr/>
                    <a:lstStyle/>
                    <a:p>
                      <a:pPr>
                        <a:buNone/>
                      </a:pPr>
                      <a:r>
                        <a:rPr lang="en-US" sz="1600">
                          <a:latin typeface="Aharoni" panose="02010803020104030203" pitchFamily="2" charset="-79"/>
                          <a:cs typeface="Aharoni" panose="02010803020104030203" pitchFamily="2" charset="-79"/>
                        </a:rPr>
                        <a:t>Peak learning rate for AdamW</a:t>
                      </a:r>
                    </a:p>
                  </a:txBody>
                  <a:tcPr marL="40053" marR="40053" marT="20026" marB="20026" anchor="ctr"/>
                </a:tc>
                <a:extLst>
                  <a:ext uri="{0D108BD9-81ED-4DB2-BD59-A6C34878D82A}">
                    <a16:rowId xmlns:a16="http://schemas.microsoft.com/office/drawing/2014/main" val="3663704061"/>
                  </a:ext>
                </a:extLst>
              </a:tr>
              <a:tr h="162849">
                <a:tc>
                  <a:txBody>
                    <a:bodyPr/>
                    <a:lstStyle/>
                    <a:p>
                      <a:pPr>
                        <a:buNone/>
                      </a:pPr>
                      <a:r>
                        <a:rPr lang="en-US" sz="1600">
                          <a:latin typeface="Aharoni" panose="02010803020104030203" pitchFamily="2" charset="-79"/>
                          <a:cs typeface="Aharoni" panose="02010803020104030203" pitchFamily="2" charset="-79"/>
                        </a:rPr>
                        <a:t>weight_decay</a:t>
                      </a:r>
                    </a:p>
                  </a:txBody>
                  <a:tcPr marL="40053" marR="40053" marT="20026" marB="20026" anchor="ctr"/>
                </a:tc>
                <a:tc>
                  <a:txBody>
                    <a:bodyPr/>
                    <a:lstStyle/>
                    <a:p>
                      <a:pPr>
                        <a:buNone/>
                      </a:pPr>
                      <a:r>
                        <a:rPr lang="en-US" sz="1600">
                          <a:latin typeface="Aharoni" panose="02010803020104030203" pitchFamily="2" charset="-79"/>
                          <a:cs typeface="Aharoni" panose="02010803020104030203" pitchFamily="2" charset="-79"/>
                        </a:rPr>
                        <a:t>AdamW's L2-like regularization strength</a:t>
                      </a:r>
                    </a:p>
                  </a:txBody>
                  <a:tcPr marL="40053" marR="40053" marT="20026" marB="20026" anchor="ctr"/>
                </a:tc>
                <a:extLst>
                  <a:ext uri="{0D108BD9-81ED-4DB2-BD59-A6C34878D82A}">
                    <a16:rowId xmlns:a16="http://schemas.microsoft.com/office/drawing/2014/main" val="392481716"/>
                  </a:ext>
                </a:extLst>
              </a:tr>
              <a:tr h="281887">
                <a:tc>
                  <a:txBody>
                    <a:bodyPr/>
                    <a:lstStyle/>
                    <a:p>
                      <a:pPr>
                        <a:buNone/>
                      </a:pPr>
                      <a:r>
                        <a:rPr lang="en-US" sz="1600">
                          <a:latin typeface="Aharoni" panose="02010803020104030203" pitchFamily="2" charset="-79"/>
                          <a:cs typeface="Aharoni" panose="02010803020104030203" pitchFamily="2" charset="-79"/>
                        </a:rPr>
                        <a:t>grad_clip</a:t>
                      </a:r>
                    </a:p>
                  </a:txBody>
                  <a:tcPr marL="40053" marR="40053" marT="20026" marB="20026" anchor="ctr"/>
                </a:tc>
                <a:tc>
                  <a:txBody>
                    <a:bodyPr/>
                    <a:lstStyle/>
                    <a:p>
                      <a:pPr>
                        <a:buNone/>
                      </a:pPr>
                      <a:r>
                        <a:rPr lang="en-US" sz="1600" dirty="0">
                          <a:latin typeface="Aharoni" panose="02010803020104030203" pitchFamily="2" charset="-79"/>
                          <a:cs typeface="Aharoni" panose="02010803020104030203" pitchFamily="2" charset="-79"/>
                        </a:rPr>
                        <a:t>Max gradient norm before clipping, for stability</a:t>
                      </a:r>
                    </a:p>
                  </a:txBody>
                  <a:tcPr marL="40053" marR="40053" marT="20026" marB="20026" anchor="ctr"/>
                </a:tc>
                <a:extLst>
                  <a:ext uri="{0D108BD9-81ED-4DB2-BD59-A6C34878D82A}">
                    <a16:rowId xmlns:a16="http://schemas.microsoft.com/office/drawing/2014/main" val="4134095635"/>
                  </a:ext>
                </a:extLst>
              </a:tr>
              <a:tr h="281887">
                <a:tc>
                  <a:txBody>
                    <a:bodyPr/>
                    <a:lstStyle/>
                    <a:p>
                      <a:pPr>
                        <a:buNone/>
                      </a:pPr>
                      <a:r>
                        <a:rPr lang="en-US" sz="1600">
                          <a:latin typeface="Aharoni" panose="02010803020104030203" pitchFamily="2" charset="-79"/>
                          <a:cs typeface="Aharoni" panose="02010803020104030203" pitchFamily="2" charset="-79"/>
                        </a:rPr>
                        <a:t>warmup_iters</a:t>
                      </a:r>
                    </a:p>
                  </a:txBody>
                  <a:tcPr marL="40053" marR="40053" marT="20026" marB="20026" anchor="ctr"/>
                </a:tc>
                <a:tc>
                  <a:txBody>
                    <a:bodyPr/>
                    <a:lstStyle/>
                    <a:p>
                      <a:pPr>
                        <a:buNone/>
                      </a:pPr>
                      <a:r>
                        <a:rPr lang="en-US" sz="1600">
                          <a:latin typeface="Aharoni" panose="02010803020104030203" pitchFamily="2" charset="-79"/>
                          <a:cs typeface="Aharoni" panose="02010803020104030203" pitchFamily="2" charset="-79"/>
                        </a:rPr>
                        <a:t>Steps over which lr ramps up linearly before the cosine decay (see get_lr())</a:t>
                      </a:r>
                    </a:p>
                  </a:txBody>
                  <a:tcPr marL="40053" marR="40053" marT="20026" marB="20026" anchor="ctr"/>
                </a:tc>
                <a:extLst>
                  <a:ext uri="{0D108BD9-81ED-4DB2-BD59-A6C34878D82A}">
                    <a16:rowId xmlns:a16="http://schemas.microsoft.com/office/drawing/2014/main" val="2783600535"/>
                  </a:ext>
                </a:extLst>
              </a:tr>
              <a:tr h="162849">
                <a:tc>
                  <a:txBody>
                    <a:bodyPr/>
                    <a:lstStyle/>
                    <a:p>
                      <a:pPr>
                        <a:buNone/>
                      </a:pPr>
                      <a:r>
                        <a:rPr lang="en-US" sz="1600">
                          <a:latin typeface="Aharoni" panose="02010803020104030203" pitchFamily="2" charset="-79"/>
                          <a:cs typeface="Aharoni" panose="02010803020104030203" pitchFamily="2" charset="-79"/>
                        </a:rPr>
                        <a:t>log_every</a:t>
                      </a:r>
                    </a:p>
                  </a:txBody>
                  <a:tcPr marL="40053" marR="40053" marT="20026" marB="20026" anchor="ctr"/>
                </a:tc>
                <a:tc>
                  <a:txBody>
                    <a:bodyPr/>
                    <a:lstStyle/>
                    <a:p>
                      <a:pPr>
                        <a:buNone/>
                      </a:pPr>
                      <a:r>
                        <a:rPr lang="en-US" sz="1600">
                          <a:latin typeface="Aharoni" panose="02010803020104030203" pitchFamily="2" charset="-79"/>
                          <a:cs typeface="Aharoni" panose="02010803020104030203" pitchFamily="2" charset="-79"/>
                        </a:rPr>
                        <a:t>How often to print/log a training-loss row</a:t>
                      </a:r>
                    </a:p>
                  </a:txBody>
                  <a:tcPr marL="40053" marR="40053" marT="20026" marB="20026" anchor="ctr"/>
                </a:tc>
                <a:extLst>
                  <a:ext uri="{0D108BD9-81ED-4DB2-BD59-A6C34878D82A}">
                    <a16:rowId xmlns:a16="http://schemas.microsoft.com/office/drawing/2014/main" val="1030927353"/>
                  </a:ext>
                </a:extLst>
              </a:tr>
              <a:tr h="281887">
                <a:tc>
                  <a:txBody>
                    <a:bodyPr/>
                    <a:lstStyle/>
                    <a:p>
                      <a:pPr>
                        <a:buNone/>
                      </a:pPr>
                      <a:r>
                        <a:rPr lang="en-US" sz="1600">
                          <a:latin typeface="Aharoni" panose="02010803020104030203" pitchFamily="2" charset="-79"/>
                          <a:cs typeface="Aharoni" panose="02010803020104030203" pitchFamily="2" charset="-79"/>
                        </a:rPr>
                        <a:t>eval_every</a:t>
                      </a:r>
                    </a:p>
                  </a:txBody>
                  <a:tcPr marL="40053" marR="40053" marT="20026" marB="20026" anchor="ctr"/>
                </a:tc>
                <a:tc>
                  <a:txBody>
                    <a:bodyPr/>
                    <a:lstStyle/>
                    <a:p>
                      <a:pPr>
                        <a:buNone/>
                      </a:pPr>
                      <a:r>
                        <a:rPr lang="en-US" sz="1600">
                          <a:latin typeface="Aharoni" panose="02010803020104030203" pitchFamily="2" charset="-79"/>
                          <a:cs typeface="Aharoni" panose="02010803020104030203" pitchFamily="2" charset="-79"/>
                        </a:rPr>
                        <a:t>How often to run validation and possibly save best.pt</a:t>
                      </a:r>
                    </a:p>
                  </a:txBody>
                  <a:tcPr marL="40053" marR="40053" marT="20026" marB="20026" anchor="ctr"/>
                </a:tc>
                <a:extLst>
                  <a:ext uri="{0D108BD9-81ED-4DB2-BD59-A6C34878D82A}">
                    <a16:rowId xmlns:a16="http://schemas.microsoft.com/office/drawing/2014/main" val="3459492171"/>
                  </a:ext>
                </a:extLst>
              </a:tr>
              <a:tr h="281887">
                <a:tc>
                  <a:txBody>
                    <a:bodyPr/>
                    <a:lstStyle/>
                    <a:p>
                      <a:pPr>
                        <a:buNone/>
                      </a:pPr>
                      <a:r>
                        <a:rPr lang="en-US" sz="1600">
                          <a:latin typeface="Aharoni" panose="02010803020104030203" pitchFamily="2" charset="-79"/>
                          <a:cs typeface="Aharoni" panose="02010803020104030203" pitchFamily="2" charset="-79"/>
                        </a:rPr>
                        <a:t>ckpt_every</a:t>
                      </a:r>
                    </a:p>
                  </a:txBody>
                  <a:tcPr marL="40053" marR="40053" marT="20026" marB="20026" anchor="ctr"/>
                </a:tc>
                <a:tc>
                  <a:txBody>
                    <a:bodyPr/>
                    <a:lstStyle/>
                    <a:p>
                      <a:pPr>
                        <a:buNone/>
                      </a:pPr>
                      <a:r>
                        <a:rPr lang="en-US" sz="1600" dirty="0">
                          <a:latin typeface="Aharoni" panose="02010803020104030203" pitchFamily="2" charset="-79"/>
                          <a:cs typeface="Aharoni" panose="02010803020104030203" pitchFamily="2" charset="-79"/>
                        </a:rPr>
                        <a:t>How often to save a numbered checkpoint + </a:t>
                      </a:r>
                      <a:r>
                        <a:rPr lang="en-US" sz="1600" dirty="0" err="1">
                          <a:latin typeface="Aharoni" panose="02010803020104030203" pitchFamily="2" charset="-79"/>
                          <a:cs typeface="Aharoni" panose="02010803020104030203" pitchFamily="2" charset="-79"/>
                        </a:rPr>
                        <a:t>last.pt</a:t>
                      </a:r>
                      <a:endParaRPr lang="en-US" sz="1600" dirty="0">
                        <a:latin typeface="Aharoni" panose="02010803020104030203" pitchFamily="2" charset="-79"/>
                        <a:cs typeface="Aharoni" panose="02010803020104030203" pitchFamily="2" charset="-79"/>
                      </a:endParaRPr>
                    </a:p>
                  </a:txBody>
                  <a:tcPr marL="40053" marR="40053" marT="20026" marB="20026" anchor="ctr"/>
                </a:tc>
                <a:extLst>
                  <a:ext uri="{0D108BD9-81ED-4DB2-BD59-A6C34878D82A}">
                    <a16:rowId xmlns:a16="http://schemas.microsoft.com/office/drawing/2014/main" val="156337291"/>
                  </a:ext>
                </a:extLst>
              </a:tr>
              <a:tr h="162849">
                <a:tc>
                  <a:txBody>
                    <a:bodyPr/>
                    <a:lstStyle/>
                    <a:p>
                      <a:pPr>
                        <a:buNone/>
                      </a:pPr>
                      <a:r>
                        <a:rPr lang="en-US" sz="1600">
                          <a:latin typeface="Aharoni" panose="02010803020104030203" pitchFamily="2" charset="-79"/>
                          <a:cs typeface="Aharoni" panose="02010803020104030203" pitchFamily="2" charset="-79"/>
                        </a:rPr>
                        <a:t>out_dir</a:t>
                      </a:r>
                    </a:p>
                  </a:txBody>
                  <a:tcPr marL="40053" marR="40053" marT="20026" marB="20026" anchor="ctr"/>
                </a:tc>
                <a:tc>
                  <a:txBody>
                    <a:bodyPr/>
                    <a:lstStyle/>
                    <a:p>
                      <a:pPr>
                        <a:buNone/>
                      </a:pPr>
                      <a:r>
                        <a:rPr lang="en-US" sz="1600">
                          <a:latin typeface="Aharoni" panose="02010803020104030203" pitchFamily="2" charset="-79"/>
                          <a:cs typeface="Aharoni" panose="02010803020104030203" pitchFamily="2" charset="-79"/>
                        </a:rPr>
                        <a:t>Where checkpoints go</a:t>
                      </a:r>
                    </a:p>
                  </a:txBody>
                  <a:tcPr marL="40053" marR="40053" marT="20026" marB="20026" anchor="ctr"/>
                </a:tc>
                <a:extLst>
                  <a:ext uri="{0D108BD9-81ED-4DB2-BD59-A6C34878D82A}">
                    <a16:rowId xmlns:a16="http://schemas.microsoft.com/office/drawing/2014/main" val="1107528885"/>
                  </a:ext>
                </a:extLst>
              </a:tr>
              <a:tr h="402697">
                <a:tc>
                  <a:txBody>
                    <a:bodyPr/>
                    <a:lstStyle/>
                    <a:p>
                      <a:pPr>
                        <a:buNone/>
                      </a:pPr>
                      <a:r>
                        <a:rPr lang="en-US" sz="1600">
                          <a:latin typeface="Aharoni" panose="02010803020104030203" pitchFamily="2" charset="-79"/>
                          <a:cs typeface="Aharoni" panose="02010803020104030203" pitchFamily="2" charset="-79"/>
                        </a:rPr>
                        <a:t>metrics_csv</a:t>
                      </a:r>
                    </a:p>
                  </a:txBody>
                  <a:tcPr marL="40053" marR="40053" marT="20026" marB="20026" anchor="ctr"/>
                </a:tc>
                <a:tc>
                  <a:txBody>
                    <a:bodyPr/>
                    <a:lstStyle/>
                    <a:p>
                      <a:pPr>
                        <a:buNone/>
                      </a:pPr>
                      <a:r>
                        <a:rPr lang="en-US" sz="1600">
                          <a:latin typeface="Aharoni" panose="02010803020104030203" pitchFamily="2" charset="-79"/>
                          <a:cs typeface="Aharoni" panose="02010803020104030203" pitchFamily="2" charset="-79"/>
                        </a:rPr>
                        <a:t>Where the CSV visualize.py reads gets written; blank = &lt;out_dir&gt;/metrics.csv</a:t>
                      </a:r>
                    </a:p>
                  </a:txBody>
                  <a:tcPr marL="40053" marR="40053" marT="20026" marB="20026" anchor="ctr"/>
                </a:tc>
                <a:extLst>
                  <a:ext uri="{0D108BD9-81ED-4DB2-BD59-A6C34878D82A}">
                    <a16:rowId xmlns:a16="http://schemas.microsoft.com/office/drawing/2014/main" val="1356886916"/>
                  </a:ext>
                </a:extLst>
              </a:tr>
              <a:tr h="162849">
                <a:tc>
                  <a:txBody>
                    <a:bodyPr/>
                    <a:lstStyle/>
                    <a:p>
                      <a:pPr>
                        <a:buNone/>
                      </a:pPr>
                      <a:r>
                        <a:rPr lang="en-US" sz="1600">
                          <a:latin typeface="Aharoni" panose="02010803020104030203" pitchFamily="2" charset="-79"/>
                          <a:cs typeface="Aharoni" panose="02010803020104030203" pitchFamily="2" charset="-79"/>
                        </a:rPr>
                        <a:t>device</a:t>
                      </a:r>
                    </a:p>
                  </a:txBody>
                  <a:tcPr marL="40053" marR="40053" marT="20026" marB="20026" anchor="ctr"/>
                </a:tc>
                <a:tc>
                  <a:txBody>
                    <a:bodyPr/>
                    <a:lstStyle/>
                    <a:p>
                      <a:pPr>
                        <a:buNone/>
                      </a:pPr>
                      <a:r>
                        <a:rPr lang="en-US" sz="1600">
                          <a:latin typeface="Aharoni" panose="02010803020104030203" pitchFamily="2" charset="-79"/>
                          <a:cs typeface="Aharoni" panose="02010803020104030203" pitchFamily="2" charset="-79"/>
                        </a:rPr>
                        <a:t>auto picks cuda &gt; mps &gt; cpu</a:t>
                      </a:r>
                    </a:p>
                  </a:txBody>
                  <a:tcPr marL="40053" marR="40053" marT="20026" marB="20026" anchor="ctr"/>
                </a:tc>
                <a:extLst>
                  <a:ext uri="{0D108BD9-81ED-4DB2-BD59-A6C34878D82A}">
                    <a16:rowId xmlns:a16="http://schemas.microsoft.com/office/drawing/2014/main" val="1462446413"/>
                  </a:ext>
                </a:extLst>
              </a:tr>
              <a:tr h="281887">
                <a:tc>
                  <a:txBody>
                    <a:bodyPr/>
                    <a:lstStyle/>
                    <a:p>
                      <a:pPr>
                        <a:buNone/>
                      </a:pPr>
                      <a:r>
                        <a:rPr lang="en-US" sz="1600">
                          <a:latin typeface="Aharoni" panose="02010803020104030203" pitchFamily="2" charset="-79"/>
                          <a:cs typeface="Aharoni" panose="02010803020104030203" pitchFamily="2" charset="-79"/>
                        </a:rPr>
                        <a:t>dtype</a:t>
                      </a:r>
                    </a:p>
                  </a:txBody>
                  <a:tcPr marL="40053" marR="40053" marT="20026" marB="20026" anchor="ctr"/>
                </a:tc>
                <a:tc>
                  <a:txBody>
                    <a:bodyPr/>
                    <a:lstStyle/>
                    <a:p>
                      <a:pPr>
                        <a:buNone/>
                      </a:pPr>
                      <a:r>
                        <a:rPr lang="en-US" sz="1600">
                          <a:latin typeface="Aharoni" panose="02010803020104030203" pitchFamily="2" charset="-79"/>
                          <a:cs typeface="Aharoni" panose="02010803020104030203" pitchFamily="2" charset="-79"/>
                        </a:rPr>
                        <a:t>Documented but not currently switched on (training always runs in float32)</a:t>
                      </a:r>
                    </a:p>
                  </a:txBody>
                  <a:tcPr marL="40053" marR="40053" marT="20026" marB="20026" anchor="ctr"/>
                </a:tc>
                <a:extLst>
                  <a:ext uri="{0D108BD9-81ED-4DB2-BD59-A6C34878D82A}">
                    <a16:rowId xmlns:a16="http://schemas.microsoft.com/office/drawing/2014/main" val="1574791070"/>
                  </a:ext>
                </a:extLst>
              </a:tr>
              <a:tr h="281887">
                <a:tc>
                  <a:txBody>
                    <a:bodyPr/>
                    <a:lstStyle/>
                    <a:p>
                      <a:pPr>
                        <a:buNone/>
                      </a:pPr>
                      <a:r>
                        <a:rPr lang="en-US" sz="1600">
                          <a:latin typeface="Aharoni" panose="02010803020104030203" pitchFamily="2" charset="-79"/>
                          <a:cs typeface="Aharoni" panose="02010803020104030203" pitchFamily="2" charset="-79"/>
                        </a:rPr>
                        <a:t>num_workers</a:t>
                      </a:r>
                    </a:p>
                  </a:txBody>
                  <a:tcPr marL="40053" marR="40053" marT="20026" marB="20026" anchor="ctr"/>
                </a:tc>
                <a:tc>
                  <a:txBody>
                    <a:bodyPr/>
                    <a:lstStyle/>
                    <a:p>
                      <a:pPr>
                        <a:buNone/>
                      </a:pPr>
                      <a:r>
                        <a:rPr lang="en-US" sz="1600" dirty="0" err="1">
                          <a:latin typeface="Aharoni" panose="02010803020104030203" pitchFamily="2" charset="-79"/>
                          <a:cs typeface="Aharoni" panose="02010803020104030203" pitchFamily="2" charset="-79"/>
                        </a:rPr>
                        <a:t>DataLoader</a:t>
                      </a:r>
                      <a:r>
                        <a:rPr lang="en-US" sz="1600" dirty="0">
                          <a:latin typeface="Aharoni" panose="02010803020104030203" pitchFamily="2" charset="-79"/>
                          <a:cs typeface="Aharoni" panose="02010803020104030203" pitchFamily="2" charset="-79"/>
                        </a:rPr>
                        <a:t> worker processes for image loading</a:t>
                      </a:r>
                    </a:p>
                  </a:txBody>
                  <a:tcPr marL="40053" marR="40053" marT="20026" marB="20026" anchor="ctr"/>
                </a:tc>
                <a:extLst>
                  <a:ext uri="{0D108BD9-81ED-4DB2-BD59-A6C34878D82A}">
                    <a16:rowId xmlns:a16="http://schemas.microsoft.com/office/drawing/2014/main" val="1989187452"/>
                  </a:ext>
                </a:extLst>
              </a:tr>
            </a:tbl>
          </a:graphicData>
        </a:graphic>
      </p:graphicFrame>
    </p:spTree>
    <p:extLst>
      <p:ext uri="{BB962C8B-B14F-4D97-AF65-F5344CB8AC3E}">
        <p14:creationId xmlns:p14="http://schemas.microsoft.com/office/powerpoint/2010/main" val="1110696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93ED8-E23B-1566-8473-919130186F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C1E43A-4508-B149-09F3-01B55816CE54}"/>
              </a:ext>
            </a:extLst>
          </p:cNvPr>
          <p:cNvSpPr txBox="1"/>
          <p:nvPr/>
        </p:nvSpPr>
        <p:spPr>
          <a:xfrm>
            <a:off x="346725" y="743560"/>
            <a:ext cx="6909860" cy="553998"/>
          </a:xfrm>
          <a:prstGeom prst="rect">
            <a:avLst/>
          </a:prstGeom>
          <a:noFill/>
        </p:spPr>
        <p:txBody>
          <a:bodyPr wrap="square">
            <a:spAutoFit/>
          </a:bodyPr>
          <a:lstStyle/>
          <a:p>
            <a:pPr algn="l"/>
            <a:r>
              <a:rPr lang="en-US" sz="3000" b="1" i="0" dirty="0">
                <a:solidFill>
                  <a:srgbClr val="21295C"/>
                </a:solidFill>
                <a:latin typeface="Aharoni"/>
              </a:rPr>
              <a:t>Configuration parameters : decoder</a:t>
            </a:r>
          </a:p>
        </p:txBody>
      </p:sp>
      <p:graphicFrame>
        <p:nvGraphicFramePr>
          <p:cNvPr id="3" name="Table 2">
            <a:extLst>
              <a:ext uri="{FF2B5EF4-FFF2-40B4-BE49-F238E27FC236}">
                <a16:creationId xmlns:a16="http://schemas.microsoft.com/office/drawing/2014/main" id="{74B5103C-607A-8936-418F-801D08C0F41E}"/>
              </a:ext>
            </a:extLst>
          </p:cNvPr>
          <p:cNvGraphicFramePr>
            <a:graphicFrameLocks noGrp="1"/>
          </p:cNvGraphicFramePr>
          <p:nvPr/>
        </p:nvGraphicFramePr>
        <p:xfrm>
          <a:off x="527538" y="1600199"/>
          <a:ext cx="11195540" cy="4741867"/>
        </p:xfrm>
        <a:graphic>
          <a:graphicData uri="http://schemas.openxmlformats.org/drawingml/2006/table">
            <a:tbl>
              <a:tblPr>
                <a:tableStyleId>{5C22544A-7EE6-4342-B048-85BDC9FD1C3A}</a:tableStyleId>
              </a:tblPr>
              <a:tblGrid>
                <a:gridCol w="1969477">
                  <a:extLst>
                    <a:ext uri="{9D8B030D-6E8A-4147-A177-3AD203B41FA5}">
                      <a16:colId xmlns:a16="http://schemas.microsoft.com/office/drawing/2014/main" val="2294412908"/>
                    </a:ext>
                  </a:extLst>
                </a:gridCol>
                <a:gridCol w="9226063">
                  <a:extLst>
                    <a:ext uri="{9D8B030D-6E8A-4147-A177-3AD203B41FA5}">
                      <a16:colId xmlns:a16="http://schemas.microsoft.com/office/drawing/2014/main" val="4123027975"/>
                    </a:ext>
                  </a:extLst>
                </a:gridCol>
              </a:tblGrid>
              <a:tr h="229163">
                <a:tc>
                  <a:txBody>
                    <a:bodyPr/>
                    <a:lstStyle/>
                    <a:p>
                      <a:pPr>
                        <a:buNone/>
                      </a:pPr>
                      <a:r>
                        <a:rPr lang="en-US" sz="1600" dirty="0">
                          <a:latin typeface="Aharoni" panose="02010803020104030203" pitchFamily="2" charset="-79"/>
                          <a:cs typeface="Aharoni" panose="02010803020104030203" pitchFamily="2" charset="-79"/>
                        </a:rPr>
                        <a:t>Field</a:t>
                      </a:r>
                    </a:p>
                  </a:txBody>
                  <a:tcPr marL="57291" marR="57291" marT="28645" marB="28645" anchor="ctr"/>
                </a:tc>
                <a:tc>
                  <a:txBody>
                    <a:bodyPr/>
                    <a:lstStyle/>
                    <a:p>
                      <a:pPr>
                        <a:buNone/>
                      </a:pPr>
                      <a:r>
                        <a:rPr lang="en-US" sz="1600">
                          <a:latin typeface="Aharoni" panose="02010803020104030203" pitchFamily="2" charset="-79"/>
                          <a:cs typeface="Aharoni" panose="02010803020104030203" pitchFamily="2" charset="-79"/>
                        </a:rPr>
                        <a:t>Meaning</a:t>
                      </a:r>
                    </a:p>
                  </a:txBody>
                  <a:tcPr marL="57291" marR="57291" marT="28645" marB="28645" anchor="ctr"/>
                </a:tc>
                <a:extLst>
                  <a:ext uri="{0D108BD9-81ED-4DB2-BD59-A6C34878D82A}">
                    <a16:rowId xmlns:a16="http://schemas.microsoft.com/office/drawing/2014/main" val="2134470573"/>
                  </a:ext>
                </a:extLst>
              </a:tr>
              <a:tr h="229163">
                <a:tc>
                  <a:txBody>
                    <a:bodyPr/>
                    <a:lstStyle/>
                    <a:p>
                      <a:pPr>
                        <a:buNone/>
                      </a:pPr>
                      <a:r>
                        <a:rPr lang="en-US" sz="1600">
                          <a:latin typeface="Aharoni" panose="02010803020104030203" pitchFamily="2" charset="-79"/>
                          <a:cs typeface="Aharoni" panose="02010803020104030203" pitchFamily="2" charset="-79"/>
                        </a:rPr>
                        <a:t>dim</a:t>
                      </a:r>
                    </a:p>
                  </a:txBody>
                  <a:tcPr marL="57291" marR="57291" marT="28645" marB="28645" anchor="ctr"/>
                </a:tc>
                <a:tc>
                  <a:txBody>
                    <a:bodyPr/>
                    <a:lstStyle/>
                    <a:p>
                      <a:pPr>
                        <a:buNone/>
                      </a:pPr>
                      <a:r>
                        <a:rPr lang="en-US" sz="1600">
                          <a:latin typeface="Aharoni" panose="02010803020104030203" pitchFamily="2" charset="-79"/>
                          <a:cs typeface="Aharoni" panose="02010803020104030203" pitchFamily="2" charset="-79"/>
                        </a:rPr>
                        <a:t>Embedding/hidden dimension (288)</a:t>
                      </a:r>
                    </a:p>
                  </a:txBody>
                  <a:tcPr marL="57291" marR="57291" marT="28645" marB="28645" anchor="ctr"/>
                </a:tc>
                <a:extLst>
                  <a:ext uri="{0D108BD9-81ED-4DB2-BD59-A6C34878D82A}">
                    <a16:rowId xmlns:a16="http://schemas.microsoft.com/office/drawing/2014/main" val="2803262690"/>
                  </a:ext>
                </a:extLst>
              </a:tr>
              <a:tr h="229163">
                <a:tc>
                  <a:txBody>
                    <a:bodyPr/>
                    <a:lstStyle/>
                    <a:p>
                      <a:pPr>
                        <a:buNone/>
                      </a:pPr>
                      <a:r>
                        <a:rPr lang="en-US" sz="1600">
                          <a:latin typeface="Aharoni" panose="02010803020104030203" pitchFamily="2" charset="-79"/>
                          <a:cs typeface="Aharoni" panose="02010803020104030203" pitchFamily="2" charset="-79"/>
                        </a:rPr>
                        <a:t>n_layers</a:t>
                      </a:r>
                    </a:p>
                  </a:txBody>
                  <a:tcPr marL="57291" marR="57291" marT="28645" marB="28645" anchor="ctr"/>
                </a:tc>
                <a:tc>
                  <a:txBody>
                    <a:bodyPr/>
                    <a:lstStyle/>
                    <a:p>
                      <a:pPr>
                        <a:buNone/>
                      </a:pPr>
                      <a:r>
                        <a:rPr lang="en-US" sz="1600">
                          <a:latin typeface="Aharoni" panose="02010803020104030203" pitchFamily="2" charset="-79"/>
                          <a:cs typeface="Aharoni" panose="02010803020104030203" pitchFamily="2" charset="-79"/>
                        </a:rPr>
                        <a:t>Transformer blocks stacked (6)</a:t>
                      </a:r>
                    </a:p>
                  </a:txBody>
                  <a:tcPr marL="57291" marR="57291" marT="28645" marB="28645" anchor="ctr"/>
                </a:tc>
                <a:extLst>
                  <a:ext uri="{0D108BD9-81ED-4DB2-BD59-A6C34878D82A}">
                    <a16:rowId xmlns:a16="http://schemas.microsoft.com/office/drawing/2014/main" val="2930109813"/>
                  </a:ext>
                </a:extLst>
              </a:tr>
              <a:tr h="744779">
                <a:tc>
                  <a:txBody>
                    <a:bodyPr/>
                    <a:lstStyle/>
                    <a:p>
                      <a:pPr>
                        <a:buNone/>
                      </a:pPr>
                      <a:r>
                        <a:rPr lang="en-US" sz="1600">
                          <a:latin typeface="Aharoni" panose="02010803020104030203" pitchFamily="2" charset="-79"/>
                          <a:cs typeface="Aharoni" panose="02010803020104030203" pitchFamily="2" charset="-79"/>
                        </a:rPr>
                        <a:t>n_heads / n_kv_heads</a:t>
                      </a:r>
                    </a:p>
                  </a:txBody>
                  <a:tcPr marL="57291" marR="57291" marT="28645" marB="28645" anchor="ctr"/>
                </a:tc>
                <a:tc>
                  <a:txBody>
                    <a:bodyPr/>
                    <a:lstStyle/>
                    <a:p>
                      <a:pPr>
                        <a:buNone/>
                      </a:pPr>
                      <a:r>
                        <a:rPr lang="en-US" sz="1600">
                          <a:latin typeface="Aharoni" panose="02010803020104030203" pitchFamily="2" charset="-79"/>
                          <a:cs typeface="Aharoni" panose="02010803020104030203" pitchFamily="2" charset="-79"/>
                        </a:rPr>
                        <a:t>Attention heads; equal here means ordinary multi-head attention (grouped-query attention only kicks in if n_kv_heads &lt; n_heads)</a:t>
                      </a:r>
                    </a:p>
                  </a:txBody>
                  <a:tcPr marL="57291" marR="57291" marT="28645" marB="28645" anchor="ctr"/>
                </a:tc>
                <a:extLst>
                  <a:ext uri="{0D108BD9-81ED-4DB2-BD59-A6C34878D82A}">
                    <a16:rowId xmlns:a16="http://schemas.microsoft.com/office/drawing/2014/main" val="2275770394"/>
                  </a:ext>
                </a:extLst>
              </a:tr>
              <a:tr h="401035">
                <a:tc>
                  <a:txBody>
                    <a:bodyPr/>
                    <a:lstStyle/>
                    <a:p>
                      <a:pPr>
                        <a:buNone/>
                      </a:pPr>
                      <a:r>
                        <a:rPr lang="en-US" sz="1600">
                          <a:latin typeface="Aharoni" panose="02010803020104030203" pitchFamily="2" charset="-79"/>
                          <a:cs typeface="Aharoni" panose="02010803020104030203" pitchFamily="2" charset="-79"/>
                        </a:rPr>
                        <a:t>max_seq_len</a:t>
                      </a:r>
                    </a:p>
                  </a:txBody>
                  <a:tcPr marL="57291" marR="57291" marT="28645" marB="28645" anchor="ctr"/>
                </a:tc>
                <a:tc>
                  <a:txBody>
                    <a:bodyPr/>
                    <a:lstStyle/>
                    <a:p>
                      <a:pPr>
                        <a:buNone/>
                      </a:pPr>
                      <a:r>
                        <a:rPr lang="en-US" sz="1600">
                          <a:latin typeface="Aharoni" panose="02010803020104030203" pitchFamily="2" charset="-79"/>
                          <a:cs typeface="Aharoni" panose="02010803020104030203" pitchFamily="2" charset="-79"/>
                        </a:rPr>
                        <a:t>Longest sequence the rotary position embeddings are precomputed for</a:t>
                      </a:r>
                    </a:p>
                  </a:txBody>
                  <a:tcPr marL="57291" marR="57291" marT="28645" marB="28645" anchor="ctr"/>
                </a:tc>
                <a:extLst>
                  <a:ext uri="{0D108BD9-81ED-4DB2-BD59-A6C34878D82A}">
                    <a16:rowId xmlns:a16="http://schemas.microsoft.com/office/drawing/2014/main" val="3363186893"/>
                  </a:ext>
                </a:extLst>
              </a:tr>
              <a:tr h="572907">
                <a:tc>
                  <a:txBody>
                    <a:bodyPr/>
                    <a:lstStyle/>
                    <a:p>
                      <a:pPr>
                        <a:buNone/>
                      </a:pPr>
                      <a:r>
                        <a:rPr lang="en-US" sz="1600">
                          <a:latin typeface="Aharoni" panose="02010803020104030203" pitchFamily="2" charset="-79"/>
                          <a:cs typeface="Aharoni" panose="02010803020104030203" pitchFamily="2" charset="-79"/>
                        </a:rPr>
                        <a:t>multiple_of</a:t>
                      </a:r>
                    </a:p>
                  </a:txBody>
                  <a:tcPr marL="57291" marR="57291" marT="28645" marB="28645" anchor="ctr"/>
                </a:tc>
                <a:tc>
                  <a:txBody>
                    <a:bodyPr/>
                    <a:lstStyle/>
                    <a:p>
                      <a:pPr>
                        <a:buNone/>
                      </a:pPr>
                      <a:r>
                        <a:rPr lang="en-US" sz="1600">
                          <a:latin typeface="Aharoni" panose="02010803020104030203" pitchFamily="2" charset="-79"/>
                          <a:cs typeface="Aharoni" panose="02010803020104030203" pitchFamily="2" charset="-79"/>
                        </a:rPr>
                        <a:t>Rounds the SwiGLU MLP's hidden size up to a multiple of this, matching llama2.c's convention</a:t>
                      </a:r>
                    </a:p>
                  </a:txBody>
                  <a:tcPr marL="57291" marR="57291" marT="28645" marB="28645" anchor="ctr"/>
                </a:tc>
                <a:extLst>
                  <a:ext uri="{0D108BD9-81ED-4DB2-BD59-A6C34878D82A}">
                    <a16:rowId xmlns:a16="http://schemas.microsoft.com/office/drawing/2014/main" val="1554594663"/>
                  </a:ext>
                </a:extLst>
              </a:tr>
              <a:tr h="401035">
                <a:tc>
                  <a:txBody>
                    <a:bodyPr/>
                    <a:lstStyle/>
                    <a:p>
                      <a:pPr>
                        <a:buNone/>
                      </a:pPr>
                      <a:r>
                        <a:rPr lang="en-US" sz="1600">
                          <a:latin typeface="Aharoni" panose="02010803020104030203" pitchFamily="2" charset="-79"/>
                          <a:cs typeface="Aharoni" panose="02010803020104030203" pitchFamily="2" charset="-79"/>
                        </a:rPr>
                        <a:t>dropout</a:t>
                      </a:r>
                    </a:p>
                  </a:txBody>
                  <a:tcPr marL="57291" marR="57291" marT="28645" marB="28645" anchor="ctr"/>
                </a:tc>
                <a:tc>
                  <a:txBody>
                    <a:bodyPr/>
                    <a:lstStyle/>
                    <a:p>
                      <a:pPr>
                        <a:buNone/>
                      </a:pPr>
                      <a:r>
                        <a:rPr lang="en-US" sz="1600">
                          <a:latin typeface="Aharoni" panose="02010803020104030203" pitchFamily="2" charset="-79"/>
                          <a:cs typeface="Aharoni" panose="02010803020104030203" pitchFamily="2" charset="-79"/>
                        </a:rPr>
                        <a:t>0 here — no regularization needed at this scale/step count</a:t>
                      </a:r>
                    </a:p>
                  </a:txBody>
                  <a:tcPr marL="57291" marR="57291" marT="28645" marB="28645" anchor="ctr"/>
                </a:tc>
                <a:extLst>
                  <a:ext uri="{0D108BD9-81ED-4DB2-BD59-A6C34878D82A}">
                    <a16:rowId xmlns:a16="http://schemas.microsoft.com/office/drawing/2014/main" val="1693010395"/>
                  </a:ext>
                </a:extLst>
              </a:tr>
              <a:tr h="572907">
                <a:tc>
                  <a:txBody>
                    <a:bodyPr/>
                    <a:lstStyle/>
                    <a:p>
                      <a:pPr>
                        <a:buNone/>
                      </a:pPr>
                      <a:r>
                        <a:rPr lang="en-US" sz="1600">
                          <a:latin typeface="Aharoni" panose="02010803020104030203" pitchFamily="2" charset="-79"/>
                          <a:cs typeface="Aharoni" panose="02010803020104030203" pitchFamily="2" charset="-79"/>
                        </a:rPr>
                        <a:t>init_checkpoint</a:t>
                      </a:r>
                    </a:p>
                  </a:txBody>
                  <a:tcPr marL="57291" marR="57291" marT="28645" marB="28645" anchor="ctr"/>
                </a:tc>
                <a:tc>
                  <a:txBody>
                    <a:bodyPr/>
                    <a:lstStyle/>
                    <a:p>
                      <a:pPr>
                        <a:buNone/>
                      </a:pPr>
                      <a:r>
                        <a:rPr lang="en-US" sz="1600">
                          <a:latin typeface="Aharoni" panose="02010803020104030203" pitchFamily="2" charset="-79"/>
                          <a:cs typeface="Aharoni" panose="02010803020104030203" pitchFamily="2" charset="-79"/>
                        </a:rPr>
                        <a:t>Blank by default (random init); optionally a path to a llama2.c stories15M.bin for the opt-in comparison experiment</a:t>
                      </a:r>
                    </a:p>
                  </a:txBody>
                  <a:tcPr marL="57291" marR="57291" marT="28645" marB="28645" anchor="ctr"/>
                </a:tc>
                <a:extLst>
                  <a:ext uri="{0D108BD9-81ED-4DB2-BD59-A6C34878D82A}">
                    <a16:rowId xmlns:a16="http://schemas.microsoft.com/office/drawing/2014/main" val="222638969"/>
                  </a:ext>
                </a:extLst>
              </a:tr>
              <a:tr h="744779">
                <a:tc>
                  <a:txBody>
                    <a:bodyPr/>
                    <a:lstStyle/>
                    <a:p>
                      <a:pPr>
                        <a:buNone/>
                      </a:pPr>
                      <a:r>
                        <a:rPr lang="en-US" sz="1600">
                          <a:latin typeface="Aharoni" panose="02010803020104030203" pitchFamily="2" charset="-79"/>
                          <a:cs typeface="Aharoni" panose="02010803020104030203" pitchFamily="2" charset="-79"/>
                        </a:rPr>
                        <a:t>tokenizer</a:t>
                      </a:r>
                    </a:p>
                  </a:txBody>
                  <a:tcPr marL="57291" marR="57291" marT="28645" marB="28645" anchor="ctr"/>
                </a:tc>
                <a:tc>
                  <a:txBody>
                    <a:bodyPr/>
                    <a:lstStyle/>
                    <a:p>
                      <a:pPr>
                        <a:buNone/>
                      </a:pPr>
                      <a:r>
                        <a:rPr lang="en-US" sz="1600">
                          <a:latin typeface="Aharoni" panose="02010803020104030203" pitchFamily="2" charset="-79"/>
                          <a:cs typeface="Aharoni" panose="02010803020104030203" pitchFamily="2" charset="-79"/>
                        </a:rPr>
                        <a:t>Blank by default; optionally a SentencePiece tokenizer.model path, required if you use init_checkpoint</a:t>
                      </a:r>
                    </a:p>
                  </a:txBody>
                  <a:tcPr marL="57291" marR="57291" marT="28645" marB="28645" anchor="ctr"/>
                </a:tc>
                <a:extLst>
                  <a:ext uri="{0D108BD9-81ED-4DB2-BD59-A6C34878D82A}">
                    <a16:rowId xmlns:a16="http://schemas.microsoft.com/office/drawing/2014/main" val="3073119474"/>
                  </a:ext>
                </a:extLst>
              </a:tr>
              <a:tr h="401035">
                <a:tc>
                  <a:txBody>
                    <a:bodyPr/>
                    <a:lstStyle/>
                    <a:p>
                      <a:pPr>
                        <a:buNone/>
                      </a:pPr>
                      <a:r>
                        <a:rPr lang="en-US" sz="1600">
                          <a:latin typeface="Aharoni" panose="02010803020104030203" pitchFamily="2" charset="-79"/>
                          <a:cs typeface="Aharoni" panose="02010803020104030203" pitchFamily="2" charset="-79"/>
                        </a:rPr>
                        <a:t>fallback_tokenizer</a:t>
                      </a:r>
                    </a:p>
                  </a:txBody>
                  <a:tcPr marL="57291" marR="57291" marT="28645" marB="28645" anchor="ctr"/>
                </a:tc>
                <a:tc>
                  <a:txBody>
                    <a:bodyPr/>
                    <a:lstStyle/>
                    <a:p>
                      <a:pPr>
                        <a:buNone/>
                      </a:pPr>
                      <a:r>
                        <a:rPr lang="en-US" sz="1600" dirty="0">
                          <a:latin typeface="Aharoni" panose="02010803020104030203" pitchFamily="2" charset="-79"/>
                          <a:cs typeface="Aharoni" panose="02010803020104030203" pitchFamily="2" charset="-79"/>
                        </a:rPr>
                        <a:t>What to use when tokenizer is blank — the character-level tokenizer</a:t>
                      </a:r>
                    </a:p>
                  </a:txBody>
                  <a:tcPr marL="57291" marR="57291" marT="28645" marB="28645" anchor="ctr"/>
                </a:tc>
                <a:extLst>
                  <a:ext uri="{0D108BD9-81ED-4DB2-BD59-A6C34878D82A}">
                    <a16:rowId xmlns:a16="http://schemas.microsoft.com/office/drawing/2014/main" val="4118974124"/>
                  </a:ext>
                </a:extLst>
              </a:tr>
            </a:tbl>
          </a:graphicData>
        </a:graphic>
      </p:graphicFrame>
    </p:spTree>
    <p:extLst>
      <p:ext uri="{BB962C8B-B14F-4D97-AF65-F5344CB8AC3E}">
        <p14:creationId xmlns:p14="http://schemas.microsoft.com/office/powerpoint/2010/main" val="3966665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8229600" cy="320040"/>
          </a:xfrm>
          <a:prstGeom prst="rect">
            <a:avLst/>
          </a:prstGeom>
          <a:noFill/>
        </p:spPr>
        <p:txBody>
          <a:bodyPr wrap="square" anchor="ctr">
            <a:spAutoFit/>
          </a:bodyPr>
          <a:lstStyle/>
          <a:p>
            <a:pPr algn="l"/>
            <a:r>
              <a:rPr sz="1300" b="1" i="0">
                <a:solidFill>
                  <a:srgbClr val="F2A541"/>
                </a:solidFill>
                <a:latin typeface="Aharoni"/>
              </a:rPr>
              <a:t>STAGE 3  ·  FORWARD PASS</a:t>
            </a:r>
          </a:p>
        </p:txBody>
      </p:sp>
      <p:sp>
        <p:nvSpPr>
          <p:cNvPr id="3" name="TextBox 2"/>
          <p:cNvSpPr txBox="1"/>
          <p:nvPr/>
        </p:nvSpPr>
        <p:spPr>
          <a:xfrm>
            <a:off x="731520" y="914400"/>
            <a:ext cx="10700000" cy="822960"/>
          </a:xfrm>
          <a:prstGeom prst="rect">
            <a:avLst/>
          </a:prstGeom>
          <a:noFill/>
        </p:spPr>
        <p:txBody>
          <a:bodyPr wrap="square" anchor="ctr">
            <a:spAutoFit/>
          </a:bodyPr>
          <a:lstStyle/>
          <a:p>
            <a:pPr algn="l"/>
            <a:r>
              <a:rPr sz="3000" b="1" i="0">
                <a:solidFill>
                  <a:srgbClr val="21295C"/>
                </a:solidFill>
                <a:latin typeface="Aharoni"/>
              </a:rPr>
              <a:t>TinyVLM.forward(), line by line</a:t>
            </a:r>
          </a:p>
        </p:txBody>
      </p:sp>
      <p:sp>
        <p:nvSpPr>
          <p:cNvPr id="4" name="Rounded Rectangle 3"/>
          <p:cNvSpPr/>
          <p:nvPr/>
        </p:nvSpPr>
        <p:spPr>
          <a:xfrm>
            <a:off x="731520" y="1780000"/>
            <a:ext cx="9601200" cy="2450000"/>
          </a:xfrm>
          <a:prstGeom prst="roundRect">
            <a:avLst>
              <a:gd name="adj" fmla="val 3000"/>
            </a:avLst>
          </a:prstGeom>
          <a:solidFill>
            <a:srgbClr val="14182E"/>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r>
              <a:rPr sz="1400" dirty="0" err="1">
                <a:solidFill>
                  <a:srgbClr val="FFFFFF"/>
                </a:solidFill>
                <a:latin typeface="Consolas"/>
              </a:rPr>
              <a:t>img_feat</a:t>
            </a:r>
            <a:r>
              <a:rPr sz="1400" dirty="0">
                <a:solidFill>
                  <a:srgbClr val="FFFFFF"/>
                </a:solidFill>
                <a:latin typeface="Consolas"/>
              </a:rPr>
              <a:t>    = </a:t>
            </a:r>
            <a:r>
              <a:rPr sz="1400" dirty="0" err="1">
                <a:solidFill>
                  <a:srgbClr val="FFFFFF"/>
                </a:solidFill>
                <a:latin typeface="Consolas"/>
              </a:rPr>
              <a:t>clip_features</a:t>
            </a:r>
            <a:r>
              <a:rPr sz="1400" dirty="0">
                <a:solidFill>
                  <a:srgbClr val="FFFFFF"/>
                </a:solidFill>
                <a:latin typeface="Consolas"/>
              </a:rPr>
              <a:t> or </a:t>
            </a:r>
            <a:r>
              <a:rPr sz="1400" dirty="0" err="1">
                <a:solidFill>
                  <a:srgbClr val="FFFFFF"/>
                </a:solidFill>
                <a:latin typeface="Consolas"/>
              </a:rPr>
              <a:t>self.encode_image</a:t>
            </a:r>
            <a:r>
              <a:rPr sz="1400" dirty="0">
                <a:solidFill>
                  <a:srgbClr val="FFFFFF"/>
                </a:solidFill>
                <a:latin typeface="Consolas"/>
              </a:rPr>
              <a:t>(</a:t>
            </a:r>
            <a:r>
              <a:rPr sz="1400" dirty="0" err="1">
                <a:solidFill>
                  <a:srgbClr val="FFFFFF"/>
                </a:solidFill>
                <a:latin typeface="Consolas"/>
              </a:rPr>
              <a:t>pixel_values</a:t>
            </a:r>
            <a:r>
              <a:rPr sz="1400" dirty="0">
                <a:solidFill>
                  <a:srgbClr val="FFFFFF"/>
                </a:solidFill>
                <a:latin typeface="Consolas"/>
              </a:rPr>
              <a:t>)  # [B, 512]</a:t>
            </a:r>
          </a:p>
          <a:p>
            <a:r>
              <a:rPr sz="1400" dirty="0" err="1">
                <a:solidFill>
                  <a:srgbClr val="FFFFFF"/>
                </a:solidFill>
                <a:latin typeface="Consolas"/>
              </a:rPr>
              <a:t>visual_tok</a:t>
            </a:r>
            <a:r>
              <a:rPr sz="1400" dirty="0">
                <a:solidFill>
                  <a:srgbClr val="FFFFFF"/>
                </a:solidFill>
                <a:latin typeface="Consolas"/>
              </a:rPr>
              <a:t>  = </a:t>
            </a:r>
            <a:r>
              <a:rPr sz="1400" dirty="0" err="1">
                <a:solidFill>
                  <a:srgbClr val="FFFFFF"/>
                </a:solidFill>
                <a:latin typeface="Consolas"/>
              </a:rPr>
              <a:t>self.projector</a:t>
            </a:r>
            <a:r>
              <a:rPr sz="1400" dirty="0">
                <a:solidFill>
                  <a:srgbClr val="FFFFFF"/>
                </a:solidFill>
                <a:latin typeface="Consolas"/>
              </a:rPr>
              <a:t>(</a:t>
            </a:r>
            <a:r>
              <a:rPr sz="1400" dirty="0" err="1">
                <a:solidFill>
                  <a:srgbClr val="FFFFFF"/>
                </a:solidFill>
                <a:latin typeface="Consolas"/>
              </a:rPr>
              <a:t>img_feat</a:t>
            </a:r>
            <a:r>
              <a:rPr sz="1400" dirty="0">
                <a:solidFill>
                  <a:srgbClr val="FFFFFF"/>
                </a:solidFill>
                <a:latin typeface="Consolas"/>
              </a:rPr>
              <a:t>)                          # [B, 1, 288]</a:t>
            </a:r>
          </a:p>
          <a:p>
            <a:r>
              <a:rPr sz="1400" dirty="0" err="1">
                <a:solidFill>
                  <a:srgbClr val="FFFFFF"/>
                </a:solidFill>
                <a:latin typeface="Consolas"/>
              </a:rPr>
              <a:t>tok_embeds</a:t>
            </a:r>
            <a:r>
              <a:rPr sz="1400" dirty="0">
                <a:solidFill>
                  <a:srgbClr val="FFFFFF"/>
                </a:solidFill>
                <a:latin typeface="Consolas"/>
              </a:rPr>
              <a:t>  = </a:t>
            </a:r>
            <a:r>
              <a:rPr sz="1400" dirty="0" err="1">
                <a:solidFill>
                  <a:srgbClr val="FFFFFF"/>
                </a:solidFill>
                <a:latin typeface="Consolas"/>
              </a:rPr>
              <a:t>self.decoder.tok_embeddings</a:t>
            </a:r>
            <a:r>
              <a:rPr sz="1400" dirty="0">
                <a:solidFill>
                  <a:srgbClr val="FFFFFF"/>
                </a:solidFill>
                <a:latin typeface="Consolas"/>
              </a:rPr>
              <a:t>(</a:t>
            </a:r>
            <a:r>
              <a:rPr sz="1400" dirty="0" err="1">
                <a:solidFill>
                  <a:srgbClr val="FFFFFF"/>
                </a:solidFill>
                <a:latin typeface="Consolas"/>
              </a:rPr>
              <a:t>caption_ids</a:t>
            </a:r>
            <a:r>
              <a:rPr sz="1400" dirty="0">
                <a:solidFill>
                  <a:srgbClr val="FFFFFF"/>
                </a:solidFill>
                <a:latin typeface="Consolas"/>
              </a:rPr>
              <a:t>[:, :-1])  # [B, T-1, 288]</a:t>
            </a:r>
          </a:p>
          <a:p>
            <a:r>
              <a:rPr sz="1400" dirty="0">
                <a:solidFill>
                  <a:srgbClr val="FFFFFF"/>
                </a:solidFill>
                <a:latin typeface="Consolas"/>
              </a:rPr>
              <a:t>x           = cat([</a:t>
            </a:r>
            <a:r>
              <a:rPr sz="1400" dirty="0" err="1">
                <a:solidFill>
                  <a:srgbClr val="FFFFFF"/>
                </a:solidFill>
                <a:latin typeface="Consolas"/>
              </a:rPr>
              <a:t>visual_tok</a:t>
            </a:r>
            <a:r>
              <a:rPr sz="1400" dirty="0">
                <a:solidFill>
                  <a:srgbClr val="FFFFFF"/>
                </a:solidFill>
                <a:latin typeface="Consolas"/>
              </a:rPr>
              <a:t>, </a:t>
            </a:r>
            <a:r>
              <a:rPr sz="1400" dirty="0" err="1">
                <a:solidFill>
                  <a:srgbClr val="FFFFFF"/>
                </a:solidFill>
                <a:latin typeface="Consolas"/>
              </a:rPr>
              <a:t>tok_embeds</a:t>
            </a:r>
            <a:r>
              <a:rPr sz="1400" dirty="0">
                <a:solidFill>
                  <a:srgbClr val="FFFFFF"/>
                </a:solidFill>
                <a:latin typeface="Consolas"/>
              </a:rPr>
              <a:t>], dim=1)              # [B, T, 288]</a:t>
            </a:r>
          </a:p>
          <a:p>
            <a:r>
              <a:rPr sz="1400" dirty="0">
                <a:solidFill>
                  <a:srgbClr val="FFFFFF"/>
                </a:solidFill>
                <a:latin typeface="Consolas"/>
              </a:rPr>
              <a:t>logits      = </a:t>
            </a:r>
            <a:r>
              <a:rPr sz="1400" dirty="0" err="1">
                <a:solidFill>
                  <a:srgbClr val="FFFFFF"/>
                </a:solidFill>
                <a:latin typeface="Consolas"/>
              </a:rPr>
              <a:t>self.decoder</a:t>
            </a:r>
            <a:r>
              <a:rPr sz="1400" dirty="0">
                <a:solidFill>
                  <a:srgbClr val="FFFFFF"/>
                </a:solidFill>
                <a:latin typeface="Consolas"/>
              </a:rPr>
              <a:t>(x, </a:t>
            </a:r>
            <a:r>
              <a:rPr sz="1400" dirty="0" err="1">
                <a:solidFill>
                  <a:srgbClr val="FFFFFF"/>
                </a:solidFill>
                <a:latin typeface="Consolas"/>
              </a:rPr>
              <a:t>is_embeds</a:t>
            </a:r>
            <a:r>
              <a:rPr sz="1400" dirty="0">
                <a:solidFill>
                  <a:srgbClr val="FFFFFF"/>
                </a:solidFill>
                <a:latin typeface="Consolas"/>
              </a:rPr>
              <a:t>=True)                   # [B, T, V]</a:t>
            </a:r>
          </a:p>
          <a:p>
            <a:r>
              <a:rPr sz="1400" dirty="0">
                <a:solidFill>
                  <a:srgbClr val="FFFFFF"/>
                </a:solidFill>
                <a:latin typeface="Consolas"/>
              </a:rPr>
              <a:t>return logits[:, 1:, :]   # &lt;- aligned with </a:t>
            </a:r>
            <a:r>
              <a:rPr sz="1400" dirty="0" err="1">
                <a:solidFill>
                  <a:srgbClr val="FFFFFF"/>
                </a:solidFill>
                <a:latin typeface="Consolas"/>
              </a:rPr>
              <a:t>caption_ids</a:t>
            </a:r>
            <a:r>
              <a:rPr sz="1400" dirty="0">
                <a:solidFill>
                  <a:srgbClr val="FFFFFF"/>
                </a:solidFill>
                <a:latin typeface="Consolas"/>
              </a:rPr>
              <a:t>[:, 1:]; see next slide</a:t>
            </a:r>
          </a:p>
        </p:txBody>
      </p:sp>
      <p:sp>
        <p:nvSpPr>
          <p:cNvPr id="5" name="TextBox 4"/>
          <p:cNvSpPr txBox="1"/>
          <p:nvPr/>
        </p:nvSpPr>
        <p:spPr>
          <a:xfrm>
            <a:off x="731520" y="4592704"/>
            <a:ext cx="9601200" cy="614592"/>
          </a:xfrm>
          <a:prstGeom prst="rect">
            <a:avLst/>
          </a:prstGeom>
          <a:noFill/>
        </p:spPr>
        <p:txBody>
          <a:bodyPr wrap="square" anchor="ctr">
            <a:spAutoFit/>
          </a:bodyPr>
          <a:lstStyle/>
          <a:p>
            <a:pPr algn="l">
              <a:lnSpc>
                <a:spcPct val="115000"/>
              </a:lnSpc>
            </a:pPr>
            <a:r>
              <a:rPr sz="1500" b="0" i="0" dirty="0">
                <a:solidFill>
                  <a:srgbClr val="3A4750"/>
                </a:solidFill>
                <a:latin typeface="Aharoni"/>
              </a:rPr>
              <a:t>Sequence fed to the decoder: [visual, BOS, tok_1, ..., </a:t>
            </a:r>
            <a:r>
              <a:rPr sz="1500" b="0" i="0" dirty="0" err="1">
                <a:solidFill>
                  <a:srgbClr val="3A4750"/>
                </a:solidFill>
                <a:latin typeface="Aharoni"/>
              </a:rPr>
              <a:t>tok</a:t>
            </a:r>
            <a:r>
              <a:rPr sz="1500" b="0" i="0" dirty="0">
                <a:solidFill>
                  <a:srgbClr val="3A4750"/>
                </a:solidFill>
                <a:latin typeface="Aharoni"/>
              </a:rPr>
              <a:t>_{T-2}]. Decoder position </a:t>
            </a:r>
            <a:r>
              <a:rPr sz="1500" b="0" i="0" dirty="0" err="1">
                <a:solidFill>
                  <a:srgbClr val="3A4750"/>
                </a:solidFill>
                <a:latin typeface="Aharoni"/>
              </a:rPr>
              <a:t>i</a:t>
            </a:r>
            <a:r>
              <a:rPr sz="1500" b="0" i="0" dirty="0">
                <a:solidFill>
                  <a:srgbClr val="3A4750"/>
                </a:solidFill>
                <a:latin typeface="Aharoni"/>
              </a:rPr>
              <a:t> predicts sequence position i+1 --</a:t>
            </a:r>
          </a:p>
        </p:txBody>
      </p:sp>
      <p:sp>
        <p:nvSpPr>
          <p:cNvPr id="6" name="TextBox 5"/>
          <p:cNvSpPr txBox="1"/>
          <p:nvPr/>
        </p:nvSpPr>
        <p:spPr>
          <a:xfrm>
            <a:off x="11150000" y="6500000"/>
            <a:ext cx="800000" cy="274320"/>
          </a:xfrm>
          <a:prstGeom prst="rect">
            <a:avLst/>
          </a:prstGeom>
          <a:noFill/>
        </p:spPr>
        <p:txBody>
          <a:bodyPr wrap="square" anchor="ctr">
            <a:spAutoFit/>
          </a:bodyPr>
          <a:lstStyle/>
          <a:p>
            <a:pPr algn="r"/>
            <a:r>
              <a:rPr sz="1100" b="1" i="0">
                <a:solidFill>
                  <a:srgbClr val="E7E6E6"/>
                </a:solidFill>
                <a:latin typeface="Aharoni"/>
              </a:rPr>
              <a:t>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8229600" cy="320040"/>
          </a:xfrm>
          <a:prstGeom prst="rect">
            <a:avLst/>
          </a:prstGeom>
          <a:noFill/>
        </p:spPr>
        <p:txBody>
          <a:bodyPr wrap="square" anchor="ctr">
            <a:spAutoFit/>
          </a:bodyPr>
          <a:lstStyle/>
          <a:p>
            <a:pPr algn="l"/>
            <a:r>
              <a:rPr sz="1300" b="1" i="0">
                <a:solidFill>
                  <a:srgbClr val="F2A541"/>
                </a:solidFill>
                <a:latin typeface="Aharoni"/>
              </a:rPr>
              <a:t>STAGE 5  ·  BACKPROPAGATION &amp; ADAMW</a:t>
            </a:r>
          </a:p>
        </p:txBody>
      </p:sp>
      <p:sp>
        <p:nvSpPr>
          <p:cNvPr id="3" name="TextBox 2"/>
          <p:cNvSpPr txBox="1"/>
          <p:nvPr/>
        </p:nvSpPr>
        <p:spPr>
          <a:xfrm>
            <a:off x="731520" y="1048881"/>
            <a:ext cx="10700000" cy="553998"/>
          </a:xfrm>
          <a:prstGeom prst="rect">
            <a:avLst/>
          </a:prstGeom>
          <a:noFill/>
        </p:spPr>
        <p:txBody>
          <a:bodyPr wrap="square" anchor="ctr">
            <a:spAutoFit/>
          </a:bodyPr>
          <a:lstStyle/>
          <a:p>
            <a:pPr algn="l"/>
            <a:r>
              <a:rPr lang="en-US" sz="3000" b="1" i="0" dirty="0">
                <a:solidFill>
                  <a:srgbClr val="21295C"/>
                </a:solidFill>
                <a:latin typeface="Aharoni"/>
              </a:rPr>
              <a:t>Three</a:t>
            </a:r>
            <a:r>
              <a:rPr sz="3000" b="1" i="0" dirty="0">
                <a:solidFill>
                  <a:srgbClr val="21295C"/>
                </a:solidFill>
                <a:latin typeface="Aharoni"/>
              </a:rPr>
              <a:t> lines most of the mathematics lecture was about</a:t>
            </a:r>
          </a:p>
        </p:txBody>
      </p:sp>
      <p:sp>
        <p:nvSpPr>
          <p:cNvPr id="4" name="Rounded Rectangle 3"/>
          <p:cNvSpPr/>
          <p:nvPr/>
        </p:nvSpPr>
        <p:spPr>
          <a:xfrm>
            <a:off x="731520" y="1830000"/>
            <a:ext cx="9601200" cy="1100000"/>
          </a:xfrm>
          <a:prstGeom prst="roundRect">
            <a:avLst>
              <a:gd name="adj" fmla="val 3000"/>
            </a:avLst>
          </a:prstGeom>
          <a:solidFill>
            <a:srgbClr val="14182E"/>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r>
              <a:rPr sz="1400" dirty="0" err="1">
                <a:solidFill>
                  <a:srgbClr val="FFFFFF"/>
                </a:solidFill>
                <a:latin typeface="Consolas"/>
              </a:rPr>
              <a:t>loss.backward</a:t>
            </a:r>
            <a:r>
              <a:rPr sz="1400" dirty="0">
                <a:solidFill>
                  <a:srgbClr val="FFFFFF"/>
                </a:solidFill>
                <a:latin typeface="Consolas"/>
              </a:rPr>
              <a:t>()                              # backprop: d(loss)/d(every trainable weight)</a:t>
            </a:r>
          </a:p>
          <a:p>
            <a:r>
              <a:rPr sz="1400" dirty="0" err="1">
                <a:solidFill>
                  <a:srgbClr val="FFFFFF"/>
                </a:solidFill>
                <a:latin typeface="Consolas"/>
              </a:rPr>
              <a:t>torch.nn.utils.clip_grad_norm</a:t>
            </a:r>
            <a:r>
              <a:rPr sz="1400" dirty="0">
                <a:solidFill>
                  <a:srgbClr val="FFFFFF"/>
                </a:solidFill>
                <a:latin typeface="Consolas"/>
              </a:rPr>
              <a:t>_(trainable, 1.0)</a:t>
            </a:r>
          </a:p>
          <a:p>
            <a:r>
              <a:rPr sz="1400" dirty="0" err="1">
                <a:solidFill>
                  <a:srgbClr val="FFFFFF"/>
                </a:solidFill>
                <a:latin typeface="Consolas"/>
              </a:rPr>
              <a:t>optim.step</a:t>
            </a:r>
            <a:r>
              <a:rPr sz="1400" dirty="0">
                <a:solidFill>
                  <a:srgbClr val="FFFFFF"/>
                </a:solidFill>
                <a:latin typeface="Consolas"/>
              </a:rPr>
              <a:t>()                                 # </a:t>
            </a:r>
            <a:r>
              <a:rPr sz="1400" dirty="0" err="1">
                <a:solidFill>
                  <a:srgbClr val="FFFFFF"/>
                </a:solidFill>
                <a:latin typeface="Consolas"/>
              </a:rPr>
              <a:t>AdamW</a:t>
            </a:r>
            <a:r>
              <a:rPr sz="1400" dirty="0">
                <a:solidFill>
                  <a:srgbClr val="FFFFFF"/>
                </a:solidFill>
                <a:latin typeface="Consolas"/>
              </a:rPr>
              <a:t>: adaptive per-parameter updates</a:t>
            </a:r>
          </a:p>
        </p:txBody>
      </p:sp>
      <p:sp>
        <p:nvSpPr>
          <p:cNvPr id="5" name="TextBox 4"/>
          <p:cNvSpPr txBox="1"/>
          <p:nvPr/>
        </p:nvSpPr>
        <p:spPr>
          <a:xfrm>
            <a:off x="731520" y="3512243"/>
            <a:ext cx="4300000" cy="1875513"/>
          </a:xfrm>
          <a:prstGeom prst="rect">
            <a:avLst/>
          </a:prstGeom>
          <a:noFill/>
        </p:spPr>
        <p:txBody>
          <a:bodyPr wrap="square" anchor="ctr">
            <a:spAutoFit/>
          </a:bodyPr>
          <a:lstStyle/>
          <a:p>
            <a:pPr algn="l">
              <a:lnSpc>
                <a:spcPct val="130000"/>
              </a:lnSpc>
            </a:pPr>
            <a:r>
              <a:rPr sz="1500" b="0" i="0" dirty="0">
                <a:solidFill>
                  <a:srgbClr val="3A4750"/>
                </a:solidFill>
                <a:latin typeface="Aharoni"/>
              </a:rPr>
              <a:t>What's actually trainable</a:t>
            </a:r>
            <a:r>
              <a:rPr lang="en-US" sz="1500" b="0" i="0" dirty="0">
                <a:solidFill>
                  <a:srgbClr val="3A4750"/>
                </a:solidFill>
                <a:latin typeface="Aharoni"/>
              </a:rPr>
              <a:t>?</a:t>
            </a:r>
            <a:endParaRPr sz="1500" b="0" i="0" dirty="0">
              <a:solidFill>
                <a:srgbClr val="3A4750"/>
              </a:solidFill>
              <a:latin typeface="Aharoni"/>
            </a:endParaRPr>
          </a:p>
          <a:p>
            <a:pPr algn="l">
              <a:lnSpc>
                <a:spcPct val="130000"/>
              </a:lnSpc>
            </a:pPr>
            <a:endParaRPr sz="1500" b="0" i="0" dirty="0">
              <a:solidFill>
                <a:srgbClr val="3A4750"/>
              </a:solidFill>
              <a:latin typeface="Aharoni"/>
            </a:endParaRPr>
          </a:p>
          <a:p>
            <a:pPr algn="l">
              <a:lnSpc>
                <a:spcPct val="130000"/>
              </a:lnSpc>
            </a:pPr>
            <a:r>
              <a:rPr sz="1500" b="0" i="0" dirty="0">
                <a:solidFill>
                  <a:srgbClr val="3A4750"/>
                </a:solidFill>
                <a:latin typeface="Aharoni"/>
              </a:rPr>
              <a:t>Decoder: ~6.0M params (char tokenizer)</a:t>
            </a:r>
          </a:p>
          <a:p>
            <a:pPr algn="l">
              <a:lnSpc>
                <a:spcPct val="130000"/>
              </a:lnSpc>
            </a:pPr>
            <a:r>
              <a:rPr sz="1500" b="0" i="0" dirty="0">
                <a:solidFill>
                  <a:srgbClr val="3A4750"/>
                </a:solidFill>
                <a:latin typeface="Aharoni"/>
              </a:rPr>
              <a:t>Projector: 410,400 params</a:t>
            </a:r>
          </a:p>
          <a:p>
            <a:pPr algn="l">
              <a:lnSpc>
                <a:spcPct val="130000"/>
              </a:lnSpc>
            </a:pPr>
            <a:endParaRPr sz="1500" b="0" i="0" dirty="0">
              <a:solidFill>
                <a:srgbClr val="3A4750"/>
              </a:solidFill>
              <a:latin typeface="Aharoni"/>
            </a:endParaRPr>
          </a:p>
          <a:p>
            <a:pPr algn="l">
              <a:lnSpc>
                <a:spcPct val="130000"/>
              </a:lnSpc>
            </a:pPr>
            <a:r>
              <a:rPr sz="1500" b="0" i="0" dirty="0">
                <a:solidFill>
                  <a:srgbClr val="3A4750"/>
                </a:solidFill>
                <a:latin typeface="Aharoni"/>
              </a:rPr>
              <a:t>Both computed by </a:t>
            </a:r>
            <a:r>
              <a:rPr sz="1500" b="0" i="0" dirty="0" err="1">
                <a:solidFill>
                  <a:srgbClr val="3A4750"/>
                </a:solidFill>
                <a:latin typeface="Aharoni"/>
              </a:rPr>
              <a:t>build_model</a:t>
            </a:r>
            <a:r>
              <a:rPr sz="1500" b="0" i="0" dirty="0">
                <a:solidFill>
                  <a:srgbClr val="3A4750"/>
                </a:solidFill>
                <a:latin typeface="Aharoni"/>
              </a:rPr>
              <a:t>() at startup</a:t>
            </a:r>
          </a:p>
        </p:txBody>
      </p:sp>
      <p:sp>
        <p:nvSpPr>
          <p:cNvPr id="6" name="Rounded Rectangle 5"/>
          <p:cNvSpPr/>
          <p:nvPr/>
        </p:nvSpPr>
        <p:spPr>
          <a:xfrm>
            <a:off x="5300000" y="3150000"/>
            <a:ext cx="5032800" cy="2600000"/>
          </a:xfrm>
          <a:prstGeom prst="roundRect">
            <a:avLst>
              <a:gd name="adj" fmla="val 3000"/>
            </a:avLst>
          </a:prstGeom>
          <a:solidFill>
            <a:srgbClr val="14182E"/>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r>
              <a:rPr sz="1400" dirty="0">
                <a:solidFill>
                  <a:srgbClr val="FFFFFF"/>
                </a:solidFill>
                <a:latin typeface="Consolas"/>
              </a:rPr>
              <a:t>[model] parameters --</a:t>
            </a:r>
          </a:p>
          <a:p>
            <a:r>
              <a:rPr sz="1400" dirty="0">
                <a:solidFill>
                  <a:srgbClr val="FFFFFF"/>
                </a:solidFill>
                <a:latin typeface="Consolas"/>
              </a:rPr>
              <a:t>  frozen: 88,000,000</a:t>
            </a:r>
          </a:p>
          <a:p>
            <a:r>
              <a:rPr sz="1400" dirty="0">
                <a:solidFill>
                  <a:srgbClr val="FFFFFF"/>
                </a:solidFill>
                <a:latin typeface="Consolas"/>
              </a:rPr>
              <a:t>  decoder: 5,995,872</a:t>
            </a:r>
          </a:p>
          <a:p>
            <a:r>
              <a:rPr sz="1400" dirty="0">
                <a:solidFill>
                  <a:srgbClr val="FFFFFF"/>
                </a:solidFill>
                <a:latin typeface="Consolas"/>
              </a:rPr>
              <a:t>  projector: 410,400</a:t>
            </a:r>
          </a:p>
          <a:p>
            <a:r>
              <a:rPr sz="1400" dirty="0">
                <a:solidFill>
                  <a:srgbClr val="FFFFFF"/>
                </a:solidFill>
                <a:latin typeface="Consolas"/>
              </a:rPr>
              <a:t>  trainable total: 6,406,272</a:t>
            </a:r>
          </a:p>
        </p:txBody>
      </p:sp>
      <p:sp>
        <p:nvSpPr>
          <p:cNvPr id="7" name="TextBox 6"/>
          <p:cNvSpPr txBox="1"/>
          <p:nvPr/>
        </p:nvSpPr>
        <p:spPr>
          <a:xfrm>
            <a:off x="11150000" y="6500000"/>
            <a:ext cx="800000" cy="274320"/>
          </a:xfrm>
          <a:prstGeom prst="rect">
            <a:avLst/>
          </a:prstGeom>
          <a:noFill/>
        </p:spPr>
        <p:txBody>
          <a:bodyPr wrap="square" anchor="ctr">
            <a:spAutoFit/>
          </a:bodyPr>
          <a:lstStyle/>
          <a:p>
            <a:pPr algn="r"/>
            <a:r>
              <a:rPr sz="1100" b="1" i="0">
                <a:solidFill>
                  <a:srgbClr val="E7E6E6"/>
                </a:solidFill>
                <a:latin typeface="Aharoni"/>
              </a:rPr>
              <a:t>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8229600" cy="320040"/>
          </a:xfrm>
          <a:prstGeom prst="rect">
            <a:avLst/>
          </a:prstGeom>
          <a:noFill/>
        </p:spPr>
        <p:txBody>
          <a:bodyPr wrap="square" anchor="ctr">
            <a:spAutoFit/>
          </a:bodyPr>
          <a:lstStyle/>
          <a:p>
            <a:pPr algn="l"/>
            <a:r>
              <a:rPr sz="1300" b="1" i="0">
                <a:solidFill>
                  <a:srgbClr val="F2A541"/>
                </a:solidFill>
                <a:latin typeface="Aharoni"/>
              </a:rPr>
              <a:t>STAGE 6  ·  WATCHING IT LEARN</a:t>
            </a:r>
          </a:p>
        </p:txBody>
      </p:sp>
      <p:sp>
        <p:nvSpPr>
          <p:cNvPr id="3" name="TextBox 2"/>
          <p:cNvSpPr txBox="1"/>
          <p:nvPr/>
        </p:nvSpPr>
        <p:spPr>
          <a:xfrm>
            <a:off x="731520" y="914400"/>
            <a:ext cx="10700000" cy="822960"/>
          </a:xfrm>
          <a:prstGeom prst="rect">
            <a:avLst/>
          </a:prstGeom>
          <a:noFill/>
        </p:spPr>
        <p:txBody>
          <a:bodyPr wrap="square" anchor="ctr">
            <a:spAutoFit/>
          </a:bodyPr>
          <a:lstStyle/>
          <a:p>
            <a:pPr algn="l"/>
            <a:r>
              <a:rPr sz="3000" b="1" i="0">
                <a:solidFill>
                  <a:srgbClr val="21295C"/>
                </a:solidFill>
                <a:latin typeface="Aharoni"/>
              </a:rPr>
              <a:t>Training loss going down is necessary. Not sufficient.</a:t>
            </a:r>
          </a:p>
        </p:txBody>
      </p:sp>
      <p:sp>
        <p:nvSpPr>
          <p:cNvPr id="4" name="Rounded Rectangle 3"/>
          <p:cNvSpPr/>
          <p:nvPr/>
        </p:nvSpPr>
        <p:spPr>
          <a:xfrm>
            <a:off x="731520" y="1780000"/>
            <a:ext cx="9601200" cy="1550000"/>
          </a:xfrm>
          <a:prstGeom prst="roundRect">
            <a:avLst>
              <a:gd name="adj" fmla="val 3000"/>
            </a:avLst>
          </a:prstGeom>
          <a:solidFill>
            <a:srgbClr val="14182E"/>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r>
              <a:rPr sz="1400" dirty="0">
                <a:solidFill>
                  <a:srgbClr val="FFFFFF"/>
                </a:solidFill>
                <a:latin typeface="Consolas"/>
              </a:rPr>
              <a:t>step   150/350 | loss 3.21 | </a:t>
            </a:r>
            <a:r>
              <a:rPr sz="1400" dirty="0" err="1">
                <a:solidFill>
                  <a:srgbClr val="FFFFFF"/>
                </a:solidFill>
                <a:latin typeface="Consolas"/>
              </a:rPr>
              <a:t>lr</a:t>
            </a:r>
            <a:r>
              <a:rPr sz="1400" dirty="0">
                <a:solidFill>
                  <a:srgbClr val="FFFFFF"/>
                </a:solidFill>
                <a:latin typeface="Consolas"/>
              </a:rPr>
              <a:t> 2.9e-04 | 41.2 examples/s | 58.1s elapsed | ETA 78s</a:t>
            </a:r>
          </a:p>
          <a:p>
            <a:r>
              <a:rPr sz="1400" dirty="0">
                <a:solidFill>
                  <a:srgbClr val="FFFFFF"/>
                </a:solidFill>
                <a:latin typeface="Consolas"/>
              </a:rPr>
              <a:t>step   160/350 | loss 3.09 | </a:t>
            </a:r>
            <a:r>
              <a:rPr sz="1400" dirty="0" err="1">
                <a:solidFill>
                  <a:srgbClr val="FFFFFF"/>
                </a:solidFill>
                <a:latin typeface="Consolas"/>
              </a:rPr>
              <a:t>lr</a:t>
            </a:r>
            <a:r>
              <a:rPr sz="1400" dirty="0">
                <a:solidFill>
                  <a:srgbClr val="FFFFFF"/>
                </a:solidFill>
                <a:latin typeface="Consolas"/>
              </a:rPr>
              <a:t> 2.8e-04 | 42.0 examples/s | 61.5s elapsed | ETA 70s</a:t>
            </a:r>
          </a:p>
          <a:p>
            <a:r>
              <a:rPr sz="1400" dirty="0">
                <a:solidFill>
                  <a:srgbClr val="FFFFFF"/>
                </a:solidFill>
                <a:latin typeface="Consolas"/>
              </a:rPr>
              <a:t>          [eval] </a:t>
            </a:r>
            <a:r>
              <a:rPr sz="1400" dirty="0" err="1">
                <a:solidFill>
                  <a:srgbClr val="FFFFFF"/>
                </a:solidFill>
                <a:latin typeface="Consolas"/>
              </a:rPr>
              <a:t>val_loss</a:t>
            </a:r>
            <a:r>
              <a:rPr sz="1400" dirty="0">
                <a:solidFill>
                  <a:srgbClr val="FFFFFF"/>
                </a:solidFill>
                <a:latin typeface="Consolas"/>
              </a:rPr>
              <a:t> 3.34 (</a:t>
            </a:r>
            <a:r>
              <a:rPr sz="1400" dirty="0" err="1">
                <a:solidFill>
                  <a:srgbClr val="FFFFFF"/>
                </a:solidFill>
                <a:latin typeface="Consolas"/>
              </a:rPr>
              <a:t>val</a:t>
            </a:r>
            <a:r>
              <a:rPr sz="1400" dirty="0">
                <a:solidFill>
                  <a:srgbClr val="FFFFFF"/>
                </a:solidFill>
                <a:latin typeface="Consolas"/>
              </a:rPr>
              <a:t> feature cache: 320 images cached)</a:t>
            </a:r>
          </a:p>
          <a:p>
            <a:r>
              <a:rPr sz="1400" dirty="0">
                <a:solidFill>
                  <a:srgbClr val="FFFFFF"/>
                </a:solidFill>
                <a:latin typeface="Consolas"/>
              </a:rPr>
              <a:t>          [</a:t>
            </a:r>
            <a:r>
              <a:rPr sz="1400" dirty="0" err="1">
                <a:solidFill>
                  <a:srgbClr val="FFFFFF"/>
                </a:solidFill>
                <a:latin typeface="Consolas"/>
              </a:rPr>
              <a:t>ckpt</a:t>
            </a:r>
            <a:r>
              <a:rPr sz="1400" dirty="0">
                <a:solidFill>
                  <a:srgbClr val="FFFFFF"/>
                </a:solidFill>
                <a:latin typeface="Consolas"/>
              </a:rPr>
              <a:t>] new best -- saved checkpoints/</a:t>
            </a:r>
            <a:r>
              <a:rPr sz="1400" dirty="0" err="1">
                <a:solidFill>
                  <a:srgbClr val="FFFFFF"/>
                </a:solidFill>
                <a:latin typeface="Consolas"/>
              </a:rPr>
              <a:t>best.pt</a:t>
            </a:r>
            <a:endParaRPr sz="1400" dirty="0">
              <a:solidFill>
                <a:srgbClr val="FFFFFF"/>
              </a:solidFill>
              <a:latin typeface="Consolas"/>
            </a:endParaRPr>
          </a:p>
        </p:txBody>
      </p:sp>
      <p:sp>
        <p:nvSpPr>
          <p:cNvPr id="5" name="TextBox 4"/>
          <p:cNvSpPr txBox="1"/>
          <p:nvPr/>
        </p:nvSpPr>
        <p:spPr>
          <a:xfrm>
            <a:off x="731520" y="5281907"/>
            <a:ext cx="9601200" cy="1700000"/>
          </a:xfrm>
          <a:prstGeom prst="rect">
            <a:avLst/>
          </a:prstGeom>
          <a:noFill/>
        </p:spPr>
        <p:txBody>
          <a:bodyPr wrap="square" anchor="ctr">
            <a:spAutoFit/>
          </a:bodyPr>
          <a:lstStyle/>
          <a:p>
            <a:pPr algn="l">
              <a:lnSpc>
                <a:spcPct val="120000"/>
              </a:lnSpc>
            </a:pPr>
            <a:r>
              <a:rPr sz="1500" b="0" i="0" dirty="0">
                <a:solidFill>
                  <a:srgbClr val="3A4750"/>
                </a:solidFill>
                <a:latin typeface="Aharoni"/>
              </a:rPr>
              <a:t>Plot both curves, not just training loss: smoothed train loss, validation loss at each eval point, and a marker for whichever checkpoint is currently </a:t>
            </a:r>
            <a:r>
              <a:rPr sz="1500" b="0" i="0" dirty="0" err="1">
                <a:solidFill>
                  <a:srgbClr val="3A4750"/>
                </a:solidFill>
                <a:latin typeface="Aharoni"/>
              </a:rPr>
              <a:t>best.pt</a:t>
            </a:r>
            <a:r>
              <a:rPr sz="1500" b="0" i="0" dirty="0">
                <a:solidFill>
                  <a:srgbClr val="3A4750"/>
                </a:solidFill>
                <a:latin typeface="Aharoni"/>
              </a:rPr>
              <a:t>. This demo trains on a fixed 1,500-image subset for ~3.7 passes -- watch for validation loss stalling or rising while training loss keeps falling, the expected sign of overfitting on a small, repeated subset.</a:t>
            </a:r>
          </a:p>
        </p:txBody>
      </p:sp>
      <p:sp>
        <p:nvSpPr>
          <p:cNvPr id="6" name="TextBox 5"/>
          <p:cNvSpPr txBox="1"/>
          <p:nvPr/>
        </p:nvSpPr>
        <p:spPr>
          <a:xfrm>
            <a:off x="11150000" y="6500000"/>
            <a:ext cx="800000" cy="274320"/>
          </a:xfrm>
          <a:prstGeom prst="rect">
            <a:avLst/>
          </a:prstGeom>
          <a:noFill/>
        </p:spPr>
        <p:txBody>
          <a:bodyPr wrap="square" anchor="ctr">
            <a:spAutoFit/>
          </a:bodyPr>
          <a:lstStyle/>
          <a:p>
            <a:pPr algn="r"/>
            <a:r>
              <a:rPr sz="1100" b="1" i="0">
                <a:solidFill>
                  <a:srgbClr val="E7E6E6"/>
                </a:solidFill>
                <a:latin typeface="Aharoni"/>
              </a:rPr>
              <a:t>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2" name="Oval 1"/>
          <p:cNvSpPr/>
          <p:nvPr/>
        </p:nvSpPr>
        <p:spPr>
          <a:xfrm>
            <a:off x="8024343" y="-1000000"/>
            <a:ext cx="4114800" cy="4114800"/>
          </a:xfrm>
          <a:prstGeom prst="ellipse">
            <a:avLst/>
          </a:prstGeom>
          <a:solidFill>
            <a:srgbClr val="1C7293">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48640"/>
            <a:ext cx="8229600" cy="320040"/>
          </a:xfrm>
          <a:prstGeom prst="rect">
            <a:avLst/>
          </a:prstGeom>
          <a:noFill/>
        </p:spPr>
        <p:txBody>
          <a:bodyPr wrap="square" anchor="ctr">
            <a:spAutoFit/>
          </a:bodyPr>
          <a:lstStyle/>
          <a:p>
            <a:pPr algn="l"/>
            <a:r>
              <a:rPr sz="1300" b="1" i="0">
                <a:solidFill>
                  <a:srgbClr val="F2A541"/>
                </a:solidFill>
                <a:latin typeface="Aharoni"/>
              </a:rPr>
              <a:t>MID-TALK CHECK-IN</a:t>
            </a:r>
          </a:p>
        </p:txBody>
      </p:sp>
      <p:sp>
        <p:nvSpPr>
          <p:cNvPr id="4" name="TextBox 3"/>
          <p:cNvSpPr txBox="1"/>
          <p:nvPr/>
        </p:nvSpPr>
        <p:spPr>
          <a:xfrm>
            <a:off x="731520" y="914400"/>
            <a:ext cx="9601200" cy="822960"/>
          </a:xfrm>
          <a:prstGeom prst="rect">
            <a:avLst/>
          </a:prstGeom>
          <a:noFill/>
        </p:spPr>
        <p:txBody>
          <a:bodyPr wrap="square" anchor="ctr">
            <a:spAutoFit/>
          </a:bodyPr>
          <a:lstStyle/>
          <a:p>
            <a:pPr algn="l"/>
            <a:r>
              <a:rPr sz="3200" b="1" i="0">
                <a:solidFill>
                  <a:srgbClr val="FFFFFF"/>
                </a:solidFill>
                <a:latin typeface="Aharoni"/>
              </a:rPr>
              <a:t>Let's flip back to that terminal</a:t>
            </a:r>
          </a:p>
        </p:txBody>
      </p:sp>
      <p:sp>
        <p:nvSpPr>
          <p:cNvPr id="5" name="Rounded Rectangle 4"/>
          <p:cNvSpPr/>
          <p:nvPr/>
        </p:nvSpPr>
        <p:spPr>
          <a:xfrm>
            <a:off x="731520" y="2000000"/>
            <a:ext cx="9601200" cy="1400000"/>
          </a:xfrm>
          <a:prstGeom prst="roundRect">
            <a:avLst>
              <a:gd name="adj" fmla="val 3000"/>
            </a:avLst>
          </a:prstGeom>
          <a:solidFill>
            <a:srgbClr val="14182E"/>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r>
              <a:rPr sz="1400" dirty="0">
                <a:solidFill>
                  <a:srgbClr val="FFFFFF"/>
                </a:solidFill>
                <a:latin typeface="Consolas"/>
              </a:rPr>
              <a:t>step   240/350 | loss 2.51 | </a:t>
            </a:r>
            <a:r>
              <a:rPr sz="1400" dirty="0" err="1">
                <a:solidFill>
                  <a:srgbClr val="FFFFFF"/>
                </a:solidFill>
                <a:latin typeface="Consolas"/>
              </a:rPr>
              <a:t>lr</a:t>
            </a:r>
            <a:r>
              <a:rPr sz="1400" dirty="0">
                <a:solidFill>
                  <a:srgbClr val="FFFFFF"/>
                </a:solidFill>
                <a:latin typeface="Consolas"/>
              </a:rPr>
              <a:t> 1.9e-04 | 43.8 examples/s | 92.3s elapsed | ETA 25s</a:t>
            </a:r>
          </a:p>
          <a:p>
            <a:r>
              <a:rPr sz="1400" dirty="0">
                <a:solidFill>
                  <a:srgbClr val="FFFFFF"/>
                </a:solidFill>
                <a:latin typeface="Consolas"/>
              </a:rPr>
              <a:t>          [eval] </a:t>
            </a:r>
            <a:r>
              <a:rPr sz="1400" dirty="0" err="1">
                <a:solidFill>
                  <a:srgbClr val="FFFFFF"/>
                </a:solidFill>
                <a:latin typeface="Consolas"/>
              </a:rPr>
              <a:t>val_loss</a:t>
            </a:r>
            <a:r>
              <a:rPr sz="1400" dirty="0">
                <a:solidFill>
                  <a:srgbClr val="FFFFFF"/>
                </a:solidFill>
                <a:latin typeface="Consolas"/>
              </a:rPr>
              <a:t> 2.88</a:t>
            </a:r>
          </a:p>
          <a:p>
            <a:r>
              <a:rPr sz="1400" dirty="0">
                <a:solidFill>
                  <a:srgbClr val="FFFFFF"/>
                </a:solidFill>
                <a:latin typeface="Consolas"/>
              </a:rPr>
              <a:t>          [</a:t>
            </a:r>
            <a:r>
              <a:rPr sz="1400" dirty="0" err="1">
                <a:solidFill>
                  <a:srgbClr val="FFFFFF"/>
                </a:solidFill>
                <a:latin typeface="Consolas"/>
              </a:rPr>
              <a:t>ckpt</a:t>
            </a:r>
            <a:r>
              <a:rPr sz="1400" dirty="0">
                <a:solidFill>
                  <a:srgbClr val="FFFFFF"/>
                </a:solidFill>
                <a:latin typeface="Consolas"/>
              </a:rPr>
              <a:t>] saved checkpoints/step200.pt</a:t>
            </a:r>
          </a:p>
        </p:txBody>
      </p:sp>
      <p:sp>
        <p:nvSpPr>
          <p:cNvPr id="6" name="TextBox 5"/>
          <p:cNvSpPr txBox="1"/>
          <p:nvPr/>
        </p:nvSpPr>
        <p:spPr>
          <a:xfrm>
            <a:off x="731520" y="3700000"/>
            <a:ext cx="9601200" cy="900000"/>
          </a:xfrm>
          <a:prstGeom prst="rect">
            <a:avLst/>
          </a:prstGeom>
          <a:noFill/>
        </p:spPr>
        <p:txBody>
          <a:bodyPr wrap="square" anchor="ctr">
            <a:spAutoFit/>
          </a:bodyPr>
          <a:lstStyle/>
          <a:p>
            <a:pPr algn="l"/>
            <a:r>
              <a:rPr sz="1600" b="0" i="0">
                <a:solidFill>
                  <a:srgbClr val="E7E6E6"/>
                </a:solidFill>
                <a:latin typeface="Aharoni"/>
              </a:rPr>
              <a:t>Loss trending down, a best.pt on disk, an ETA in the tens of seconds -- that's everything the rest of the talk needs to be true. Back to the slides.</a:t>
            </a:r>
          </a:p>
        </p:txBody>
      </p:sp>
      <p:sp>
        <p:nvSpPr>
          <p:cNvPr id="7" name="TextBox 6"/>
          <p:cNvSpPr txBox="1"/>
          <p:nvPr/>
        </p:nvSpPr>
        <p:spPr>
          <a:xfrm>
            <a:off x="11150000" y="6500000"/>
            <a:ext cx="800000" cy="274320"/>
          </a:xfrm>
          <a:prstGeom prst="rect">
            <a:avLst/>
          </a:prstGeom>
          <a:noFill/>
        </p:spPr>
        <p:txBody>
          <a:bodyPr wrap="square" anchor="ctr">
            <a:spAutoFit/>
          </a:bodyPr>
          <a:lstStyle/>
          <a:p>
            <a:pPr algn="r"/>
            <a:r>
              <a:rPr sz="1100" b="1" i="0">
                <a:solidFill>
                  <a:srgbClr val="E7E6E6"/>
                </a:solidFill>
                <a:latin typeface="Aharoni"/>
              </a:rPr>
              <a:t>11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8229600" cy="320040"/>
          </a:xfrm>
          <a:prstGeom prst="rect">
            <a:avLst/>
          </a:prstGeom>
          <a:noFill/>
        </p:spPr>
        <p:txBody>
          <a:bodyPr wrap="square" anchor="ctr">
            <a:spAutoFit/>
          </a:bodyPr>
          <a:lstStyle/>
          <a:p>
            <a:pPr algn="l"/>
            <a:r>
              <a:rPr sz="1300" b="1" i="0">
                <a:solidFill>
                  <a:srgbClr val="F2A541"/>
                </a:solidFill>
                <a:latin typeface="Aharoni"/>
              </a:rPr>
              <a:t>STAGE 7  ·  AUTOREGRESSIVE GENERATION</a:t>
            </a:r>
          </a:p>
        </p:txBody>
      </p:sp>
      <p:sp>
        <p:nvSpPr>
          <p:cNvPr id="3" name="TextBox 2"/>
          <p:cNvSpPr txBox="1"/>
          <p:nvPr/>
        </p:nvSpPr>
        <p:spPr>
          <a:xfrm>
            <a:off x="731520" y="914400"/>
            <a:ext cx="10700000" cy="822960"/>
          </a:xfrm>
          <a:prstGeom prst="rect">
            <a:avLst/>
          </a:prstGeom>
          <a:noFill/>
        </p:spPr>
        <p:txBody>
          <a:bodyPr wrap="square" anchor="ctr">
            <a:spAutoFit/>
          </a:bodyPr>
          <a:lstStyle/>
          <a:p>
            <a:pPr algn="l"/>
            <a:r>
              <a:rPr sz="3000" b="1" i="0">
                <a:solidFill>
                  <a:srgbClr val="21295C"/>
                </a:solidFill>
                <a:latin typeface="Aharoni"/>
              </a:rPr>
              <a:t>Training sees the whole caption. Inference doesn't.</a:t>
            </a:r>
          </a:p>
        </p:txBody>
      </p:sp>
      <p:graphicFrame>
        <p:nvGraphicFramePr>
          <p:cNvPr id="4" name="Table 3"/>
          <p:cNvGraphicFramePr>
            <a:graphicFrameLocks noGrp="1"/>
          </p:cNvGraphicFramePr>
          <p:nvPr/>
        </p:nvGraphicFramePr>
        <p:xfrm>
          <a:off x="731520" y="1780000"/>
          <a:ext cx="9601200" cy="2450000"/>
        </p:xfrm>
        <a:graphic>
          <a:graphicData uri="http://schemas.openxmlformats.org/drawingml/2006/table">
            <a:tbl>
              <a:tblPr firstRow="1" bandRow="1">
                <a:tableStyleId>{5C22544A-7EE6-4342-B048-85BDC9FD1C3A}</a:tableStyleId>
              </a:tblPr>
              <a:tblGrid>
                <a:gridCol w="4800600">
                  <a:extLst>
                    <a:ext uri="{9D8B030D-6E8A-4147-A177-3AD203B41FA5}">
                      <a16:colId xmlns:a16="http://schemas.microsoft.com/office/drawing/2014/main" val="20000"/>
                    </a:ext>
                  </a:extLst>
                </a:gridCol>
                <a:gridCol w="4800600">
                  <a:extLst>
                    <a:ext uri="{9D8B030D-6E8A-4147-A177-3AD203B41FA5}">
                      <a16:colId xmlns:a16="http://schemas.microsoft.com/office/drawing/2014/main" val="20001"/>
                    </a:ext>
                  </a:extLst>
                </a:gridCol>
              </a:tblGrid>
              <a:tr h="490000">
                <a:tc>
                  <a:txBody>
                    <a:bodyPr/>
                    <a:lstStyle/>
                    <a:p>
                      <a:r>
                        <a:rPr sz="1400" b="1">
                          <a:solidFill>
                            <a:srgbClr val="FFFFFF"/>
                          </a:solidFill>
                          <a:latin typeface="Aharoni"/>
                        </a:rPr>
                        <a:t>Training</a:t>
                      </a:r>
                    </a:p>
                  </a:txBody>
                  <a:tcPr anchor="ctr">
                    <a:solidFill>
                      <a:srgbClr val="21295C"/>
                    </a:solidFill>
                  </a:tcPr>
                </a:tc>
                <a:tc>
                  <a:txBody>
                    <a:bodyPr/>
                    <a:lstStyle/>
                    <a:p>
                      <a:r>
                        <a:rPr sz="1400" b="1">
                          <a:solidFill>
                            <a:srgbClr val="FFFFFF"/>
                          </a:solidFill>
                          <a:latin typeface="Aharoni"/>
                        </a:rPr>
                        <a:t>Inference</a:t>
                      </a:r>
                    </a:p>
                  </a:txBody>
                  <a:tcPr anchor="ctr">
                    <a:solidFill>
                      <a:srgbClr val="21295C"/>
                    </a:solidFill>
                  </a:tcPr>
                </a:tc>
                <a:extLst>
                  <a:ext uri="{0D108BD9-81ED-4DB2-BD59-A6C34878D82A}">
                    <a16:rowId xmlns:a16="http://schemas.microsoft.com/office/drawing/2014/main" val="10000"/>
                  </a:ext>
                </a:extLst>
              </a:tr>
              <a:tr h="490000">
                <a:tc>
                  <a:txBody>
                    <a:bodyPr/>
                    <a:lstStyle/>
                    <a:p>
                      <a:r>
                        <a:rPr sz="1400">
                          <a:solidFill>
                            <a:srgbClr val="3A4750"/>
                          </a:solidFill>
                          <a:latin typeface="Aharoni"/>
                        </a:rPr>
                        <a:t>Whole caption available at once</a:t>
                      </a:r>
                    </a:p>
                  </a:txBody>
                  <a:tcPr anchor="ctr">
                    <a:solidFill>
                      <a:srgbClr val="FFFFFF"/>
                    </a:solidFill>
                  </a:tcPr>
                </a:tc>
                <a:tc>
                  <a:txBody>
                    <a:bodyPr/>
                    <a:lstStyle/>
                    <a:p>
                      <a:r>
                        <a:rPr sz="1400">
                          <a:solidFill>
                            <a:srgbClr val="3A4750"/>
                          </a:solidFill>
                          <a:latin typeface="Aharoni"/>
                        </a:rPr>
                        <a:t>Only the generated prefix so far</a:t>
                      </a:r>
                    </a:p>
                  </a:txBody>
                  <a:tcPr anchor="ctr">
                    <a:solidFill>
                      <a:srgbClr val="FFFFFF"/>
                    </a:solidFill>
                  </a:tcPr>
                </a:tc>
                <a:extLst>
                  <a:ext uri="{0D108BD9-81ED-4DB2-BD59-A6C34878D82A}">
                    <a16:rowId xmlns:a16="http://schemas.microsoft.com/office/drawing/2014/main" val="10001"/>
                  </a:ext>
                </a:extLst>
              </a:tr>
              <a:tr h="490000">
                <a:tc>
                  <a:txBody>
                    <a:bodyPr/>
                    <a:lstStyle/>
                    <a:p>
                      <a:r>
                        <a:rPr sz="1400">
                          <a:solidFill>
                            <a:srgbClr val="3A4750"/>
                          </a:solidFill>
                          <a:latin typeface="Aharoni"/>
                        </a:rPr>
                        <a:t>Teacher forcing</a:t>
                      </a:r>
                    </a:p>
                  </a:txBody>
                  <a:tcPr anchor="ctr">
                    <a:solidFill>
                      <a:srgbClr val="E7E6E6"/>
                    </a:solidFill>
                  </a:tcPr>
                </a:tc>
                <a:tc>
                  <a:txBody>
                    <a:bodyPr/>
                    <a:lstStyle/>
                    <a:p>
                      <a:r>
                        <a:rPr sz="1400">
                          <a:solidFill>
                            <a:srgbClr val="3A4750"/>
                          </a:solidFill>
                          <a:latin typeface="Aharoni"/>
                        </a:rPr>
                        <a:t>Autoregressive feedback, one token back in</a:t>
                      </a:r>
                    </a:p>
                  </a:txBody>
                  <a:tcPr anchor="ctr">
                    <a:solidFill>
                      <a:srgbClr val="E7E6E6"/>
                    </a:solidFill>
                  </a:tcPr>
                </a:tc>
                <a:extLst>
                  <a:ext uri="{0D108BD9-81ED-4DB2-BD59-A6C34878D82A}">
                    <a16:rowId xmlns:a16="http://schemas.microsoft.com/office/drawing/2014/main" val="10002"/>
                  </a:ext>
                </a:extLst>
              </a:tr>
              <a:tr h="490000">
                <a:tc>
                  <a:txBody>
                    <a:bodyPr/>
                    <a:lstStyle/>
                    <a:p>
                      <a:r>
                        <a:rPr sz="1400">
                          <a:solidFill>
                            <a:srgbClr val="3A4750"/>
                          </a:solidFill>
                          <a:latin typeface="Aharoni"/>
                        </a:rPr>
                        <a:t>Cross-entropy loss</a:t>
                      </a:r>
                    </a:p>
                  </a:txBody>
                  <a:tcPr anchor="ctr">
                    <a:solidFill>
                      <a:srgbClr val="FFFFFF"/>
                    </a:solidFill>
                  </a:tcPr>
                </a:tc>
                <a:tc>
                  <a:txBody>
                    <a:bodyPr/>
                    <a:lstStyle/>
                    <a:p>
                      <a:r>
                        <a:rPr sz="1400">
                          <a:solidFill>
                            <a:srgbClr val="3A4750"/>
                          </a:solidFill>
                          <a:latin typeface="Aharoni"/>
                        </a:rPr>
                        <a:t>Greedy (default) or temperature/top-k sampling</a:t>
                      </a:r>
                    </a:p>
                  </a:txBody>
                  <a:tcPr anchor="ctr">
                    <a:solidFill>
                      <a:srgbClr val="FFFFFF"/>
                    </a:solidFill>
                  </a:tcPr>
                </a:tc>
                <a:extLst>
                  <a:ext uri="{0D108BD9-81ED-4DB2-BD59-A6C34878D82A}">
                    <a16:rowId xmlns:a16="http://schemas.microsoft.com/office/drawing/2014/main" val="10003"/>
                  </a:ext>
                </a:extLst>
              </a:tr>
              <a:tr h="490000">
                <a:tc>
                  <a:txBody>
                    <a:bodyPr/>
                    <a:lstStyle/>
                    <a:p>
                      <a:r>
                        <a:rPr sz="1400">
                          <a:solidFill>
                            <a:srgbClr val="3A4750"/>
                          </a:solidFill>
                          <a:latin typeface="Aharoni"/>
                        </a:rPr>
                        <a:t>Many positions scored in parallel</a:t>
                      </a:r>
                    </a:p>
                  </a:txBody>
                  <a:tcPr anchor="ctr">
                    <a:solidFill>
                      <a:srgbClr val="E7E6E6"/>
                    </a:solidFill>
                  </a:tcPr>
                </a:tc>
                <a:tc>
                  <a:txBody>
                    <a:bodyPr/>
                    <a:lstStyle/>
                    <a:p>
                      <a:r>
                        <a:rPr sz="1400">
                          <a:solidFill>
                            <a:srgbClr val="3A4750"/>
                          </a:solidFill>
                          <a:latin typeface="Aharoni"/>
                        </a:rPr>
                        <a:t>One new token computed at a time</a:t>
                      </a:r>
                    </a:p>
                  </a:txBody>
                  <a:tcPr anchor="ctr">
                    <a:solidFill>
                      <a:srgbClr val="E7E6E6"/>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731520" y="4400000"/>
            <a:ext cx="9601200" cy="900000"/>
          </a:xfrm>
          <a:prstGeom prst="rect">
            <a:avLst/>
          </a:prstGeom>
          <a:noFill/>
        </p:spPr>
        <p:txBody>
          <a:bodyPr wrap="square" anchor="ctr">
            <a:spAutoFit/>
          </a:bodyPr>
          <a:lstStyle/>
          <a:p>
            <a:pPr algn="l">
              <a:lnSpc>
                <a:spcPct val="115000"/>
              </a:lnSpc>
            </a:pPr>
            <a:r>
              <a:rPr sz="1500" b="0" i="0">
                <a:solidFill>
                  <a:srgbClr val="3A4750"/>
                </a:solidFill>
                <a:latin typeface="Aharoni"/>
              </a:rPr>
              <a:t>This asymmetry is exactly why the teacher-forcing alignment bug mattered: training could look fine while inference -- which never gets the luxury of the true next token -- produced nonsense.</a:t>
            </a:r>
          </a:p>
        </p:txBody>
      </p:sp>
      <p:sp>
        <p:nvSpPr>
          <p:cNvPr id="6" name="TextBox 5"/>
          <p:cNvSpPr txBox="1"/>
          <p:nvPr/>
        </p:nvSpPr>
        <p:spPr>
          <a:xfrm>
            <a:off x="11150000" y="6500000"/>
            <a:ext cx="800000" cy="274320"/>
          </a:xfrm>
          <a:prstGeom prst="rect">
            <a:avLst/>
          </a:prstGeom>
          <a:noFill/>
        </p:spPr>
        <p:txBody>
          <a:bodyPr wrap="square" anchor="ctr">
            <a:spAutoFit/>
          </a:bodyPr>
          <a:lstStyle/>
          <a:p>
            <a:pPr algn="r"/>
            <a:r>
              <a:rPr sz="1100" b="1" i="0">
                <a:solidFill>
                  <a:srgbClr val="E7E6E6"/>
                </a:solidFill>
                <a:latin typeface="Aharoni"/>
              </a:rPr>
              <a:t>12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8229600" cy="320040"/>
          </a:xfrm>
          <a:prstGeom prst="rect">
            <a:avLst/>
          </a:prstGeom>
          <a:noFill/>
        </p:spPr>
        <p:txBody>
          <a:bodyPr wrap="square" anchor="ctr">
            <a:spAutoFit/>
          </a:bodyPr>
          <a:lstStyle/>
          <a:p>
            <a:pPr algn="l"/>
            <a:r>
              <a:rPr sz="1300" b="1" i="0">
                <a:solidFill>
                  <a:srgbClr val="F2A541"/>
                </a:solidFill>
                <a:latin typeface="Aharoni"/>
              </a:rPr>
              <a:t>STAGE 8  ·  LIVE DEMO</a:t>
            </a:r>
          </a:p>
        </p:txBody>
      </p:sp>
      <p:sp>
        <p:nvSpPr>
          <p:cNvPr id="3" name="TextBox 2"/>
          <p:cNvSpPr txBox="1"/>
          <p:nvPr/>
        </p:nvSpPr>
        <p:spPr>
          <a:xfrm>
            <a:off x="731520" y="914400"/>
            <a:ext cx="10700000" cy="822960"/>
          </a:xfrm>
          <a:prstGeom prst="rect">
            <a:avLst/>
          </a:prstGeom>
          <a:noFill/>
        </p:spPr>
        <p:txBody>
          <a:bodyPr wrap="square" anchor="ctr">
            <a:spAutoFit/>
          </a:bodyPr>
          <a:lstStyle/>
          <a:p>
            <a:pPr algn="l"/>
            <a:r>
              <a:rPr sz="3000" b="1" i="0">
                <a:solidFill>
                  <a:srgbClr val="21295C"/>
                </a:solidFill>
                <a:latin typeface="Aharoni"/>
              </a:rPr>
              <a:t>One test-split photo, greedy decoding, reproducible</a:t>
            </a:r>
          </a:p>
        </p:txBody>
      </p:sp>
      <p:sp>
        <p:nvSpPr>
          <p:cNvPr id="4" name="Rounded Rectangle 3"/>
          <p:cNvSpPr/>
          <p:nvPr/>
        </p:nvSpPr>
        <p:spPr>
          <a:xfrm>
            <a:off x="731520" y="1780000"/>
            <a:ext cx="10897772" cy="1000000"/>
          </a:xfrm>
          <a:prstGeom prst="roundRect">
            <a:avLst>
              <a:gd name="adj" fmla="val 3000"/>
            </a:avLst>
          </a:prstGeom>
          <a:solidFill>
            <a:srgbClr val="14182E"/>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r>
              <a:rPr sz="1400" dirty="0">
                <a:solidFill>
                  <a:srgbClr val="00B050"/>
                </a:solidFill>
                <a:latin typeface="Consolas"/>
              </a:rPr>
              <a:t>$ python</a:t>
            </a:r>
            <a:r>
              <a:rPr lang="en-US" sz="1400" dirty="0">
                <a:solidFill>
                  <a:srgbClr val="00B050"/>
                </a:solidFill>
                <a:latin typeface="Consolas"/>
              </a:rPr>
              <a:t>3</a:t>
            </a:r>
            <a:r>
              <a:rPr sz="1400" dirty="0">
                <a:solidFill>
                  <a:srgbClr val="00B050"/>
                </a:solidFill>
                <a:latin typeface="Consolas"/>
              </a:rPr>
              <a:t> </a:t>
            </a:r>
            <a:r>
              <a:rPr sz="1400" dirty="0" err="1">
                <a:solidFill>
                  <a:srgbClr val="00B050"/>
                </a:solidFill>
                <a:latin typeface="Consolas"/>
              </a:rPr>
              <a:t>inferVLM.py</a:t>
            </a:r>
            <a:r>
              <a:rPr sz="1400" dirty="0">
                <a:solidFill>
                  <a:srgbClr val="00B050"/>
                </a:solidFill>
                <a:latin typeface="Consolas"/>
              </a:rPr>
              <a:t> --config </a:t>
            </a:r>
            <a:r>
              <a:rPr sz="1400" dirty="0" err="1">
                <a:solidFill>
                  <a:srgbClr val="00B050"/>
                </a:solidFill>
                <a:latin typeface="Consolas"/>
              </a:rPr>
              <a:t>config.demo.yaml</a:t>
            </a:r>
            <a:r>
              <a:rPr lang="en-US" sz="1400" dirty="0">
                <a:solidFill>
                  <a:srgbClr val="00B050"/>
                </a:solidFill>
                <a:latin typeface="Consolas"/>
              </a:rPr>
              <a:t> --checkpoint checkpoints/</a:t>
            </a:r>
            <a:r>
              <a:rPr lang="en-US" sz="1400" dirty="0" err="1">
                <a:solidFill>
                  <a:srgbClr val="00B050"/>
                </a:solidFill>
                <a:latin typeface="Consolas"/>
              </a:rPr>
              <a:t>best.pt</a:t>
            </a:r>
            <a:r>
              <a:rPr lang="en-US" sz="1400" dirty="0">
                <a:solidFill>
                  <a:srgbClr val="00B050"/>
                </a:solidFill>
                <a:latin typeface="Consolas"/>
              </a:rPr>
              <a:t> --holdout-index 0</a:t>
            </a:r>
            <a:endParaRPr sz="1400" dirty="0">
              <a:solidFill>
                <a:srgbClr val="00B050"/>
              </a:solidFill>
              <a:latin typeface="Consolas"/>
            </a:endParaRPr>
          </a:p>
        </p:txBody>
      </p:sp>
      <p:sp>
        <p:nvSpPr>
          <p:cNvPr id="5" name="Rounded Rectangle 4"/>
          <p:cNvSpPr/>
          <p:nvPr/>
        </p:nvSpPr>
        <p:spPr>
          <a:xfrm>
            <a:off x="5549704" y="3429000"/>
            <a:ext cx="4848665" cy="1912847"/>
          </a:xfrm>
          <a:prstGeom prst="roundRect">
            <a:avLst>
              <a:gd name="adj" fmla="val 3000"/>
            </a:avLst>
          </a:prstGeom>
          <a:solidFill>
            <a:srgbClr val="14182E"/>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r>
              <a:rPr sz="1400" dirty="0">
                <a:solidFill>
                  <a:srgbClr val="FFFFFF"/>
                </a:solidFill>
                <a:latin typeface="Consolas"/>
              </a:rPr>
              <a:t>image      : demo/holdout_0000.jpg</a:t>
            </a:r>
          </a:p>
          <a:p>
            <a:r>
              <a:rPr sz="1400" dirty="0">
                <a:solidFill>
                  <a:srgbClr val="FFFFFF"/>
                </a:solidFill>
                <a:latin typeface="Consolas"/>
              </a:rPr>
              <a:t>decoding   : greedy (reproducible)</a:t>
            </a:r>
          </a:p>
          <a:p>
            <a:r>
              <a:rPr sz="1400" dirty="0">
                <a:solidFill>
                  <a:srgbClr val="FFFFFF"/>
                </a:solidFill>
                <a:latin typeface="Consolas"/>
              </a:rPr>
              <a:t>caption    : a dog running through the grass</a:t>
            </a:r>
          </a:p>
          <a:p>
            <a:r>
              <a:rPr sz="1400" dirty="0">
                <a:solidFill>
                  <a:srgbClr val="FFFFFF"/>
                </a:solidFill>
                <a:latin typeface="Consolas"/>
              </a:rPr>
              <a:t>references :</a:t>
            </a:r>
          </a:p>
          <a:p>
            <a:r>
              <a:rPr sz="1400" dirty="0">
                <a:solidFill>
                  <a:srgbClr val="FFFFFF"/>
                </a:solidFill>
                <a:latin typeface="Consolas"/>
              </a:rPr>
              <a:t>  - a brown dog runs through the green grass</a:t>
            </a:r>
          </a:p>
          <a:p>
            <a:r>
              <a:rPr sz="1400" dirty="0">
                <a:solidFill>
                  <a:srgbClr val="FFFFFF"/>
                </a:solidFill>
                <a:latin typeface="Consolas"/>
              </a:rPr>
              <a:t>  - a dog is running in a field</a:t>
            </a:r>
          </a:p>
        </p:txBody>
      </p:sp>
      <p:sp>
        <p:nvSpPr>
          <p:cNvPr id="6" name="TextBox 5"/>
          <p:cNvSpPr txBox="1"/>
          <p:nvPr/>
        </p:nvSpPr>
        <p:spPr>
          <a:xfrm>
            <a:off x="731520" y="5920226"/>
            <a:ext cx="10897772" cy="579774"/>
          </a:xfrm>
          <a:prstGeom prst="rect">
            <a:avLst/>
          </a:prstGeom>
          <a:noFill/>
        </p:spPr>
        <p:txBody>
          <a:bodyPr wrap="square" anchor="ctr">
            <a:spAutoFit/>
          </a:bodyPr>
          <a:lstStyle/>
          <a:p>
            <a:pPr algn="l">
              <a:lnSpc>
                <a:spcPct val="115000"/>
              </a:lnSpc>
            </a:pPr>
            <a:r>
              <a:rPr sz="1400" b="0" i="0" dirty="0">
                <a:solidFill>
                  <a:srgbClr val="3A4750"/>
                </a:solidFill>
                <a:latin typeface="Aharoni"/>
              </a:rPr>
              <a:t>An unseen image tests generalization -- one plausible caption next to the five human references is qualitative evidence, not proof. Greedy decoding is the default here specifically so this exact command reproduces this exact caption every time.</a:t>
            </a:r>
          </a:p>
        </p:txBody>
      </p:sp>
      <p:sp>
        <p:nvSpPr>
          <p:cNvPr id="7" name="TextBox 6"/>
          <p:cNvSpPr txBox="1"/>
          <p:nvPr/>
        </p:nvSpPr>
        <p:spPr>
          <a:xfrm>
            <a:off x="11150000" y="6500000"/>
            <a:ext cx="800000" cy="274320"/>
          </a:xfrm>
          <a:prstGeom prst="rect">
            <a:avLst/>
          </a:prstGeom>
          <a:noFill/>
        </p:spPr>
        <p:txBody>
          <a:bodyPr wrap="square" anchor="ctr">
            <a:spAutoFit/>
          </a:bodyPr>
          <a:lstStyle/>
          <a:p>
            <a:pPr algn="r"/>
            <a:r>
              <a:rPr sz="1100" b="1" i="0">
                <a:solidFill>
                  <a:srgbClr val="E7E6E6"/>
                </a:solidFill>
                <a:latin typeface="Aharoni"/>
              </a:rPr>
              <a:t>13</a:t>
            </a:r>
          </a:p>
        </p:txBody>
      </p:sp>
      <p:pic>
        <p:nvPicPr>
          <p:cNvPr id="8" name="Picture 7">
            <a:extLst>
              <a:ext uri="{FF2B5EF4-FFF2-40B4-BE49-F238E27FC236}">
                <a16:creationId xmlns:a16="http://schemas.microsoft.com/office/drawing/2014/main" id="{E465B9ED-85DB-06D7-3AB5-188BC4F29F08}"/>
              </a:ext>
            </a:extLst>
          </p:cNvPr>
          <p:cNvPicPr>
            <a:picLocks noChangeAspect="1"/>
          </p:cNvPicPr>
          <p:nvPr/>
        </p:nvPicPr>
        <p:blipFill>
          <a:blip r:embed="rId2"/>
          <a:stretch>
            <a:fillRect/>
          </a:stretch>
        </p:blipFill>
        <p:spPr>
          <a:xfrm>
            <a:off x="1341120" y="3429000"/>
            <a:ext cx="2988823" cy="1912847"/>
          </a:xfrm>
          <a:prstGeom prst="rect">
            <a:avLst/>
          </a:prstGeom>
        </p:spPr>
      </p:pic>
      <p:sp>
        <p:nvSpPr>
          <p:cNvPr id="9" name="Right Arrow 8">
            <a:extLst>
              <a:ext uri="{FF2B5EF4-FFF2-40B4-BE49-F238E27FC236}">
                <a16:creationId xmlns:a16="http://schemas.microsoft.com/office/drawing/2014/main" id="{D8EE1012-1AAC-B800-50B3-3A58E62309DF}"/>
              </a:ext>
            </a:extLst>
          </p:cNvPr>
          <p:cNvSpPr/>
          <p:nvPr/>
        </p:nvSpPr>
        <p:spPr>
          <a:xfrm rot="18763561">
            <a:off x="3430691" y="2780476"/>
            <a:ext cx="1009638" cy="33086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B5957B09-994F-09DD-60BF-11E17A106C4A}"/>
              </a:ext>
            </a:extLst>
          </p:cNvPr>
          <p:cNvSpPr/>
          <p:nvPr/>
        </p:nvSpPr>
        <p:spPr>
          <a:xfrm rot="3368599">
            <a:off x="7887843" y="2808771"/>
            <a:ext cx="1009638" cy="33086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8229600" cy="320040"/>
          </a:xfrm>
          <a:prstGeom prst="rect">
            <a:avLst/>
          </a:prstGeom>
          <a:noFill/>
        </p:spPr>
        <p:txBody>
          <a:bodyPr wrap="square" anchor="ctr">
            <a:spAutoFit/>
          </a:bodyPr>
          <a:lstStyle/>
          <a:p>
            <a:pPr algn="l"/>
            <a:r>
              <a:rPr sz="1300" b="1" i="0">
                <a:solidFill>
                  <a:srgbClr val="F2A541"/>
                </a:solidFill>
                <a:latin typeface="Aharoni"/>
              </a:rPr>
              <a:t>RECAP</a:t>
            </a:r>
          </a:p>
        </p:txBody>
      </p:sp>
      <p:sp>
        <p:nvSpPr>
          <p:cNvPr id="3" name="TextBox 2"/>
          <p:cNvSpPr txBox="1"/>
          <p:nvPr/>
        </p:nvSpPr>
        <p:spPr>
          <a:xfrm>
            <a:off x="731520" y="914400"/>
            <a:ext cx="10700000" cy="822960"/>
          </a:xfrm>
          <a:prstGeom prst="rect">
            <a:avLst/>
          </a:prstGeom>
          <a:noFill/>
        </p:spPr>
        <p:txBody>
          <a:bodyPr wrap="square" anchor="ctr">
            <a:spAutoFit/>
          </a:bodyPr>
          <a:lstStyle/>
          <a:p>
            <a:pPr algn="l"/>
            <a:r>
              <a:rPr sz="3000" b="1" i="0">
                <a:solidFill>
                  <a:srgbClr val="21295C"/>
                </a:solidFill>
                <a:latin typeface="Aharoni"/>
              </a:rPr>
              <a:t>The tensor's whole journey, in five steps</a:t>
            </a:r>
          </a:p>
        </p:txBody>
      </p:sp>
      <p:sp>
        <p:nvSpPr>
          <p:cNvPr id="4" name="Oval 3"/>
          <p:cNvSpPr/>
          <p:nvPr/>
        </p:nvSpPr>
        <p:spPr>
          <a:xfrm>
            <a:off x="731520" y="1780000"/>
            <a:ext cx="502920" cy="50292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80000"/>
            <a:ext cx="502920" cy="502920"/>
          </a:xfrm>
          <a:prstGeom prst="rect">
            <a:avLst/>
          </a:prstGeom>
          <a:noFill/>
        </p:spPr>
        <p:txBody>
          <a:bodyPr wrap="square" anchor="ctr">
            <a:spAutoFit/>
          </a:bodyPr>
          <a:lstStyle/>
          <a:p>
            <a:pPr algn="ctr"/>
            <a:r>
              <a:rPr sz="1800" b="1" i="0">
                <a:solidFill>
                  <a:srgbClr val="FFFFFF"/>
                </a:solidFill>
                <a:latin typeface="Aharoni"/>
              </a:rPr>
              <a:t>1</a:t>
            </a:r>
          </a:p>
        </p:txBody>
      </p:sp>
      <p:sp>
        <p:nvSpPr>
          <p:cNvPr id="6" name="TextBox 5"/>
          <p:cNvSpPr txBox="1"/>
          <p:nvPr/>
        </p:nvSpPr>
        <p:spPr>
          <a:xfrm>
            <a:off x="1463040" y="1734280"/>
            <a:ext cx="9601200" cy="411480"/>
          </a:xfrm>
          <a:prstGeom prst="rect">
            <a:avLst/>
          </a:prstGeom>
          <a:noFill/>
        </p:spPr>
        <p:txBody>
          <a:bodyPr wrap="square" anchor="ctr">
            <a:spAutoFit/>
          </a:bodyPr>
          <a:lstStyle/>
          <a:p>
            <a:pPr algn="l"/>
            <a:r>
              <a:rPr sz="1800" b="1" i="0">
                <a:solidFill>
                  <a:srgbClr val="21295C"/>
                </a:solidFill>
                <a:latin typeface="Aharoni"/>
              </a:rPr>
              <a:t>CLIP represents the image</a:t>
            </a:r>
          </a:p>
        </p:txBody>
      </p:sp>
      <p:sp>
        <p:nvSpPr>
          <p:cNvPr id="7" name="TextBox 6"/>
          <p:cNvSpPr txBox="1"/>
          <p:nvPr/>
        </p:nvSpPr>
        <p:spPr>
          <a:xfrm>
            <a:off x="1463040" y="2145760"/>
            <a:ext cx="9601200" cy="548640"/>
          </a:xfrm>
          <a:prstGeom prst="rect">
            <a:avLst/>
          </a:prstGeom>
          <a:noFill/>
        </p:spPr>
        <p:txBody>
          <a:bodyPr wrap="square" anchor="ctr">
            <a:spAutoFit/>
          </a:bodyPr>
          <a:lstStyle/>
          <a:p>
            <a:pPr algn="l"/>
            <a:r>
              <a:rPr sz="1400" b="0" i="0">
                <a:solidFill>
                  <a:srgbClr val="3A4750"/>
                </a:solidFill>
                <a:latin typeface="Aharoni"/>
              </a:rPr>
              <a:t>a 512-dim vector, computed once, cached, never updated.</a:t>
            </a:r>
          </a:p>
        </p:txBody>
      </p:sp>
      <p:sp>
        <p:nvSpPr>
          <p:cNvPr id="8" name="Oval 7"/>
          <p:cNvSpPr/>
          <p:nvPr/>
        </p:nvSpPr>
        <p:spPr>
          <a:xfrm>
            <a:off x="731520" y="2511200"/>
            <a:ext cx="502920" cy="502920"/>
          </a:xfrm>
          <a:prstGeom prst="ellipse">
            <a:avLst/>
          </a:prstGeom>
          <a:solidFill>
            <a:srgbClr val="F2A5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511200"/>
            <a:ext cx="502920" cy="502920"/>
          </a:xfrm>
          <a:prstGeom prst="rect">
            <a:avLst/>
          </a:prstGeom>
          <a:noFill/>
        </p:spPr>
        <p:txBody>
          <a:bodyPr wrap="square" anchor="ctr">
            <a:spAutoFit/>
          </a:bodyPr>
          <a:lstStyle/>
          <a:p>
            <a:pPr algn="ctr"/>
            <a:r>
              <a:rPr sz="1800" b="1" i="0">
                <a:solidFill>
                  <a:srgbClr val="FFFFFF"/>
                </a:solidFill>
                <a:latin typeface="Aharoni"/>
              </a:rPr>
              <a:t>2</a:t>
            </a:r>
          </a:p>
        </p:txBody>
      </p:sp>
      <p:sp>
        <p:nvSpPr>
          <p:cNvPr id="10" name="TextBox 9"/>
          <p:cNvSpPr txBox="1"/>
          <p:nvPr/>
        </p:nvSpPr>
        <p:spPr>
          <a:xfrm>
            <a:off x="1463040" y="2465480"/>
            <a:ext cx="9601200" cy="411480"/>
          </a:xfrm>
          <a:prstGeom prst="rect">
            <a:avLst/>
          </a:prstGeom>
          <a:noFill/>
        </p:spPr>
        <p:txBody>
          <a:bodyPr wrap="square" anchor="ctr">
            <a:spAutoFit/>
          </a:bodyPr>
          <a:lstStyle/>
          <a:p>
            <a:pPr algn="l"/>
            <a:r>
              <a:rPr sz="1800" b="1" i="0">
                <a:solidFill>
                  <a:srgbClr val="21295C"/>
                </a:solidFill>
                <a:latin typeface="Aharoni"/>
              </a:rPr>
              <a:t>The projector produces a visual prefix</a:t>
            </a:r>
          </a:p>
        </p:txBody>
      </p:sp>
      <p:sp>
        <p:nvSpPr>
          <p:cNvPr id="11" name="TextBox 10"/>
          <p:cNvSpPr txBox="1"/>
          <p:nvPr/>
        </p:nvSpPr>
        <p:spPr>
          <a:xfrm>
            <a:off x="1463040" y="2876960"/>
            <a:ext cx="9601200" cy="548640"/>
          </a:xfrm>
          <a:prstGeom prst="rect">
            <a:avLst/>
          </a:prstGeom>
          <a:noFill/>
        </p:spPr>
        <p:txBody>
          <a:bodyPr wrap="square" anchor="ctr">
            <a:spAutoFit/>
          </a:bodyPr>
          <a:lstStyle/>
          <a:p>
            <a:pPr algn="l"/>
            <a:r>
              <a:rPr sz="1400" b="0" i="0">
                <a:solidFill>
                  <a:srgbClr val="3A4750"/>
                </a:solidFill>
                <a:latin typeface="Aharoni"/>
              </a:rPr>
              <a:t>the only new, from-scratch idea in this build.</a:t>
            </a:r>
          </a:p>
        </p:txBody>
      </p:sp>
      <p:sp>
        <p:nvSpPr>
          <p:cNvPr id="12" name="Oval 11"/>
          <p:cNvSpPr/>
          <p:nvPr/>
        </p:nvSpPr>
        <p:spPr>
          <a:xfrm>
            <a:off x="731520" y="3242400"/>
            <a:ext cx="502920" cy="502920"/>
          </a:xfrm>
          <a:prstGeom prst="ellipse">
            <a:avLst/>
          </a:prstGeom>
          <a:solidFill>
            <a:srgbClr val="F2A5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242400"/>
            <a:ext cx="502920" cy="502920"/>
          </a:xfrm>
          <a:prstGeom prst="rect">
            <a:avLst/>
          </a:prstGeom>
          <a:noFill/>
        </p:spPr>
        <p:txBody>
          <a:bodyPr wrap="square" anchor="ctr">
            <a:spAutoFit/>
          </a:bodyPr>
          <a:lstStyle/>
          <a:p>
            <a:pPr algn="ctr"/>
            <a:r>
              <a:rPr sz="1800" b="1" i="0">
                <a:solidFill>
                  <a:srgbClr val="FFFFFF"/>
                </a:solidFill>
                <a:latin typeface="Aharoni"/>
              </a:rPr>
              <a:t>3</a:t>
            </a:r>
          </a:p>
        </p:txBody>
      </p:sp>
      <p:sp>
        <p:nvSpPr>
          <p:cNvPr id="14" name="TextBox 13"/>
          <p:cNvSpPr txBox="1"/>
          <p:nvPr/>
        </p:nvSpPr>
        <p:spPr>
          <a:xfrm>
            <a:off x="1463040" y="3217754"/>
            <a:ext cx="6942406" cy="369332"/>
          </a:xfrm>
          <a:prstGeom prst="rect">
            <a:avLst/>
          </a:prstGeom>
          <a:noFill/>
        </p:spPr>
        <p:txBody>
          <a:bodyPr wrap="square" anchor="ctr">
            <a:spAutoFit/>
          </a:bodyPr>
          <a:lstStyle/>
          <a:p>
            <a:pPr algn="l"/>
            <a:r>
              <a:rPr sz="1800" b="1" i="0">
                <a:solidFill>
                  <a:srgbClr val="21295C"/>
                </a:solidFill>
                <a:latin typeface="Aharoni"/>
              </a:rPr>
              <a:t>The decoder predicts caption tokens</a:t>
            </a:r>
          </a:p>
        </p:txBody>
      </p:sp>
      <p:sp>
        <p:nvSpPr>
          <p:cNvPr id="15" name="TextBox 14"/>
          <p:cNvSpPr txBox="1"/>
          <p:nvPr/>
        </p:nvSpPr>
        <p:spPr>
          <a:xfrm>
            <a:off x="1463040" y="3608160"/>
            <a:ext cx="9601200" cy="548640"/>
          </a:xfrm>
          <a:prstGeom prst="rect">
            <a:avLst/>
          </a:prstGeom>
          <a:noFill/>
        </p:spPr>
        <p:txBody>
          <a:bodyPr wrap="square" anchor="ctr">
            <a:spAutoFit/>
          </a:bodyPr>
          <a:lstStyle/>
          <a:p>
            <a:pPr algn="l"/>
            <a:r>
              <a:rPr sz="1400" b="0" i="0">
                <a:solidFill>
                  <a:srgbClr val="3A4750"/>
                </a:solidFill>
                <a:latin typeface="Aharoni"/>
              </a:rPr>
              <a:t>causal self-attention over [visual, caption-so-far], random init.</a:t>
            </a:r>
          </a:p>
        </p:txBody>
      </p:sp>
      <p:sp>
        <p:nvSpPr>
          <p:cNvPr id="16" name="Oval 15"/>
          <p:cNvSpPr/>
          <p:nvPr/>
        </p:nvSpPr>
        <p:spPr>
          <a:xfrm>
            <a:off x="731520" y="3973600"/>
            <a:ext cx="502920" cy="502920"/>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973600"/>
            <a:ext cx="502920" cy="502920"/>
          </a:xfrm>
          <a:prstGeom prst="rect">
            <a:avLst/>
          </a:prstGeom>
          <a:noFill/>
        </p:spPr>
        <p:txBody>
          <a:bodyPr wrap="square" anchor="ctr">
            <a:spAutoFit/>
          </a:bodyPr>
          <a:lstStyle/>
          <a:p>
            <a:pPr algn="ctr"/>
            <a:r>
              <a:rPr sz="1800" b="1" i="0">
                <a:solidFill>
                  <a:srgbClr val="FFFFFF"/>
                </a:solidFill>
                <a:latin typeface="Aharoni"/>
              </a:rPr>
              <a:t>4</a:t>
            </a:r>
          </a:p>
        </p:txBody>
      </p:sp>
      <p:sp>
        <p:nvSpPr>
          <p:cNvPr id="18" name="TextBox 17"/>
          <p:cNvSpPr txBox="1"/>
          <p:nvPr/>
        </p:nvSpPr>
        <p:spPr>
          <a:xfrm>
            <a:off x="1463040" y="3927880"/>
            <a:ext cx="9601200" cy="411480"/>
          </a:xfrm>
          <a:prstGeom prst="rect">
            <a:avLst/>
          </a:prstGeom>
          <a:noFill/>
        </p:spPr>
        <p:txBody>
          <a:bodyPr wrap="square" anchor="ctr">
            <a:spAutoFit/>
          </a:bodyPr>
          <a:lstStyle/>
          <a:p>
            <a:pPr algn="l"/>
            <a:r>
              <a:rPr sz="1800" b="1" i="0">
                <a:solidFill>
                  <a:srgbClr val="21295C"/>
                </a:solidFill>
                <a:latin typeface="Aharoni"/>
              </a:rPr>
              <a:t>Cross-entropy measures the error</a:t>
            </a:r>
          </a:p>
        </p:txBody>
      </p:sp>
      <p:sp>
        <p:nvSpPr>
          <p:cNvPr id="19" name="TextBox 18"/>
          <p:cNvSpPr txBox="1"/>
          <p:nvPr/>
        </p:nvSpPr>
        <p:spPr>
          <a:xfrm>
            <a:off x="1463040" y="4266131"/>
            <a:ext cx="9601200" cy="548640"/>
          </a:xfrm>
          <a:prstGeom prst="rect">
            <a:avLst/>
          </a:prstGeom>
          <a:noFill/>
        </p:spPr>
        <p:txBody>
          <a:bodyPr wrap="square" anchor="ctr">
            <a:spAutoFit/>
          </a:bodyPr>
          <a:lstStyle/>
          <a:p>
            <a:pPr algn="l"/>
            <a:r>
              <a:rPr sz="1400" b="0" i="0">
                <a:solidFill>
                  <a:srgbClr val="3A4750"/>
                </a:solidFill>
                <a:latin typeface="Aharoni"/>
              </a:rPr>
              <a:t>correctly aligned: logits[:, 1:] against caption_ids[:, 1:].</a:t>
            </a:r>
          </a:p>
        </p:txBody>
      </p:sp>
      <p:sp>
        <p:nvSpPr>
          <p:cNvPr id="20" name="Oval 19"/>
          <p:cNvSpPr/>
          <p:nvPr/>
        </p:nvSpPr>
        <p:spPr>
          <a:xfrm>
            <a:off x="731520" y="4704800"/>
            <a:ext cx="502920" cy="502920"/>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704800"/>
            <a:ext cx="502920" cy="502920"/>
          </a:xfrm>
          <a:prstGeom prst="rect">
            <a:avLst/>
          </a:prstGeom>
          <a:noFill/>
        </p:spPr>
        <p:txBody>
          <a:bodyPr wrap="square" anchor="ctr">
            <a:spAutoFit/>
          </a:bodyPr>
          <a:lstStyle/>
          <a:p>
            <a:pPr algn="ctr"/>
            <a:r>
              <a:rPr sz="1800" b="1" i="0">
                <a:solidFill>
                  <a:srgbClr val="FFFFFF"/>
                </a:solidFill>
                <a:latin typeface="Aharoni"/>
              </a:rPr>
              <a:t>5</a:t>
            </a:r>
          </a:p>
        </p:txBody>
      </p:sp>
      <p:sp>
        <p:nvSpPr>
          <p:cNvPr id="22" name="TextBox 21"/>
          <p:cNvSpPr txBox="1"/>
          <p:nvPr/>
        </p:nvSpPr>
        <p:spPr>
          <a:xfrm>
            <a:off x="1463040" y="4659080"/>
            <a:ext cx="9601200" cy="411480"/>
          </a:xfrm>
          <a:prstGeom prst="rect">
            <a:avLst/>
          </a:prstGeom>
          <a:noFill/>
        </p:spPr>
        <p:txBody>
          <a:bodyPr wrap="square" anchor="ctr">
            <a:spAutoFit/>
          </a:bodyPr>
          <a:lstStyle/>
          <a:p>
            <a:pPr algn="l"/>
            <a:r>
              <a:rPr sz="1800" b="1" i="0">
                <a:solidFill>
                  <a:srgbClr val="21295C"/>
                </a:solidFill>
                <a:latin typeface="Aharoni"/>
              </a:rPr>
              <a:t>Backprop updates decoder + projector</a:t>
            </a:r>
          </a:p>
        </p:txBody>
      </p:sp>
      <p:sp>
        <p:nvSpPr>
          <p:cNvPr id="23" name="TextBox 22"/>
          <p:cNvSpPr txBox="1"/>
          <p:nvPr/>
        </p:nvSpPr>
        <p:spPr>
          <a:xfrm>
            <a:off x="1463040" y="5190991"/>
            <a:ext cx="5770098" cy="307777"/>
          </a:xfrm>
          <a:prstGeom prst="rect">
            <a:avLst/>
          </a:prstGeom>
          <a:noFill/>
        </p:spPr>
        <p:txBody>
          <a:bodyPr wrap="square" anchor="ctr">
            <a:spAutoFit/>
          </a:bodyPr>
          <a:lstStyle/>
          <a:p>
            <a:pPr algn="l"/>
            <a:r>
              <a:rPr sz="1400" b="0" i="0">
                <a:solidFill>
                  <a:srgbClr val="3A4750"/>
                </a:solidFill>
                <a:latin typeface="Aharoni"/>
              </a:rPr>
              <a:t>CLIP stays frozen throughout -- including through model.train().</a:t>
            </a:r>
          </a:p>
        </p:txBody>
      </p:sp>
      <p:sp>
        <p:nvSpPr>
          <p:cNvPr id="24" name="TextBox 23"/>
          <p:cNvSpPr txBox="1"/>
          <p:nvPr/>
        </p:nvSpPr>
        <p:spPr>
          <a:xfrm>
            <a:off x="11150000" y="6500000"/>
            <a:ext cx="800000" cy="274320"/>
          </a:xfrm>
          <a:prstGeom prst="rect">
            <a:avLst/>
          </a:prstGeom>
          <a:noFill/>
        </p:spPr>
        <p:txBody>
          <a:bodyPr wrap="square" anchor="ctr">
            <a:spAutoFit/>
          </a:bodyPr>
          <a:lstStyle/>
          <a:p>
            <a:pPr algn="r"/>
            <a:r>
              <a:rPr sz="1100" b="1" i="0">
                <a:solidFill>
                  <a:srgbClr val="E7E6E6"/>
                </a:solidFill>
                <a:latin typeface="Aharoni"/>
              </a:rPr>
              <a:t>14</a:t>
            </a:r>
          </a:p>
        </p:txBody>
      </p:sp>
      <p:pic>
        <p:nvPicPr>
          <p:cNvPr id="25" name="Picture 24">
            <a:extLst>
              <a:ext uri="{FF2B5EF4-FFF2-40B4-BE49-F238E27FC236}">
                <a16:creationId xmlns:a16="http://schemas.microsoft.com/office/drawing/2014/main" id="{D525E7B3-C5D5-6846-193D-7BF5C723B3D6}"/>
              </a:ext>
            </a:extLst>
          </p:cNvPr>
          <p:cNvPicPr>
            <a:picLocks noChangeAspect="1"/>
          </p:cNvPicPr>
          <p:nvPr/>
        </p:nvPicPr>
        <p:blipFill>
          <a:blip r:embed="rId2"/>
          <a:stretch>
            <a:fillRect/>
          </a:stretch>
        </p:blipFill>
        <p:spPr>
          <a:xfrm>
            <a:off x="9560524" y="213994"/>
            <a:ext cx="2235236" cy="6559732"/>
          </a:xfrm>
          <a:prstGeom prst="rect">
            <a:avLst/>
          </a:prstGeom>
        </p:spPr>
      </p:pic>
      <p:pic>
        <p:nvPicPr>
          <p:cNvPr id="26" name="Picture 25">
            <a:extLst>
              <a:ext uri="{FF2B5EF4-FFF2-40B4-BE49-F238E27FC236}">
                <a16:creationId xmlns:a16="http://schemas.microsoft.com/office/drawing/2014/main" id="{040C9CD9-4300-F1D7-3AB9-56B76F4A205F}"/>
              </a:ext>
            </a:extLst>
          </p:cNvPr>
          <p:cNvPicPr>
            <a:picLocks noChangeAspect="1"/>
          </p:cNvPicPr>
          <p:nvPr/>
        </p:nvPicPr>
        <p:blipFill>
          <a:blip r:embed="rId3"/>
          <a:stretch>
            <a:fillRect/>
          </a:stretch>
        </p:blipFill>
        <p:spPr>
          <a:xfrm>
            <a:off x="10009467" y="318683"/>
            <a:ext cx="1279039" cy="81858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8229600" cy="320040"/>
          </a:xfrm>
          <a:prstGeom prst="rect">
            <a:avLst/>
          </a:prstGeom>
          <a:noFill/>
        </p:spPr>
        <p:txBody>
          <a:bodyPr wrap="square" anchor="ctr">
            <a:spAutoFit/>
          </a:bodyPr>
          <a:lstStyle/>
          <a:p>
            <a:pPr algn="l"/>
            <a:r>
              <a:rPr sz="1300" b="1" i="0" dirty="0">
                <a:solidFill>
                  <a:srgbClr val="F2A541"/>
                </a:solidFill>
                <a:latin typeface="Aharoni"/>
              </a:rPr>
              <a:t>SCOPE, HONESTLY</a:t>
            </a:r>
          </a:p>
        </p:txBody>
      </p:sp>
      <p:sp>
        <p:nvSpPr>
          <p:cNvPr id="3" name="TextBox 2"/>
          <p:cNvSpPr txBox="1"/>
          <p:nvPr/>
        </p:nvSpPr>
        <p:spPr>
          <a:xfrm>
            <a:off x="731521" y="1042924"/>
            <a:ext cx="6149926" cy="553998"/>
          </a:xfrm>
          <a:prstGeom prst="rect">
            <a:avLst/>
          </a:prstGeom>
          <a:noFill/>
        </p:spPr>
        <p:txBody>
          <a:bodyPr wrap="square" anchor="ctr">
            <a:spAutoFit/>
          </a:bodyPr>
          <a:lstStyle/>
          <a:p>
            <a:pPr algn="l"/>
            <a:r>
              <a:rPr sz="3000" b="1" i="0" dirty="0">
                <a:solidFill>
                  <a:srgbClr val="21295C"/>
                </a:solidFill>
                <a:latin typeface="Aharoni"/>
              </a:rPr>
              <a:t>This is a toy. Here's exactly why.</a:t>
            </a:r>
          </a:p>
        </p:txBody>
      </p:sp>
      <p:sp>
        <p:nvSpPr>
          <p:cNvPr id="4" name="Oval 3"/>
          <p:cNvSpPr/>
          <p:nvPr/>
        </p:nvSpPr>
        <p:spPr>
          <a:xfrm>
            <a:off x="731520" y="1700000"/>
            <a:ext cx="430000" cy="4300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00000"/>
            <a:ext cx="430000" cy="430000"/>
          </a:xfrm>
          <a:prstGeom prst="rect">
            <a:avLst/>
          </a:prstGeom>
          <a:noFill/>
        </p:spPr>
        <p:txBody>
          <a:bodyPr wrap="square" anchor="ctr">
            <a:spAutoFit/>
          </a:bodyPr>
          <a:lstStyle/>
          <a:p>
            <a:pPr algn="ctr"/>
            <a:r>
              <a:rPr sz="1800" b="1" i="0">
                <a:solidFill>
                  <a:srgbClr val="FFFFFF"/>
                </a:solidFill>
                <a:latin typeface="Aharoni"/>
              </a:rPr>
              <a:t>!</a:t>
            </a:r>
          </a:p>
        </p:txBody>
      </p:sp>
      <p:sp>
        <p:nvSpPr>
          <p:cNvPr id="6" name="TextBox 5"/>
          <p:cNvSpPr txBox="1"/>
          <p:nvPr/>
        </p:nvSpPr>
        <p:spPr>
          <a:xfrm>
            <a:off x="1300000" y="1660000"/>
            <a:ext cx="9601200" cy="360000"/>
          </a:xfrm>
          <a:prstGeom prst="rect">
            <a:avLst/>
          </a:prstGeom>
          <a:noFill/>
        </p:spPr>
        <p:txBody>
          <a:bodyPr wrap="square" anchor="ctr">
            <a:spAutoFit/>
          </a:bodyPr>
          <a:lstStyle/>
          <a:p>
            <a:pPr algn="l"/>
            <a:r>
              <a:rPr sz="1600" b="1" i="0">
                <a:solidFill>
                  <a:srgbClr val="21295C"/>
                </a:solidFill>
                <a:latin typeface="Aharoni"/>
              </a:rPr>
              <a:t>Scale</a:t>
            </a:r>
          </a:p>
        </p:txBody>
      </p:sp>
      <p:sp>
        <p:nvSpPr>
          <p:cNvPr id="7" name="TextBox 6"/>
          <p:cNvSpPr txBox="1"/>
          <p:nvPr/>
        </p:nvSpPr>
        <p:spPr>
          <a:xfrm>
            <a:off x="1300000" y="2010723"/>
            <a:ext cx="5077354" cy="338554"/>
          </a:xfrm>
          <a:prstGeom prst="rect">
            <a:avLst/>
          </a:prstGeom>
          <a:noFill/>
        </p:spPr>
        <p:txBody>
          <a:bodyPr wrap="square" anchor="ctr">
            <a:spAutoFit/>
          </a:bodyPr>
          <a:lstStyle/>
          <a:p>
            <a:pPr algn="l"/>
            <a:r>
              <a:rPr sz="1600" b="0" i="0" dirty="0">
                <a:solidFill>
                  <a:srgbClr val="3A4750"/>
                </a:solidFill>
                <a:latin typeface="Aharoni"/>
              </a:rPr>
              <a:t>6-15M decoder params vs. billions in a real VLM</a:t>
            </a:r>
          </a:p>
        </p:txBody>
      </p:sp>
      <p:sp>
        <p:nvSpPr>
          <p:cNvPr id="8" name="Oval 7"/>
          <p:cNvSpPr/>
          <p:nvPr/>
        </p:nvSpPr>
        <p:spPr>
          <a:xfrm>
            <a:off x="731520" y="2400000"/>
            <a:ext cx="430000" cy="4300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400000"/>
            <a:ext cx="430000" cy="430000"/>
          </a:xfrm>
          <a:prstGeom prst="rect">
            <a:avLst/>
          </a:prstGeom>
          <a:noFill/>
        </p:spPr>
        <p:txBody>
          <a:bodyPr wrap="square" anchor="ctr">
            <a:spAutoFit/>
          </a:bodyPr>
          <a:lstStyle/>
          <a:p>
            <a:pPr algn="ctr"/>
            <a:r>
              <a:rPr sz="1800" b="1" i="0">
                <a:solidFill>
                  <a:srgbClr val="FFFFFF"/>
                </a:solidFill>
                <a:latin typeface="Aharoni"/>
              </a:rPr>
              <a:t>!</a:t>
            </a:r>
          </a:p>
        </p:txBody>
      </p:sp>
      <p:sp>
        <p:nvSpPr>
          <p:cNvPr id="10" name="TextBox 9"/>
          <p:cNvSpPr txBox="1"/>
          <p:nvPr/>
        </p:nvSpPr>
        <p:spPr>
          <a:xfrm>
            <a:off x="1300000" y="2360000"/>
            <a:ext cx="9601200" cy="360000"/>
          </a:xfrm>
          <a:prstGeom prst="rect">
            <a:avLst/>
          </a:prstGeom>
          <a:noFill/>
        </p:spPr>
        <p:txBody>
          <a:bodyPr wrap="square" anchor="ctr">
            <a:spAutoFit/>
          </a:bodyPr>
          <a:lstStyle/>
          <a:p>
            <a:pPr algn="l"/>
            <a:r>
              <a:rPr sz="1600" b="1" i="0">
                <a:solidFill>
                  <a:srgbClr val="21295C"/>
                </a:solidFill>
                <a:latin typeface="Aharoni"/>
              </a:rPr>
              <a:t>Data</a:t>
            </a:r>
          </a:p>
        </p:txBody>
      </p:sp>
      <p:sp>
        <p:nvSpPr>
          <p:cNvPr id="11" name="TextBox 10"/>
          <p:cNvSpPr txBox="1"/>
          <p:nvPr/>
        </p:nvSpPr>
        <p:spPr>
          <a:xfrm>
            <a:off x="1299999" y="2710723"/>
            <a:ext cx="6566185" cy="338554"/>
          </a:xfrm>
          <a:prstGeom prst="rect">
            <a:avLst/>
          </a:prstGeom>
          <a:noFill/>
        </p:spPr>
        <p:txBody>
          <a:bodyPr wrap="square" anchor="ctr">
            <a:spAutoFit/>
          </a:bodyPr>
          <a:lstStyle/>
          <a:p>
            <a:pPr algn="l"/>
            <a:r>
              <a:rPr sz="1600" b="0" i="0" dirty="0">
                <a:solidFill>
                  <a:srgbClr val="3A4750"/>
                </a:solidFill>
                <a:latin typeface="Aharoni"/>
              </a:rPr>
              <a:t>1,500 training images (this demo) vs. hundreds of millions of pairs</a:t>
            </a:r>
          </a:p>
        </p:txBody>
      </p:sp>
      <p:sp>
        <p:nvSpPr>
          <p:cNvPr id="12" name="Oval 11"/>
          <p:cNvSpPr/>
          <p:nvPr/>
        </p:nvSpPr>
        <p:spPr>
          <a:xfrm>
            <a:off x="731520" y="3100000"/>
            <a:ext cx="430000" cy="4300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100000"/>
            <a:ext cx="430000" cy="430000"/>
          </a:xfrm>
          <a:prstGeom prst="rect">
            <a:avLst/>
          </a:prstGeom>
          <a:noFill/>
        </p:spPr>
        <p:txBody>
          <a:bodyPr wrap="square" anchor="ctr">
            <a:spAutoFit/>
          </a:bodyPr>
          <a:lstStyle/>
          <a:p>
            <a:pPr algn="ctr"/>
            <a:r>
              <a:rPr sz="1800" b="1" i="0">
                <a:solidFill>
                  <a:srgbClr val="FFFFFF"/>
                </a:solidFill>
                <a:latin typeface="Aharoni"/>
              </a:rPr>
              <a:t>!</a:t>
            </a:r>
          </a:p>
        </p:txBody>
      </p:sp>
      <p:sp>
        <p:nvSpPr>
          <p:cNvPr id="14" name="TextBox 13"/>
          <p:cNvSpPr txBox="1"/>
          <p:nvPr/>
        </p:nvSpPr>
        <p:spPr>
          <a:xfrm>
            <a:off x="1300000" y="3060000"/>
            <a:ext cx="9601200" cy="360000"/>
          </a:xfrm>
          <a:prstGeom prst="rect">
            <a:avLst/>
          </a:prstGeom>
          <a:noFill/>
        </p:spPr>
        <p:txBody>
          <a:bodyPr wrap="square" anchor="ctr">
            <a:spAutoFit/>
          </a:bodyPr>
          <a:lstStyle/>
          <a:p>
            <a:pPr algn="l"/>
            <a:r>
              <a:rPr sz="1600" b="1" i="0">
                <a:solidFill>
                  <a:srgbClr val="21295C"/>
                </a:solidFill>
                <a:latin typeface="Aharoni"/>
              </a:rPr>
              <a:t>Tokenization</a:t>
            </a:r>
          </a:p>
        </p:txBody>
      </p:sp>
      <p:sp>
        <p:nvSpPr>
          <p:cNvPr id="15" name="TextBox 14"/>
          <p:cNvSpPr txBox="1"/>
          <p:nvPr/>
        </p:nvSpPr>
        <p:spPr>
          <a:xfrm>
            <a:off x="1299999" y="3410723"/>
            <a:ext cx="6190827" cy="338554"/>
          </a:xfrm>
          <a:prstGeom prst="rect">
            <a:avLst/>
          </a:prstGeom>
          <a:noFill/>
        </p:spPr>
        <p:txBody>
          <a:bodyPr wrap="square" anchor="ctr">
            <a:spAutoFit/>
          </a:bodyPr>
          <a:lstStyle/>
          <a:p>
            <a:pPr algn="l"/>
            <a:r>
              <a:rPr sz="1600" b="0" i="0" dirty="0">
                <a:solidFill>
                  <a:srgbClr val="3A4750"/>
                </a:solidFill>
                <a:latin typeface="Aharoni"/>
              </a:rPr>
              <a:t>character-level, not a trained </a:t>
            </a:r>
            <a:r>
              <a:rPr sz="1600" b="0" i="0" dirty="0" err="1">
                <a:solidFill>
                  <a:srgbClr val="3A4750"/>
                </a:solidFill>
                <a:latin typeface="Aharoni"/>
              </a:rPr>
              <a:t>subword</a:t>
            </a:r>
            <a:r>
              <a:rPr sz="1600" b="0" i="0" dirty="0">
                <a:solidFill>
                  <a:srgbClr val="3A4750"/>
                </a:solidFill>
                <a:latin typeface="Aharoni"/>
              </a:rPr>
              <a:t> vocabulary</a:t>
            </a:r>
          </a:p>
        </p:txBody>
      </p:sp>
      <p:sp>
        <p:nvSpPr>
          <p:cNvPr id="16" name="Oval 15"/>
          <p:cNvSpPr/>
          <p:nvPr/>
        </p:nvSpPr>
        <p:spPr>
          <a:xfrm>
            <a:off x="731520" y="3800000"/>
            <a:ext cx="430000" cy="4300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800000"/>
            <a:ext cx="430000" cy="430000"/>
          </a:xfrm>
          <a:prstGeom prst="rect">
            <a:avLst/>
          </a:prstGeom>
          <a:noFill/>
        </p:spPr>
        <p:txBody>
          <a:bodyPr wrap="square" anchor="ctr">
            <a:spAutoFit/>
          </a:bodyPr>
          <a:lstStyle/>
          <a:p>
            <a:pPr algn="ctr"/>
            <a:r>
              <a:rPr sz="1800" b="1" i="0">
                <a:solidFill>
                  <a:srgbClr val="FFFFFF"/>
                </a:solidFill>
                <a:latin typeface="Aharoni"/>
              </a:rPr>
              <a:t>!</a:t>
            </a:r>
          </a:p>
        </p:txBody>
      </p:sp>
      <p:sp>
        <p:nvSpPr>
          <p:cNvPr id="18" name="TextBox 17"/>
          <p:cNvSpPr txBox="1"/>
          <p:nvPr/>
        </p:nvSpPr>
        <p:spPr>
          <a:xfrm>
            <a:off x="1300000" y="3770723"/>
            <a:ext cx="5077354" cy="338554"/>
          </a:xfrm>
          <a:prstGeom prst="rect">
            <a:avLst/>
          </a:prstGeom>
          <a:noFill/>
        </p:spPr>
        <p:txBody>
          <a:bodyPr wrap="square" anchor="ctr">
            <a:spAutoFit/>
          </a:bodyPr>
          <a:lstStyle/>
          <a:p>
            <a:pPr algn="l"/>
            <a:r>
              <a:rPr sz="1600" b="1" i="0">
                <a:solidFill>
                  <a:srgbClr val="21295C"/>
                </a:solidFill>
                <a:latin typeface="Aharoni"/>
              </a:rPr>
              <a:t>Visual detail</a:t>
            </a:r>
          </a:p>
        </p:txBody>
      </p:sp>
      <p:sp>
        <p:nvSpPr>
          <p:cNvPr id="19" name="TextBox 18"/>
          <p:cNvSpPr txBox="1"/>
          <p:nvPr/>
        </p:nvSpPr>
        <p:spPr>
          <a:xfrm>
            <a:off x="1300000" y="4110723"/>
            <a:ext cx="6073815" cy="338554"/>
          </a:xfrm>
          <a:prstGeom prst="rect">
            <a:avLst/>
          </a:prstGeom>
          <a:noFill/>
        </p:spPr>
        <p:txBody>
          <a:bodyPr wrap="square" anchor="ctr">
            <a:spAutoFit/>
          </a:bodyPr>
          <a:lstStyle/>
          <a:p>
            <a:pPr algn="l"/>
            <a:r>
              <a:rPr sz="1600" b="0" i="0" dirty="0">
                <a:solidFill>
                  <a:srgbClr val="3A4750"/>
                </a:solidFill>
                <a:latin typeface="Aharoni"/>
              </a:rPr>
              <a:t>one pooled embedding, not per-patch cross-attention</a:t>
            </a:r>
          </a:p>
        </p:txBody>
      </p:sp>
      <p:sp>
        <p:nvSpPr>
          <p:cNvPr id="20" name="Oval 19"/>
          <p:cNvSpPr/>
          <p:nvPr/>
        </p:nvSpPr>
        <p:spPr>
          <a:xfrm>
            <a:off x="731520" y="4500000"/>
            <a:ext cx="430000" cy="4300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500000"/>
            <a:ext cx="430000" cy="430000"/>
          </a:xfrm>
          <a:prstGeom prst="rect">
            <a:avLst/>
          </a:prstGeom>
          <a:noFill/>
        </p:spPr>
        <p:txBody>
          <a:bodyPr wrap="square" anchor="ctr">
            <a:spAutoFit/>
          </a:bodyPr>
          <a:lstStyle/>
          <a:p>
            <a:pPr algn="ctr"/>
            <a:r>
              <a:rPr sz="1800" b="1" i="0">
                <a:solidFill>
                  <a:srgbClr val="FFFFFF"/>
                </a:solidFill>
                <a:latin typeface="Aharoni"/>
              </a:rPr>
              <a:t>!</a:t>
            </a:r>
          </a:p>
        </p:txBody>
      </p:sp>
      <p:sp>
        <p:nvSpPr>
          <p:cNvPr id="22" name="TextBox 21"/>
          <p:cNvSpPr txBox="1"/>
          <p:nvPr/>
        </p:nvSpPr>
        <p:spPr>
          <a:xfrm>
            <a:off x="1300000" y="4470723"/>
            <a:ext cx="5077354" cy="338554"/>
          </a:xfrm>
          <a:prstGeom prst="rect">
            <a:avLst/>
          </a:prstGeom>
          <a:noFill/>
        </p:spPr>
        <p:txBody>
          <a:bodyPr wrap="square" anchor="ctr">
            <a:spAutoFit/>
          </a:bodyPr>
          <a:lstStyle/>
          <a:p>
            <a:pPr algn="l"/>
            <a:r>
              <a:rPr sz="1600" b="1" i="0">
                <a:solidFill>
                  <a:srgbClr val="21295C"/>
                </a:solidFill>
                <a:latin typeface="Aharoni"/>
              </a:rPr>
              <a:t>No KV-cache</a:t>
            </a:r>
          </a:p>
        </p:txBody>
      </p:sp>
      <p:sp>
        <p:nvSpPr>
          <p:cNvPr id="23" name="TextBox 22"/>
          <p:cNvSpPr txBox="1"/>
          <p:nvPr/>
        </p:nvSpPr>
        <p:spPr>
          <a:xfrm>
            <a:off x="1299999" y="4687613"/>
            <a:ext cx="5196783" cy="584775"/>
          </a:xfrm>
          <a:prstGeom prst="rect">
            <a:avLst/>
          </a:prstGeom>
          <a:noFill/>
        </p:spPr>
        <p:txBody>
          <a:bodyPr wrap="square" anchor="ctr">
            <a:spAutoFit/>
          </a:bodyPr>
          <a:lstStyle/>
          <a:p>
            <a:pPr algn="l"/>
            <a:r>
              <a:rPr sz="1600" b="0" i="0" dirty="0">
                <a:solidFill>
                  <a:srgbClr val="3A4750"/>
                </a:solidFill>
                <a:latin typeface="Aharoni"/>
              </a:rPr>
              <a:t>generation recomputes attention over the whole prefix each step</a:t>
            </a:r>
          </a:p>
        </p:txBody>
      </p:sp>
      <p:sp>
        <p:nvSpPr>
          <p:cNvPr id="24" name="Oval 23"/>
          <p:cNvSpPr/>
          <p:nvPr/>
        </p:nvSpPr>
        <p:spPr>
          <a:xfrm>
            <a:off x="731520" y="5200000"/>
            <a:ext cx="430000" cy="4300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5200000"/>
            <a:ext cx="430000" cy="430000"/>
          </a:xfrm>
          <a:prstGeom prst="rect">
            <a:avLst/>
          </a:prstGeom>
          <a:noFill/>
        </p:spPr>
        <p:txBody>
          <a:bodyPr wrap="square" anchor="ctr">
            <a:spAutoFit/>
          </a:bodyPr>
          <a:lstStyle/>
          <a:p>
            <a:pPr algn="ctr"/>
            <a:r>
              <a:rPr sz="1800" b="1" i="0">
                <a:solidFill>
                  <a:srgbClr val="FFFFFF"/>
                </a:solidFill>
                <a:latin typeface="Aharoni"/>
              </a:rPr>
              <a:t>!</a:t>
            </a:r>
          </a:p>
        </p:txBody>
      </p:sp>
      <p:sp>
        <p:nvSpPr>
          <p:cNvPr id="26" name="TextBox 25"/>
          <p:cNvSpPr txBox="1"/>
          <p:nvPr/>
        </p:nvSpPr>
        <p:spPr>
          <a:xfrm>
            <a:off x="1300000" y="5170723"/>
            <a:ext cx="5206308" cy="338554"/>
          </a:xfrm>
          <a:prstGeom prst="rect">
            <a:avLst/>
          </a:prstGeom>
          <a:noFill/>
        </p:spPr>
        <p:txBody>
          <a:bodyPr wrap="square" anchor="ctr">
            <a:spAutoFit/>
          </a:bodyPr>
          <a:lstStyle/>
          <a:p>
            <a:pPr algn="l"/>
            <a:r>
              <a:rPr sz="1600" b="1" i="0">
                <a:solidFill>
                  <a:srgbClr val="21295C"/>
                </a:solidFill>
                <a:latin typeface="Aharoni"/>
              </a:rPr>
              <a:t>No formal metric</a:t>
            </a:r>
          </a:p>
        </p:txBody>
      </p:sp>
      <p:sp>
        <p:nvSpPr>
          <p:cNvPr id="27" name="TextBox 26"/>
          <p:cNvSpPr txBox="1"/>
          <p:nvPr/>
        </p:nvSpPr>
        <p:spPr>
          <a:xfrm>
            <a:off x="1300000" y="5617653"/>
            <a:ext cx="5335262" cy="584775"/>
          </a:xfrm>
          <a:prstGeom prst="rect">
            <a:avLst/>
          </a:prstGeom>
          <a:noFill/>
        </p:spPr>
        <p:txBody>
          <a:bodyPr wrap="square" anchor="ctr">
            <a:spAutoFit/>
          </a:bodyPr>
          <a:lstStyle/>
          <a:p>
            <a:pPr algn="l"/>
            <a:r>
              <a:rPr sz="1600" b="0" i="0" dirty="0">
                <a:solidFill>
                  <a:srgbClr val="3A4750"/>
                </a:solidFill>
                <a:latin typeface="Aharoni"/>
              </a:rPr>
              <a:t>no BLEU/</a:t>
            </a:r>
            <a:r>
              <a:rPr sz="1600" b="0" i="0" dirty="0" err="1">
                <a:solidFill>
                  <a:srgbClr val="3A4750"/>
                </a:solidFill>
                <a:latin typeface="Aharoni"/>
              </a:rPr>
              <a:t>CIDEr</a:t>
            </a:r>
            <a:r>
              <a:rPr sz="1600" b="0" i="0" dirty="0">
                <a:solidFill>
                  <a:srgbClr val="3A4750"/>
                </a:solidFill>
                <a:latin typeface="Aharoni"/>
              </a:rPr>
              <a:t> -- judged by reading captions, not scoring them</a:t>
            </a:r>
          </a:p>
        </p:txBody>
      </p:sp>
      <p:sp>
        <p:nvSpPr>
          <p:cNvPr id="28" name="TextBox 27"/>
          <p:cNvSpPr txBox="1"/>
          <p:nvPr/>
        </p:nvSpPr>
        <p:spPr>
          <a:xfrm>
            <a:off x="11150000" y="6500000"/>
            <a:ext cx="800000" cy="274320"/>
          </a:xfrm>
          <a:prstGeom prst="rect">
            <a:avLst/>
          </a:prstGeom>
          <a:noFill/>
        </p:spPr>
        <p:txBody>
          <a:bodyPr wrap="square" anchor="ctr">
            <a:spAutoFit/>
          </a:bodyPr>
          <a:lstStyle/>
          <a:p>
            <a:pPr algn="r"/>
            <a:r>
              <a:rPr sz="1100" b="1" i="0">
                <a:solidFill>
                  <a:srgbClr val="E7E6E6"/>
                </a:solidFill>
                <a:latin typeface="Aharoni"/>
              </a:rPr>
              <a:t>15</a:t>
            </a:r>
          </a:p>
        </p:txBody>
      </p:sp>
      <p:pic>
        <p:nvPicPr>
          <p:cNvPr id="29" name="Picture 28">
            <a:extLst>
              <a:ext uri="{FF2B5EF4-FFF2-40B4-BE49-F238E27FC236}">
                <a16:creationId xmlns:a16="http://schemas.microsoft.com/office/drawing/2014/main" id="{1A6E29E9-D853-0B72-3314-A47E7967CA3E}"/>
              </a:ext>
            </a:extLst>
          </p:cNvPr>
          <p:cNvPicPr>
            <a:picLocks noChangeAspect="1"/>
          </p:cNvPicPr>
          <p:nvPr/>
        </p:nvPicPr>
        <p:blipFill>
          <a:blip r:embed="rId2"/>
          <a:stretch>
            <a:fillRect/>
          </a:stretch>
        </p:blipFill>
        <p:spPr>
          <a:xfrm>
            <a:off x="9275065" y="1016084"/>
            <a:ext cx="2870043" cy="5509277"/>
          </a:xfrm>
          <a:prstGeom prst="rect">
            <a:avLst/>
          </a:prstGeom>
        </p:spPr>
      </p:pic>
      <p:pic>
        <p:nvPicPr>
          <p:cNvPr id="31" name="Picture 30">
            <a:extLst>
              <a:ext uri="{FF2B5EF4-FFF2-40B4-BE49-F238E27FC236}">
                <a16:creationId xmlns:a16="http://schemas.microsoft.com/office/drawing/2014/main" id="{C9C5D73A-22A6-14A2-59DC-18D6E56D9BF7}"/>
              </a:ext>
            </a:extLst>
          </p:cNvPr>
          <p:cNvPicPr>
            <a:picLocks noChangeAspect="1"/>
          </p:cNvPicPr>
          <p:nvPr/>
        </p:nvPicPr>
        <p:blipFill>
          <a:blip r:embed="rId3"/>
          <a:stretch>
            <a:fillRect/>
          </a:stretch>
        </p:blipFill>
        <p:spPr>
          <a:xfrm>
            <a:off x="6635262" y="1582415"/>
            <a:ext cx="2730500" cy="4953000"/>
          </a:xfrm>
          <a:prstGeom prst="rect">
            <a:avLst/>
          </a:prstGeom>
        </p:spPr>
      </p:pic>
      <p:sp>
        <p:nvSpPr>
          <p:cNvPr id="32" name="TextBox 31">
            <a:extLst>
              <a:ext uri="{FF2B5EF4-FFF2-40B4-BE49-F238E27FC236}">
                <a16:creationId xmlns:a16="http://schemas.microsoft.com/office/drawing/2014/main" id="{50230498-9CDF-42A7-A8D6-09872A2E2F03}"/>
              </a:ext>
            </a:extLst>
          </p:cNvPr>
          <p:cNvSpPr txBox="1"/>
          <p:nvPr/>
        </p:nvSpPr>
        <p:spPr>
          <a:xfrm>
            <a:off x="7283496" y="1135257"/>
            <a:ext cx="1991569" cy="369332"/>
          </a:xfrm>
          <a:prstGeom prst="rect">
            <a:avLst/>
          </a:prstGeom>
          <a:noFill/>
        </p:spPr>
        <p:txBody>
          <a:bodyPr wrap="square">
            <a:spAutoFit/>
          </a:bodyPr>
          <a:lstStyle/>
          <a:p>
            <a:pPr algn="l"/>
            <a:r>
              <a:rPr lang="en-US" b="1" i="0" dirty="0">
                <a:solidFill>
                  <a:srgbClr val="F2A541"/>
                </a:solidFill>
                <a:latin typeface="Aharoni"/>
              </a:rPr>
              <a:t>THIS EXAMPLE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8229600" cy="320040"/>
          </a:xfrm>
          <a:prstGeom prst="rect">
            <a:avLst/>
          </a:prstGeom>
          <a:noFill/>
        </p:spPr>
        <p:txBody>
          <a:bodyPr wrap="square" anchor="ctr">
            <a:spAutoFit/>
          </a:bodyPr>
          <a:lstStyle/>
          <a:p>
            <a:pPr algn="l"/>
            <a:r>
              <a:rPr sz="1300" b="1" i="0">
                <a:solidFill>
                  <a:srgbClr val="F2A541"/>
                </a:solidFill>
                <a:latin typeface="Aharoni"/>
              </a:rPr>
              <a:t>EXTENDING THIS  ·  SCALE &amp; DEPLOYMENT</a:t>
            </a:r>
          </a:p>
        </p:txBody>
      </p:sp>
      <p:sp>
        <p:nvSpPr>
          <p:cNvPr id="3" name="TextBox 2"/>
          <p:cNvSpPr txBox="1"/>
          <p:nvPr/>
        </p:nvSpPr>
        <p:spPr>
          <a:xfrm>
            <a:off x="731520" y="914400"/>
            <a:ext cx="10700000" cy="822960"/>
          </a:xfrm>
          <a:prstGeom prst="rect">
            <a:avLst/>
          </a:prstGeom>
          <a:noFill/>
        </p:spPr>
        <p:txBody>
          <a:bodyPr wrap="square" anchor="ctr">
            <a:spAutoFit/>
          </a:bodyPr>
          <a:lstStyle/>
          <a:p>
            <a:pPr algn="l"/>
            <a:r>
              <a:rPr sz="3000" b="1" i="0">
                <a:solidFill>
                  <a:srgbClr val="21295C"/>
                </a:solidFill>
                <a:latin typeface="Aharoni"/>
              </a:rPr>
              <a:t>From lecture demo toward something real</a:t>
            </a:r>
          </a:p>
        </p:txBody>
      </p:sp>
      <p:sp>
        <p:nvSpPr>
          <p:cNvPr id="4" name="Oval 3"/>
          <p:cNvSpPr/>
          <p:nvPr/>
        </p:nvSpPr>
        <p:spPr>
          <a:xfrm>
            <a:off x="731520" y="1780000"/>
            <a:ext cx="502920" cy="502920"/>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80000"/>
            <a:ext cx="502920" cy="502920"/>
          </a:xfrm>
          <a:prstGeom prst="rect">
            <a:avLst/>
          </a:prstGeom>
          <a:noFill/>
        </p:spPr>
        <p:txBody>
          <a:bodyPr wrap="square" anchor="ctr">
            <a:spAutoFit/>
          </a:bodyPr>
          <a:lstStyle/>
          <a:p>
            <a:pPr algn="ctr"/>
            <a:r>
              <a:rPr sz="1800" b="1" i="0">
                <a:solidFill>
                  <a:srgbClr val="FFFFFF"/>
                </a:solidFill>
                <a:latin typeface="Aharoni"/>
              </a:rPr>
              <a:t>1</a:t>
            </a:r>
          </a:p>
        </p:txBody>
      </p:sp>
      <p:sp>
        <p:nvSpPr>
          <p:cNvPr id="6" name="TextBox 5"/>
          <p:cNvSpPr txBox="1"/>
          <p:nvPr/>
        </p:nvSpPr>
        <p:spPr>
          <a:xfrm>
            <a:off x="1463040" y="1734280"/>
            <a:ext cx="9601200" cy="411480"/>
          </a:xfrm>
          <a:prstGeom prst="rect">
            <a:avLst/>
          </a:prstGeom>
          <a:noFill/>
        </p:spPr>
        <p:txBody>
          <a:bodyPr wrap="square" anchor="ctr">
            <a:spAutoFit/>
          </a:bodyPr>
          <a:lstStyle/>
          <a:p>
            <a:pPr algn="l"/>
            <a:r>
              <a:rPr sz="1800" b="1" i="0">
                <a:solidFill>
                  <a:srgbClr val="21295C"/>
                </a:solidFill>
                <a:latin typeface="Aharoni"/>
              </a:rPr>
              <a:t>Bigger data needs a dataset-specific adapter</a:t>
            </a:r>
          </a:p>
        </p:txBody>
      </p:sp>
      <p:sp>
        <p:nvSpPr>
          <p:cNvPr id="7" name="TextBox 6"/>
          <p:cNvSpPr txBox="1"/>
          <p:nvPr/>
        </p:nvSpPr>
        <p:spPr>
          <a:xfrm>
            <a:off x="1463040" y="2145760"/>
            <a:ext cx="9601200" cy="548640"/>
          </a:xfrm>
          <a:prstGeom prst="rect">
            <a:avLst/>
          </a:prstGeom>
          <a:noFill/>
        </p:spPr>
        <p:txBody>
          <a:bodyPr wrap="square" anchor="ctr">
            <a:spAutoFit/>
          </a:bodyPr>
          <a:lstStyle/>
          <a:p>
            <a:pPr algn="l"/>
            <a:r>
              <a:rPr sz="1400" b="0" i="0">
                <a:solidFill>
                  <a:srgbClr val="3A4750"/>
                </a:solidFill>
                <a:latin typeface="Aharoni"/>
              </a:rPr>
              <a:t>COCO/LAION aren't drop-in -- tinyvlm_data.py assumes Flickr8k's exact column names and official splits.</a:t>
            </a:r>
          </a:p>
        </p:txBody>
      </p:sp>
      <p:sp>
        <p:nvSpPr>
          <p:cNvPr id="8" name="Oval 7"/>
          <p:cNvSpPr/>
          <p:nvPr/>
        </p:nvSpPr>
        <p:spPr>
          <a:xfrm>
            <a:off x="731520" y="2650000"/>
            <a:ext cx="502920" cy="502920"/>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650000"/>
            <a:ext cx="502920" cy="502920"/>
          </a:xfrm>
          <a:prstGeom prst="rect">
            <a:avLst/>
          </a:prstGeom>
          <a:noFill/>
        </p:spPr>
        <p:txBody>
          <a:bodyPr wrap="square" anchor="ctr">
            <a:spAutoFit/>
          </a:bodyPr>
          <a:lstStyle/>
          <a:p>
            <a:pPr algn="ctr"/>
            <a:r>
              <a:rPr sz="1800" b="1" i="0">
                <a:solidFill>
                  <a:srgbClr val="FFFFFF"/>
                </a:solidFill>
                <a:latin typeface="Aharoni"/>
              </a:rPr>
              <a:t>2</a:t>
            </a:r>
          </a:p>
        </p:txBody>
      </p:sp>
      <p:sp>
        <p:nvSpPr>
          <p:cNvPr id="10" name="TextBox 9"/>
          <p:cNvSpPr txBox="1"/>
          <p:nvPr/>
        </p:nvSpPr>
        <p:spPr>
          <a:xfrm>
            <a:off x="1463040" y="2604280"/>
            <a:ext cx="9601200" cy="411480"/>
          </a:xfrm>
          <a:prstGeom prst="rect">
            <a:avLst/>
          </a:prstGeom>
          <a:noFill/>
        </p:spPr>
        <p:txBody>
          <a:bodyPr wrap="square" anchor="ctr">
            <a:spAutoFit/>
          </a:bodyPr>
          <a:lstStyle/>
          <a:p>
            <a:pPr algn="l"/>
            <a:r>
              <a:rPr sz="1800" b="1" i="0">
                <a:solidFill>
                  <a:srgbClr val="21295C"/>
                </a:solidFill>
                <a:latin typeface="Aharoni"/>
              </a:rPr>
              <a:t>A real multimodal pretrained checkpoint</a:t>
            </a:r>
          </a:p>
        </p:txBody>
      </p:sp>
      <p:sp>
        <p:nvSpPr>
          <p:cNvPr id="11" name="TextBox 10"/>
          <p:cNvSpPr txBox="1"/>
          <p:nvPr/>
        </p:nvSpPr>
        <p:spPr>
          <a:xfrm>
            <a:off x="1463040" y="3015760"/>
            <a:ext cx="9601200" cy="548640"/>
          </a:xfrm>
          <a:prstGeom prst="rect">
            <a:avLst/>
          </a:prstGeom>
          <a:noFill/>
        </p:spPr>
        <p:txBody>
          <a:bodyPr wrap="square" anchor="ctr">
            <a:spAutoFit/>
          </a:bodyPr>
          <a:lstStyle/>
          <a:p>
            <a:pPr algn="l"/>
            <a:r>
              <a:rPr sz="1400" b="0" i="0">
                <a:solidFill>
                  <a:srgbClr val="3A4750"/>
                </a:solidFill>
                <a:latin typeface="Aharoni"/>
              </a:rPr>
              <a:t>swap in an open small VLM's weights where freezing the decoder actually makes sense.</a:t>
            </a:r>
          </a:p>
        </p:txBody>
      </p:sp>
      <p:sp>
        <p:nvSpPr>
          <p:cNvPr id="12" name="Oval 11"/>
          <p:cNvSpPr/>
          <p:nvPr/>
        </p:nvSpPr>
        <p:spPr>
          <a:xfrm>
            <a:off x="731520" y="3520000"/>
            <a:ext cx="502920" cy="502920"/>
          </a:xfrm>
          <a:prstGeom prst="ellipse">
            <a:avLst/>
          </a:prstGeom>
          <a:solidFill>
            <a:srgbClr val="F2A5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520000"/>
            <a:ext cx="502920" cy="502920"/>
          </a:xfrm>
          <a:prstGeom prst="rect">
            <a:avLst/>
          </a:prstGeom>
          <a:noFill/>
        </p:spPr>
        <p:txBody>
          <a:bodyPr wrap="square" anchor="ctr">
            <a:spAutoFit/>
          </a:bodyPr>
          <a:lstStyle/>
          <a:p>
            <a:pPr algn="ctr"/>
            <a:r>
              <a:rPr sz="1800" b="1" i="0">
                <a:solidFill>
                  <a:srgbClr val="FFFFFF"/>
                </a:solidFill>
                <a:latin typeface="Aharoni"/>
              </a:rPr>
              <a:t>3</a:t>
            </a:r>
          </a:p>
        </p:txBody>
      </p:sp>
      <p:sp>
        <p:nvSpPr>
          <p:cNvPr id="14" name="TextBox 13"/>
          <p:cNvSpPr txBox="1"/>
          <p:nvPr/>
        </p:nvSpPr>
        <p:spPr>
          <a:xfrm>
            <a:off x="1463040" y="3474280"/>
            <a:ext cx="9601200" cy="411480"/>
          </a:xfrm>
          <a:prstGeom prst="rect">
            <a:avLst/>
          </a:prstGeom>
          <a:noFill/>
        </p:spPr>
        <p:txBody>
          <a:bodyPr wrap="square" anchor="ctr">
            <a:spAutoFit/>
          </a:bodyPr>
          <a:lstStyle/>
          <a:p>
            <a:pPr algn="l"/>
            <a:r>
              <a:rPr sz="1800" b="1" i="0">
                <a:solidFill>
                  <a:srgbClr val="21295C"/>
                </a:solidFill>
                <a:latin typeface="Aharoni"/>
              </a:rPr>
              <a:t>Exporting the decoder isn't exporting the model</a:t>
            </a:r>
          </a:p>
        </p:txBody>
      </p:sp>
      <p:sp>
        <p:nvSpPr>
          <p:cNvPr id="15" name="TextBox 14"/>
          <p:cNvSpPr txBox="1"/>
          <p:nvPr/>
        </p:nvSpPr>
        <p:spPr>
          <a:xfrm>
            <a:off x="1463040" y="3885760"/>
            <a:ext cx="9601200" cy="548640"/>
          </a:xfrm>
          <a:prstGeom prst="rect">
            <a:avLst/>
          </a:prstGeom>
          <a:noFill/>
        </p:spPr>
        <p:txBody>
          <a:bodyPr wrap="square" anchor="ctr">
            <a:spAutoFit/>
          </a:bodyPr>
          <a:lstStyle/>
          <a:p>
            <a:pPr algn="l"/>
            <a:r>
              <a:rPr sz="1400" b="0" i="0">
                <a:solidFill>
                  <a:srgbClr val="3A4750"/>
                </a:solidFill>
                <a:latin typeface="Aharoni"/>
              </a:rPr>
              <a:t>llama2.c's run.c handles the decoder alone -- CLIP and the projector still need their own export path (e.g. ONNX/Core ML).</a:t>
            </a:r>
          </a:p>
        </p:txBody>
      </p:sp>
      <p:sp>
        <p:nvSpPr>
          <p:cNvPr id="16" name="Oval 15"/>
          <p:cNvSpPr/>
          <p:nvPr/>
        </p:nvSpPr>
        <p:spPr>
          <a:xfrm>
            <a:off x="731520" y="4390000"/>
            <a:ext cx="502920" cy="502920"/>
          </a:xfrm>
          <a:prstGeom prst="ellipse">
            <a:avLst/>
          </a:prstGeom>
          <a:solidFill>
            <a:srgbClr val="F2A5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4390000"/>
            <a:ext cx="502920" cy="502920"/>
          </a:xfrm>
          <a:prstGeom prst="rect">
            <a:avLst/>
          </a:prstGeom>
          <a:noFill/>
        </p:spPr>
        <p:txBody>
          <a:bodyPr wrap="square" anchor="ctr">
            <a:spAutoFit/>
          </a:bodyPr>
          <a:lstStyle/>
          <a:p>
            <a:pPr algn="ctr"/>
            <a:r>
              <a:rPr sz="1800" b="1" i="0">
                <a:solidFill>
                  <a:srgbClr val="FFFFFF"/>
                </a:solidFill>
                <a:latin typeface="Aharoni"/>
              </a:rPr>
              <a:t>4</a:t>
            </a:r>
          </a:p>
        </p:txBody>
      </p:sp>
      <p:sp>
        <p:nvSpPr>
          <p:cNvPr id="18" name="TextBox 17"/>
          <p:cNvSpPr txBox="1"/>
          <p:nvPr/>
        </p:nvSpPr>
        <p:spPr>
          <a:xfrm>
            <a:off x="1463040" y="4344280"/>
            <a:ext cx="9601200" cy="411480"/>
          </a:xfrm>
          <a:prstGeom prst="rect">
            <a:avLst/>
          </a:prstGeom>
          <a:noFill/>
        </p:spPr>
        <p:txBody>
          <a:bodyPr wrap="square" anchor="ctr">
            <a:spAutoFit/>
          </a:bodyPr>
          <a:lstStyle/>
          <a:p>
            <a:pPr algn="l"/>
            <a:r>
              <a:rPr sz="1800" b="1" i="0">
                <a:solidFill>
                  <a:srgbClr val="21295C"/>
                </a:solidFill>
                <a:latin typeface="Aharoni"/>
              </a:rPr>
              <a:t>A real GPU box</a:t>
            </a:r>
          </a:p>
        </p:txBody>
      </p:sp>
      <p:sp>
        <p:nvSpPr>
          <p:cNvPr id="19" name="TextBox 18"/>
          <p:cNvSpPr txBox="1"/>
          <p:nvPr/>
        </p:nvSpPr>
        <p:spPr>
          <a:xfrm>
            <a:off x="1463040" y="4755760"/>
            <a:ext cx="9601200" cy="548640"/>
          </a:xfrm>
          <a:prstGeom prst="rect">
            <a:avLst/>
          </a:prstGeom>
          <a:noFill/>
        </p:spPr>
        <p:txBody>
          <a:bodyPr wrap="square" anchor="ctr">
            <a:spAutoFit/>
          </a:bodyPr>
          <a:lstStyle/>
          <a:p>
            <a:pPr algn="l"/>
            <a:r>
              <a:rPr sz="1400" b="0" i="0">
                <a:solidFill>
                  <a:srgbClr val="3A4750"/>
                </a:solidFill>
                <a:latin typeface="Aharoni"/>
              </a:rPr>
              <a:t>same trainVLM.py, pointed at cuda instead of cpu/mps -- device is a speed knob here, not a correctness one.</a:t>
            </a:r>
          </a:p>
        </p:txBody>
      </p:sp>
      <p:sp>
        <p:nvSpPr>
          <p:cNvPr id="20" name="TextBox 19"/>
          <p:cNvSpPr txBox="1"/>
          <p:nvPr/>
        </p:nvSpPr>
        <p:spPr>
          <a:xfrm>
            <a:off x="11150000" y="6500000"/>
            <a:ext cx="800000" cy="274320"/>
          </a:xfrm>
          <a:prstGeom prst="rect">
            <a:avLst/>
          </a:prstGeom>
          <a:noFill/>
        </p:spPr>
        <p:txBody>
          <a:bodyPr wrap="square" anchor="ctr">
            <a:spAutoFit/>
          </a:bodyPr>
          <a:lstStyle/>
          <a:p>
            <a:pPr algn="r"/>
            <a:r>
              <a:rPr sz="1100" b="1" i="0">
                <a:solidFill>
                  <a:srgbClr val="E7E6E6"/>
                </a:solidFill>
                <a:latin typeface="Aharoni"/>
              </a:rPr>
              <a:t>17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8229600" cy="320040"/>
          </a:xfrm>
          <a:prstGeom prst="rect">
            <a:avLst/>
          </a:prstGeom>
          <a:noFill/>
        </p:spPr>
        <p:txBody>
          <a:bodyPr wrap="square" anchor="ctr">
            <a:spAutoFit/>
          </a:bodyPr>
          <a:lstStyle/>
          <a:p>
            <a:pPr algn="l"/>
            <a:r>
              <a:rPr sz="1300" b="1" i="0">
                <a:solidFill>
                  <a:srgbClr val="F2A541"/>
                </a:solidFill>
                <a:latin typeface="Aharoni"/>
              </a:rPr>
              <a:t>EXTENDING THIS  ·  FUNCTIONALITY</a:t>
            </a:r>
          </a:p>
        </p:txBody>
      </p:sp>
      <p:sp>
        <p:nvSpPr>
          <p:cNvPr id="3" name="TextBox 2"/>
          <p:cNvSpPr txBox="1"/>
          <p:nvPr/>
        </p:nvSpPr>
        <p:spPr>
          <a:xfrm>
            <a:off x="731520" y="914400"/>
            <a:ext cx="10700000" cy="822960"/>
          </a:xfrm>
          <a:prstGeom prst="rect">
            <a:avLst/>
          </a:prstGeom>
          <a:noFill/>
        </p:spPr>
        <p:txBody>
          <a:bodyPr wrap="square" anchor="ctr">
            <a:spAutoFit/>
          </a:bodyPr>
          <a:lstStyle/>
          <a:p>
            <a:pPr algn="l"/>
            <a:r>
              <a:rPr sz="3000" b="1" i="0">
                <a:solidFill>
                  <a:srgbClr val="21295C"/>
                </a:solidFill>
                <a:latin typeface="Aharoni"/>
              </a:rPr>
              <a:t>Same recipe, more capable -- with the caveats included</a:t>
            </a:r>
          </a:p>
        </p:txBody>
      </p:sp>
      <p:sp>
        <p:nvSpPr>
          <p:cNvPr id="4" name="Oval 3"/>
          <p:cNvSpPr/>
          <p:nvPr/>
        </p:nvSpPr>
        <p:spPr>
          <a:xfrm>
            <a:off x="731520" y="1780000"/>
            <a:ext cx="502920" cy="50292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80000"/>
            <a:ext cx="502920" cy="502920"/>
          </a:xfrm>
          <a:prstGeom prst="rect">
            <a:avLst/>
          </a:prstGeom>
          <a:noFill/>
        </p:spPr>
        <p:txBody>
          <a:bodyPr wrap="square" anchor="ctr">
            <a:spAutoFit/>
          </a:bodyPr>
          <a:lstStyle/>
          <a:p>
            <a:pPr algn="ctr"/>
            <a:r>
              <a:rPr sz="1800" b="1" i="0">
                <a:solidFill>
                  <a:srgbClr val="FFFFFF"/>
                </a:solidFill>
                <a:latin typeface="Aharoni"/>
              </a:rPr>
              <a:t>1</a:t>
            </a:r>
          </a:p>
        </p:txBody>
      </p:sp>
      <p:sp>
        <p:nvSpPr>
          <p:cNvPr id="6" name="TextBox 5"/>
          <p:cNvSpPr txBox="1"/>
          <p:nvPr/>
        </p:nvSpPr>
        <p:spPr>
          <a:xfrm>
            <a:off x="1463040" y="1734280"/>
            <a:ext cx="9601200" cy="411480"/>
          </a:xfrm>
          <a:prstGeom prst="rect">
            <a:avLst/>
          </a:prstGeom>
          <a:noFill/>
        </p:spPr>
        <p:txBody>
          <a:bodyPr wrap="square" anchor="ctr">
            <a:spAutoFit/>
          </a:bodyPr>
          <a:lstStyle/>
          <a:p>
            <a:pPr algn="l"/>
            <a:r>
              <a:rPr sz="1800" b="1" i="0">
                <a:solidFill>
                  <a:srgbClr val="21295C"/>
                </a:solidFill>
                <a:latin typeface="Aharoni"/>
              </a:rPr>
              <a:t>Run the stories15M comparison</a:t>
            </a:r>
          </a:p>
        </p:txBody>
      </p:sp>
      <p:sp>
        <p:nvSpPr>
          <p:cNvPr id="7" name="TextBox 6"/>
          <p:cNvSpPr txBox="1"/>
          <p:nvPr/>
        </p:nvSpPr>
        <p:spPr>
          <a:xfrm>
            <a:off x="1463040" y="2145760"/>
            <a:ext cx="9601200" cy="548640"/>
          </a:xfrm>
          <a:prstGeom prst="rect">
            <a:avLst/>
          </a:prstGeom>
          <a:noFill/>
        </p:spPr>
        <p:txBody>
          <a:bodyPr wrap="square" anchor="ctr">
            <a:spAutoFit/>
          </a:bodyPr>
          <a:lstStyle/>
          <a:p>
            <a:pPr algn="l"/>
            <a:r>
              <a:rPr sz="1400" b="0" i="0">
                <a:solidFill>
                  <a:srgbClr val="3A4750"/>
                </a:solidFill>
                <a:latin typeface="Aharoni"/>
              </a:rPr>
              <a:t>seed the decoder from Karpathy's text-only checkpoint (tokenizer.model, not tokenizer.bin) and compare its loss curve to random init -- measure it, don't assume it.</a:t>
            </a:r>
          </a:p>
        </p:txBody>
      </p:sp>
      <p:sp>
        <p:nvSpPr>
          <p:cNvPr id="8" name="Oval 7"/>
          <p:cNvSpPr/>
          <p:nvPr/>
        </p:nvSpPr>
        <p:spPr>
          <a:xfrm>
            <a:off x="731520" y="2650000"/>
            <a:ext cx="502920" cy="50292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650000"/>
            <a:ext cx="502920" cy="502920"/>
          </a:xfrm>
          <a:prstGeom prst="rect">
            <a:avLst/>
          </a:prstGeom>
          <a:noFill/>
        </p:spPr>
        <p:txBody>
          <a:bodyPr wrap="square" anchor="ctr">
            <a:spAutoFit/>
          </a:bodyPr>
          <a:lstStyle/>
          <a:p>
            <a:pPr algn="ctr"/>
            <a:r>
              <a:rPr sz="1800" b="1" i="0">
                <a:solidFill>
                  <a:srgbClr val="FFFFFF"/>
                </a:solidFill>
                <a:latin typeface="Aharoni"/>
              </a:rPr>
              <a:t>2</a:t>
            </a:r>
          </a:p>
        </p:txBody>
      </p:sp>
      <p:sp>
        <p:nvSpPr>
          <p:cNvPr id="10" name="TextBox 9"/>
          <p:cNvSpPr txBox="1"/>
          <p:nvPr/>
        </p:nvSpPr>
        <p:spPr>
          <a:xfrm>
            <a:off x="1463040" y="2604280"/>
            <a:ext cx="9601200" cy="411480"/>
          </a:xfrm>
          <a:prstGeom prst="rect">
            <a:avLst/>
          </a:prstGeom>
          <a:noFill/>
        </p:spPr>
        <p:txBody>
          <a:bodyPr wrap="square" anchor="ctr">
            <a:spAutoFit/>
          </a:bodyPr>
          <a:lstStyle/>
          <a:p>
            <a:pPr algn="l"/>
            <a:r>
              <a:rPr sz="1800" b="1" i="0">
                <a:solidFill>
                  <a:srgbClr val="21295C"/>
                </a:solidFill>
                <a:latin typeface="Aharoni"/>
              </a:rPr>
              <a:t>Project more visual tokens</a:t>
            </a:r>
          </a:p>
        </p:txBody>
      </p:sp>
      <p:sp>
        <p:nvSpPr>
          <p:cNvPr id="11" name="TextBox 10"/>
          <p:cNvSpPr txBox="1"/>
          <p:nvPr/>
        </p:nvSpPr>
        <p:spPr>
          <a:xfrm>
            <a:off x="1463040" y="3015760"/>
            <a:ext cx="9601200" cy="548640"/>
          </a:xfrm>
          <a:prstGeom prst="rect">
            <a:avLst/>
          </a:prstGeom>
          <a:noFill/>
        </p:spPr>
        <p:txBody>
          <a:bodyPr wrap="square" anchor="ctr">
            <a:spAutoFit/>
          </a:bodyPr>
          <a:lstStyle/>
          <a:p>
            <a:pPr algn="l"/>
            <a:r>
              <a:rPr sz="1400" b="0" i="0">
                <a:solidFill>
                  <a:srgbClr val="3A4750"/>
                </a:solidFill>
                <a:latin typeface="Aharoni"/>
              </a:rPr>
              <a:t>CLIP's patch-level features as a longer prefix -- still self-attention over a longer sequence, NOT automatically cross-attention.</a:t>
            </a:r>
          </a:p>
        </p:txBody>
      </p:sp>
      <p:sp>
        <p:nvSpPr>
          <p:cNvPr id="12" name="Oval 11"/>
          <p:cNvSpPr/>
          <p:nvPr/>
        </p:nvSpPr>
        <p:spPr>
          <a:xfrm>
            <a:off x="731520" y="3520000"/>
            <a:ext cx="502920" cy="50292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520000"/>
            <a:ext cx="502920" cy="502920"/>
          </a:xfrm>
          <a:prstGeom prst="rect">
            <a:avLst/>
          </a:prstGeom>
          <a:noFill/>
        </p:spPr>
        <p:txBody>
          <a:bodyPr wrap="square" anchor="ctr">
            <a:spAutoFit/>
          </a:bodyPr>
          <a:lstStyle/>
          <a:p>
            <a:pPr algn="ctr"/>
            <a:r>
              <a:rPr sz="1800" b="1" i="0">
                <a:solidFill>
                  <a:srgbClr val="FFFFFF"/>
                </a:solidFill>
                <a:latin typeface="Aharoni"/>
              </a:rPr>
              <a:t>3</a:t>
            </a:r>
          </a:p>
        </p:txBody>
      </p:sp>
      <p:sp>
        <p:nvSpPr>
          <p:cNvPr id="14" name="TextBox 13"/>
          <p:cNvSpPr txBox="1"/>
          <p:nvPr/>
        </p:nvSpPr>
        <p:spPr>
          <a:xfrm>
            <a:off x="1463040" y="3474280"/>
            <a:ext cx="9601200" cy="411480"/>
          </a:xfrm>
          <a:prstGeom prst="rect">
            <a:avLst/>
          </a:prstGeom>
          <a:noFill/>
        </p:spPr>
        <p:txBody>
          <a:bodyPr wrap="square" anchor="ctr">
            <a:spAutoFit/>
          </a:bodyPr>
          <a:lstStyle/>
          <a:p>
            <a:pPr algn="l"/>
            <a:r>
              <a:rPr sz="1800" b="1" i="0">
                <a:solidFill>
                  <a:srgbClr val="21295C"/>
                </a:solidFill>
                <a:latin typeface="Aharoni"/>
              </a:rPr>
              <a:t>Turn captioning into VQA</a:t>
            </a:r>
          </a:p>
        </p:txBody>
      </p:sp>
      <p:sp>
        <p:nvSpPr>
          <p:cNvPr id="15" name="TextBox 14"/>
          <p:cNvSpPr txBox="1"/>
          <p:nvPr/>
        </p:nvSpPr>
        <p:spPr>
          <a:xfrm>
            <a:off x="1463040" y="3885760"/>
            <a:ext cx="9601200" cy="548640"/>
          </a:xfrm>
          <a:prstGeom prst="rect">
            <a:avLst/>
          </a:prstGeom>
          <a:noFill/>
        </p:spPr>
        <p:txBody>
          <a:bodyPr wrap="square" anchor="ctr">
            <a:spAutoFit/>
          </a:bodyPr>
          <a:lstStyle/>
          <a:p>
            <a:pPr algn="l"/>
            <a:r>
              <a:rPr sz="1400" b="0" i="0">
                <a:solidFill>
                  <a:srgbClr val="3A4750"/>
                </a:solidFill>
                <a:latin typeface="Aharoni"/>
              </a:rPr>
              <a:t>needs a real input/target convention and loss masking on the question tokens, not just a prepended question.</a:t>
            </a:r>
          </a:p>
        </p:txBody>
      </p:sp>
      <p:sp>
        <p:nvSpPr>
          <p:cNvPr id="16" name="Oval 15"/>
          <p:cNvSpPr/>
          <p:nvPr/>
        </p:nvSpPr>
        <p:spPr>
          <a:xfrm>
            <a:off x="731520" y="4390000"/>
            <a:ext cx="502920" cy="50292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4390000"/>
            <a:ext cx="502920" cy="502920"/>
          </a:xfrm>
          <a:prstGeom prst="rect">
            <a:avLst/>
          </a:prstGeom>
          <a:noFill/>
        </p:spPr>
        <p:txBody>
          <a:bodyPr wrap="square" anchor="ctr">
            <a:spAutoFit/>
          </a:bodyPr>
          <a:lstStyle/>
          <a:p>
            <a:pPr algn="ctr"/>
            <a:r>
              <a:rPr sz="1800" b="1" i="0">
                <a:solidFill>
                  <a:srgbClr val="FFFFFF"/>
                </a:solidFill>
                <a:latin typeface="Aharoni"/>
              </a:rPr>
              <a:t>4</a:t>
            </a:r>
          </a:p>
        </p:txBody>
      </p:sp>
      <p:sp>
        <p:nvSpPr>
          <p:cNvPr id="18" name="TextBox 17"/>
          <p:cNvSpPr txBox="1"/>
          <p:nvPr/>
        </p:nvSpPr>
        <p:spPr>
          <a:xfrm>
            <a:off x="1463040" y="4344280"/>
            <a:ext cx="9601200" cy="411480"/>
          </a:xfrm>
          <a:prstGeom prst="rect">
            <a:avLst/>
          </a:prstGeom>
          <a:noFill/>
        </p:spPr>
        <p:txBody>
          <a:bodyPr wrap="square" anchor="ctr">
            <a:spAutoFit/>
          </a:bodyPr>
          <a:lstStyle/>
          <a:p>
            <a:pPr algn="l"/>
            <a:r>
              <a:rPr sz="1800" b="1" i="0">
                <a:solidFill>
                  <a:srgbClr val="21295C"/>
                </a:solidFill>
                <a:latin typeface="Aharoni"/>
              </a:rPr>
              <a:t>Freeze the decoder -- once it has a prior worth freezing</a:t>
            </a:r>
          </a:p>
        </p:txBody>
      </p:sp>
      <p:sp>
        <p:nvSpPr>
          <p:cNvPr id="19" name="TextBox 18"/>
          <p:cNvSpPr txBox="1"/>
          <p:nvPr/>
        </p:nvSpPr>
        <p:spPr>
          <a:xfrm>
            <a:off x="1463040" y="4755760"/>
            <a:ext cx="9601200" cy="548640"/>
          </a:xfrm>
          <a:prstGeom prst="rect">
            <a:avLst/>
          </a:prstGeom>
          <a:noFill/>
        </p:spPr>
        <p:txBody>
          <a:bodyPr wrap="square" anchor="ctr">
            <a:spAutoFit/>
          </a:bodyPr>
          <a:lstStyle/>
          <a:p>
            <a:pPr algn="l"/>
            <a:r>
              <a:rPr sz="1400" b="0" i="0">
                <a:solidFill>
                  <a:srgbClr val="3A4750"/>
                </a:solidFill>
                <a:latin typeface="Aharoni"/>
              </a:rPr>
              <a:t>a standard alignment pattern: freeze a language-capable decoder (text-pretrained or multimodal), train only the projector. Freezing the default RANDOM decoder trains nothing useful.</a:t>
            </a:r>
          </a:p>
        </p:txBody>
      </p:sp>
      <p:sp>
        <p:nvSpPr>
          <p:cNvPr id="20" name="TextBox 19"/>
          <p:cNvSpPr txBox="1"/>
          <p:nvPr/>
        </p:nvSpPr>
        <p:spPr>
          <a:xfrm>
            <a:off x="11150000" y="6500000"/>
            <a:ext cx="800000" cy="274320"/>
          </a:xfrm>
          <a:prstGeom prst="rect">
            <a:avLst/>
          </a:prstGeom>
          <a:noFill/>
        </p:spPr>
        <p:txBody>
          <a:bodyPr wrap="square" anchor="ctr">
            <a:spAutoFit/>
          </a:bodyPr>
          <a:lstStyle/>
          <a:p>
            <a:pPr algn="r"/>
            <a:r>
              <a:rPr sz="1100" b="1" i="0">
                <a:solidFill>
                  <a:srgbClr val="E7E6E6"/>
                </a:solidFill>
                <a:latin typeface="Aharoni"/>
              </a:rPr>
              <a:t>16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8229600" cy="320040"/>
          </a:xfrm>
          <a:prstGeom prst="rect">
            <a:avLst/>
          </a:prstGeom>
          <a:noFill/>
        </p:spPr>
        <p:txBody>
          <a:bodyPr wrap="square" anchor="ctr">
            <a:spAutoFit/>
          </a:bodyPr>
          <a:lstStyle/>
          <a:p>
            <a:pPr algn="l"/>
            <a:r>
              <a:rPr sz="1300" b="1" i="0">
                <a:solidFill>
                  <a:srgbClr val="F2A541"/>
                </a:solidFill>
                <a:latin typeface="Aharoni"/>
              </a:rPr>
              <a:t>THE STRONGEST DEMO YOU CAN RUN</a:t>
            </a:r>
          </a:p>
        </p:txBody>
      </p:sp>
      <p:sp>
        <p:nvSpPr>
          <p:cNvPr id="3" name="TextBox 2"/>
          <p:cNvSpPr txBox="1"/>
          <p:nvPr/>
        </p:nvSpPr>
        <p:spPr>
          <a:xfrm>
            <a:off x="731520" y="914400"/>
            <a:ext cx="10700000" cy="822960"/>
          </a:xfrm>
          <a:prstGeom prst="rect">
            <a:avLst/>
          </a:prstGeom>
          <a:noFill/>
        </p:spPr>
        <p:txBody>
          <a:bodyPr wrap="square" anchor="ctr">
            <a:spAutoFit/>
          </a:bodyPr>
          <a:lstStyle/>
          <a:p>
            <a:pPr algn="l"/>
            <a:r>
              <a:rPr sz="3000" b="1" i="0">
                <a:solidFill>
                  <a:srgbClr val="21295C"/>
                </a:solidFill>
                <a:latin typeface="Aharoni"/>
              </a:rPr>
              <a:t>Does it use the image, or recite a common sentence?</a:t>
            </a:r>
          </a:p>
        </p:txBody>
      </p:sp>
      <p:graphicFrame>
        <p:nvGraphicFramePr>
          <p:cNvPr id="4" name="Table 3"/>
          <p:cNvGraphicFramePr>
            <a:graphicFrameLocks noGrp="1"/>
          </p:cNvGraphicFramePr>
          <p:nvPr>
            <p:extLst>
              <p:ext uri="{D42A27DB-BD31-4B8C-83A1-F6EECF244321}">
                <p14:modId xmlns:p14="http://schemas.microsoft.com/office/powerpoint/2010/main" val="1704135329"/>
              </p:ext>
            </p:extLst>
          </p:nvPr>
        </p:nvGraphicFramePr>
        <p:xfrm>
          <a:off x="731520" y="1830000"/>
          <a:ext cx="6525065" cy="1900000"/>
        </p:xfrm>
        <a:graphic>
          <a:graphicData uri="http://schemas.openxmlformats.org/drawingml/2006/table">
            <a:tbl>
              <a:tblPr firstRow="1" bandRow="1">
                <a:tableStyleId>{5C22544A-7EE6-4342-B048-85BDC9FD1C3A}</a:tableStyleId>
              </a:tblPr>
              <a:tblGrid>
                <a:gridCol w="2446593">
                  <a:extLst>
                    <a:ext uri="{9D8B030D-6E8A-4147-A177-3AD203B41FA5}">
                      <a16:colId xmlns:a16="http://schemas.microsoft.com/office/drawing/2014/main" val="20000"/>
                    </a:ext>
                  </a:extLst>
                </a:gridCol>
                <a:gridCol w="4078472">
                  <a:extLst>
                    <a:ext uri="{9D8B030D-6E8A-4147-A177-3AD203B41FA5}">
                      <a16:colId xmlns:a16="http://schemas.microsoft.com/office/drawing/2014/main" val="20001"/>
                    </a:ext>
                  </a:extLst>
                </a:gridCol>
              </a:tblGrid>
              <a:tr h="475000">
                <a:tc>
                  <a:txBody>
                    <a:bodyPr/>
                    <a:lstStyle/>
                    <a:p>
                      <a:r>
                        <a:rPr sz="1400" b="1">
                          <a:solidFill>
                            <a:srgbClr val="FFFFFF"/>
                          </a:solidFill>
                          <a:latin typeface="Aharoni"/>
                        </a:rPr>
                        <a:t>Condition</a:t>
                      </a:r>
                    </a:p>
                  </a:txBody>
                  <a:tcPr anchor="ctr">
                    <a:solidFill>
                      <a:srgbClr val="21295C"/>
                    </a:solidFill>
                  </a:tcPr>
                </a:tc>
                <a:tc>
                  <a:txBody>
                    <a:bodyPr/>
                    <a:lstStyle/>
                    <a:p>
                      <a:r>
                        <a:rPr sz="1400" b="1">
                          <a:solidFill>
                            <a:srgbClr val="FFFFFF"/>
                          </a:solidFill>
                          <a:latin typeface="Aharoni"/>
                        </a:rPr>
                        <a:t>Visual token fed to the decoder</a:t>
                      </a:r>
                    </a:p>
                  </a:txBody>
                  <a:tcPr anchor="ctr">
                    <a:solidFill>
                      <a:srgbClr val="21295C"/>
                    </a:solidFill>
                  </a:tcPr>
                </a:tc>
                <a:extLst>
                  <a:ext uri="{0D108BD9-81ED-4DB2-BD59-A6C34878D82A}">
                    <a16:rowId xmlns:a16="http://schemas.microsoft.com/office/drawing/2014/main" val="10000"/>
                  </a:ext>
                </a:extLst>
              </a:tr>
              <a:tr h="475000">
                <a:tc>
                  <a:txBody>
                    <a:bodyPr/>
                    <a:lstStyle/>
                    <a:p>
                      <a:r>
                        <a:rPr sz="1400">
                          <a:solidFill>
                            <a:srgbClr val="3A4750"/>
                          </a:solidFill>
                          <a:latin typeface="Aharoni"/>
                        </a:rPr>
                        <a:t>(a) Matched</a:t>
                      </a:r>
                    </a:p>
                  </a:txBody>
                  <a:tcPr anchor="ctr">
                    <a:solidFill>
                      <a:srgbClr val="FFFFFF"/>
                    </a:solidFill>
                  </a:tcPr>
                </a:tc>
                <a:tc>
                  <a:txBody>
                    <a:bodyPr/>
                    <a:lstStyle/>
                    <a:p>
                      <a:r>
                        <a:rPr sz="1400">
                          <a:solidFill>
                            <a:srgbClr val="3A4750"/>
                          </a:solidFill>
                          <a:latin typeface="Aharoni"/>
                        </a:rPr>
                        <a:t>this photo's real CLIP embedding</a:t>
                      </a:r>
                    </a:p>
                  </a:txBody>
                  <a:tcPr anchor="ctr">
                    <a:solidFill>
                      <a:srgbClr val="FFFFFF"/>
                    </a:solidFill>
                  </a:tcPr>
                </a:tc>
                <a:extLst>
                  <a:ext uri="{0D108BD9-81ED-4DB2-BD59-A6C34878D82A}">
                    <a16:rowId xmlns:a16="http://schemas.microsoft.com/office/drawing/2014/main" val="10001"/>
                  </a:ext>
                </a:extLst>
              </a:tr>
              <a:tr h="475000">
                <a:tc>
                  <a:txBody>
                    <a:bodyPr/>
                    <a:lstStyle/>
                    <a:p>
                      <a:r>
                        <a:rPr sz="1400">
                          <a:solidFill>
                            <a:srgbClr val="3A4750"/>
                          </a:solidFill>
                          <a:latin typeface="Aharoni"/>
                        </a:rPr>
                        <a:t>(b) Shuffled</a:t>
                      </a:r>
                    </a:p>
                  </a:txBody>
                  <a:tcPr anchor="ctr">
                    <a:solidFill>
                      <a:srgbClr val="E7E6E6"/>
                    </a:solidFill>
                  </a:tcPr>
                </a:tc>
                <a:tc>
                  <a:txBody>
                    <a:bodyPr/>
                    <a:lstStyle/>
                    <a:p>
                      <a:r>
                        <a:rPr sz="1400">
                          <a:solidFill>
                            <a:srgbClr val="3A4750"/>
                          </a:solidFill>
                          <a:latin typeface="Aharoni"/>
                        </a:rPr>
                        <a:t>a different photo's CLIP embedding</a:t>
                      </a:r>
                    </a:p>
                  </a:txBody>
                  <a:tcPr anchor="ctr">
                    <a:solidFill>
                      <a:srgbClr val="E7E6E6"/>
                    </a:solidFill>
                  </a:tcPr>
                </a:tc>
                <a:extLst>
                  <a:ext uri="{0D108BD9-81ED-4DB2-BD59-A6C34878D82A}">
                    <a16:rowId xmlns:a16="http://schemas.microsoft.com/office/drawing/2014/main" val="10002"/>
                  </a:ext>
                </a:extLst>
              </a:tr>
              <a:tr h="475000">
                <a:tc>
                  <a:txBody>
                    <a:bodyPr/>
                    <a:lstStyle/>
                    <a:p>
                      <a:r>
                        <a:rPr sz="1400">
                          <a:solidFill>
                            <a:srgbClr val="3A4750"/>
                          </a:solidFill>
                          <a:latin typeface="Aharoni"/>
                        </a:rPr>
                        <a:t>(c) Image-independent</a:t>
                      </a:r>
                    </a:p>
                  </a:txBody>
                  <a:tcPr anchor="ctr">
                    <a:solidFill>
                      <a:srgbClr val="FFFFFF"/>
                    </a:solidFill>
                  </a:tcPr>
                </a:tc>
                <a:tc>
                  <a:txBody>
                    <a:bodyPr/>
                    <a:lstStyle/>
                    <a:p>
                      <a:r>
                        <a:rPr sz="1400" dirty="0">
                          <a:solidFill>
                            <a:srgbClr val="3A4750"/>
                          </a:solidFill>
                          <a:latin typeface="Aharoni"/>
                        </a:rPr>
                        <a:t>no visual token at all</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731520" y="4000000"/>
            <a:ext cx="9601200" cy="1300000"/>
          </a:xfrm>
          <a:prstGeom prst="rect">
            <a:avLst/>
          </a:prstGeom>
          <a:noFill/>
        </p:spPr>
        <p:txBody>
          <a:bodyPr wrap="square" anchor="ctr">
            <a:spAutoFit/>
          </a:bodyPr>
          <a:lstStyle/>
          <a:p>
            <a:pPr algn="l">
              <a:lnSpc>
                <a:spcPct val="120000"/>
              </a:lnSpc>
            </a:pPr>
            <a:r>
              <a:rPr sz="1500" b="0" i="0">
                <a:solidFill>
                  <a:srgbClr val="3A4750"/>
                </a:solidFill>
                <a:latin typeface="Aharoni"/>
              </a:rPr>
              <a:t>Same decoder, same checkpoint, same decoding settings -- only the visual token changes. If (a)'s caption differs meaningfully from (b) and (c), that's evidence the model is conditioning on the actual image, not just generating a generic Flickr-style sentence.</a:t>
            </a:r>
          </a:p>
        </p:txBody>
      </p:sp>
      <p:sp>
        <p:nvSpPr>
          <p:cNvPr id="6" name="TextBox 5"/>
          <p:cNvSpPr txBox="1"/>
          <p:nvPr/>
        </p:nvSpPr>
        <p:spPr>
          <a:xfrm>
            <a:off x="11150000" y="6500000"/>
            <a:ext cx="800000" cy="274320"/>
          </a:xfrm>
          <a:prstGeom prst="rect">
            <a:avLst/>
          </a:prstGeom>
          <a:noFill/>
        </p:spPr>
        <p:txBody>
          <a:bodyPr wrap="square" anchor="ctr">
            <a:spAutoFit/>
          </a:bodyPr>
          <a:lstStyle/>
          <a:p>
            <a:pPr algn="r"/>
            <a:r>
              <a:rPr sz="1100" b="1" i="0">
                <a:solidFill>
                  <a:srgbClr val="E7E6E6"/>
                </a:solidFill>
                <a:latin typeface="Aharoni"/>
              </a:rPr>
              <a:t>18</a:t>
            </a:r>
          </a:p>
        </p:txBody>
      </p:sp>
      <p:pic>
        <p:nvPicPr>
          <p:cNvPr id="8" name="Picture 7">
            <a:extLst>
              <a:ext uri="{FF2B5EF4-FFF2-40B4-BE49-F238E27FC236}">
                <a16:creationId xmlns:a16="http://schemas.microsoft.com/office/drawing/2014/main" id="{34B49F6F-5817-8557-145D-C55FF11201FE}"/>
              </a:ext>
            </a:extLst>
          </p:cNvPr>
          <p:cNvPicPr>
            <a:picLocks noChangeAspect="1"/>
          </p:cNvPicPr>
          <p:nvPr/>
        </p:nvPicPr>
        <p:blipFill>
          <a:blip r:embed="rId2"/>
          <a:stretch>
            <a:fillRect/>
          </a:stretch>
        </p:blipFill>
        <p:spPr>
          <a:xfrm>
            <a:off x="7964658" y="1901576"/>
            <a:ext cx="2988823" cy="191284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8229600" cy="320040"/>
          </a:xfrm>
          <a:prstGeom prst="rect">
            <a:avLst/>
          </a:prstGeom>
          <a:noFill/>
        </p:spPr>
        <p:txBody>
          <a:bodyPr wrap="square" anchor="ctr">
            <a:spAutoFit/>
          </a:bodyPr>
          <a:lstStyle/>
          <a:p>
            <a:pPr algn="l"/>
            <a:r>
              <a:rPr sz="1300" b="1" i="0">
                <a:solidFill>
                  <a:srgbClr val="F2A541"/>
                </a:solidFill>
                <a:latin typeface="Aharoni"/>
              </a:rPr>
              <a:t>TAKE-HOME EXERCISES</a:t>
            </a:r>
          </a:p>
        </p:txBody>
      </p:sp>
      <p:sp>
        <p:nvSpPr>
          <p:cNvPr id="3" name="TextBox 2"/>
          <p:cNvSpPr txBox="1"/>
          <p:nvPr/>
        </p:nvSpPr>
        <p:spPr>
          <a:xfrm>
            <a:off x="731520" y="914400"/>
            <a:ext cx="10700000" cy="822960"/>
          </a:xfrm>
          <a:prstGeom prst="rect">
            <a:avLst/>
          </a:prstGeom>
          <a:noFill/>
        </p:spPr>
        <p:txBody>
          <a:bodyPr wrap="square" anchor="ctr">
            <a:spAutoFit/>
          </a:bodyPr>
          <a:lstStyle/>
          <a:p>
            <a:pPr algn="l"/>
            <a:r>
              <a:rPr sz="3000" b="1" i="0">
                <a:solidFill>
                  <a:srgbClr val="21295C"/>
                </a:solidFill>
                <a:latin typeface="Aharoni"/>
              </a:rPr>
              <a:t>Layered by year, so everyone has something to do</a:t>
            </a:r>
          </a:p>
        </p:txBody>
      </p:sp>
      <p:sp>
        <p:nvSpPr>
          <p:cNvPr id="4" name="Oval 3"/>
          <p:cNvSpPr/>
          <p:nvPr/>
        </p:nvSpPr>
        <p:spPr>
          <a:xfrm>
            <a:off x="731520" y="1830000"/>
            <a:ext cx="502920" cy="50292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896794"/>
            <a:ext cx="502920" cy="369332"/>
          </a:xfrm>
          <a:prstGeom prst="rect">
            <a:avLst/>
          </a:prstGeom>
          <a:noFill/>
        </p:spPr>
        <p:txBody>
          <a:bodyPr wrap="square" anchor="ctr">
            <a:spAutoFit/>
          </a:bodyPr>
          <a:lstStyle/>
          <a:p>
            <a:pPr algn="ctr"/>
            <a:r>
              <a:rPr lang="en-US" sz="1800" b="1" i="0" dirty="0">
                <a:solidFill>
                  <a:srgbClr val="FFFFFF"/>
                </a:solidFill>
                <a:latin typeface="Aharoni"/>
              </a:rPr>
              <a:t>2</a:t>
            </a:r>
            <a:endParaRPr sz="1800" b="1" i="0" dirty="0">
              <a:solidFill>
                <a:srgbClr val="FFFFFF"/>
              </a:solidFill>
              <a:latin typeface="Aharoni"/>
            </a:endParaRPr>
          </a:p>
        </p:txBody>
      </p:sp>
      <p:sp>
        <p:nvSpPr>
          <p:cNvPr id="6" name="TextBox 5"/>
          <p:cNvSpPr txBox="1"/>
          <p:nvPr/>
        </p:nvSpPr>
        <p:spPr>
          <a:xfrm>
            <a:off x="1463040" y="1784280"/>
            <a:ext cx="9601200" cy="411480"/>
          </a:xfrm>
          <a:prstGeom prst="rect">
            <a:avLst/>
          </a:prstGeom>
          <a:noFill/>
        </p:spPr>
        <p:txBody>
          <a:bodyPr wrap="square" anchor="ctr">
            <a:spAutoFit/>
          </a:bodyPr>
          <a:lstStyle/>
          <a:p>
            <a:pPr algn="l"/>
            <a:r>
              <a:rPr sz="1500" b="1" i="0">
                <a:solidFill>
                  <a:srgbClr val="21295C"/>
                </a:solidFill>
                <a:latin typeface="Aharoni"/>
              </a:rPr>
              <a:t>Annotate every tensor shape in tinyvlm_model.py</a:t>
            </a:r>
          </a:p>
        </p:txBody>
      </p:sp>
      <p:sp>
        <p:nvSpPr>
          <p:cNvPr id="7" name="TextBox 6"/>
          <p:cNvSpPr txBox="1"/>
          <p:nvPr/>
        </p:nvSpPr>
        <p:spPr>
          <a:xfrm>
            <a:off x="1463040" y="2195760"/>
            <a:ext cx="9601200" cy="548640"/>
          </a:xfrm>
          <a:prstGeom prst="rect">
            <a:avLst/>
          </a:prstGeom>
          <a:noFill/>
        </p:spPr>
        <p:txBody>
          <a:bodyPr wrap="square" anchor="ctr">
            <a:spAutoFit/>
          </a:bodyPr>
          <a:lstStyle/>
          <a:p>
            <a:pPr algn="l"/>
            <a:r>
              <a:rPr sz="1400" b="0" i="0">
                <a:solidFill>
                  <a:srgbClr val="3A4750"/>
                </a:solidFill>
                <a:latin typeface="Aharoni"/>
              </a:rPr>
              <a:t>and calculate iterations-per-epoch for a batch size of your choice.</a:t>
            </a:r>
          </a:p>
        </p:txBody>
      </p:sp>
      <p:sp>
        <p:nvSpPr>
          <p:cNvPr id="8" name="Oval 7"/>
          <p:cNvSpPr/>
          <p:nvPr/>
        </p:nvSpPr>
        <p:spPr>
          <a:xfrm>
            <a:off x="731520" y="2700000"/>
            <a:ext cx="502920" cy="502920"/>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Aharoni" panose="02010803020104030203" pitchFamily="2" charset="-79"/>
                <a:cs typeface="Aharoni" panose="02010803020104030203" pitchFamily="2" charset="-79"/>
              </a:rPr>
              <a:t>3</a:t>
            </a:r>
            <a:endParaRPr dirty="0">
              <a:latin typeface="Aharoni" panose="02010803020104030203" pitchFamily="2" charset="-79"/>
              <a:cs typeface="Aharoni" panose="02010803020104030203" pitchFamily="2" charset="-79"/>
            </a:endParaRPr>
          </a:p>
        </p:txBody>
      </p:sp>
      <p:sp>
        <p:nvSpPr>
          <p:cNvPr id="10" name="TextBox 9"/>
          <p:cNvSpPr txBox="1"/>
          <p:nvPr/>
        </p:nvSpPr>
        <p:spPr>
          <a:xfrm>
            <a:off x="1463040" y="2654280"/>
            <a:ext cx="9601200" cy="411480"/>
          </a:xfrm>
          <a:prstGeom prst="rect">
            <a:avLst/>
          </a:prstGeom>
          <a:noFill/>
        </p:spPr>
        <p:txBody>
          <a:bodyPr wrap="square" anchor="ctr">
            <a:spAutoFit/>
          </a:bodyPr>
          <a:lstStyle/>
          <a:p>
            <a:pPr algn="l"/>
            <a:r>
              <a:rPr sz="1500" b="1" i="0">
                <a:solidFill>
                  <a:srgbClr val="21295C"/>
                </a:solidFill>
                <a:latin typeface="Aharoni"/>
              </a:rPr>
              <a:t>Find and re-fix the two bugs this talk covered</a:t>
            </a:r>
          </a:p>
        </p:txBody>
      </p:sp>
      <p:sp>
        <p:nvSpPr>
          <p:cNvPr id="11" name="TextBox 10"/>
          <p:cNvSpPr txBox="1"/>
          <p:nvPr/>
        </p:nvSpPr>
        <p:spPr>
          <a:xfrm>
            <a:off x="1463040" y="3065760"/>
            <a:ext cx="9601200" cy="548640"/>
          </a:xfrm>
          <a:prstGeom prst="rect">
            <a:avLst/>
          </a:prstGeom>
          <a:noFill/>
        </p:spPr>
        <p:txBody>
          <a:bodyPr wrap="square" anchor="ctr">
            <a:spAutoFit/>
          </a:bodyPr>
          <a:lstStyle/>
          <a:p>
            <a:pPr algn="l"/>
            <a:r>
              <a:rPr sz="1400" b="0" i="0">
                <a:solidFill>
                  <a:srgbClr val="3A4750"/>
                </a:solidFill>
                <a:latin typeface="Aharoni"/>
              </a:rPr>
              <a:t>from a deliberately-reintroduced-bug copy of the code -- alignment and split leakage.</a:t>
            </a:r>
          </a:p>
        </p:txBody>
      </p:sp>
      <p:sp>
        <p:nvSpPr>
          <p:cNvPr id="12" name="Oval 11"/>
          <p:cNvSpPr/>
          <p:nvPr/>
        </p:nvSpPr>
        <p:spPr>
          <a:xfrm>
            <a:off x="731520" y="3570000"/>
            <a:ext cx="502920" cy="502920"/>
          </a:xfrm>
          <a:prstGeom prst="ellipse">
            <a:avLst/>
          </a:prstGeom>
          <a:solidFill>
            <a:srgbClr val="F2A5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Aharoni" panose="02010803020104030203" pitchFamily="2" charset="-79"/>
                <a:cs typeface="Aharoni" panose="02010803020104030203" pitchFamily="2" charset="-79"/>
              </a:rPr>
              <a:t>4</a:t>
            </a:r>
            <a:endParaRPr dirty="0">
              <a:latin typeface="Aharoni" panose="02010803020104030203" pitchFamily="2" charset="-79"/>
              <a:cs typeface="Aharoni" panose="02010803020104030203" pitchFamily="2" charset="-79"/>
            </a:endParaRPr>
          </a:p>
        </p:txBody>
      </p:sp>
      <p:sp>
        <p:nvSpPr>
          <p:cNvPr id="14" name="TextBox 13"/>
          <p:cNvSpPr txBox="1"/>
          <p:nvPr/>
        </p:nvSpPr>
        <p:spPr>
          <a:xfrm>
            <a:off x="1463040" y="3524280"/>
            <a:ext cx="9601200" cy="411480"/>
          </a:xfrm>
          <a:prstGeom prst="rect">
            <a:avLst/>
          </a:prstGeom>
          <a:noFill/>
        </p:spPr>
        <p:txBody>
          <a:bodyPr wrap="square" anchor="ctr">
            <a:spAutoFit/>
          </a:bodyPr>
          <a:lstStyle/>
          <a:p>
            <a:pPr algn="l"/>
            <a:r>
              <a:rPr sz="1500" b="1" i="0">
                <a:solidFill>
                  <a:srgbClr val="21295C"/>
                </a:solidFill>
                <a:latin typeface="Aharoni"/>
              </a:rPr>
              <a:t>Run one ablation from the earlier slide</a:t>
            </a:r>
          </a:p>
        </p:txBody>
      </p:sp>
      <p:sp>
        <p:nvSpPr>
          <p:cNvPr id="15" name="TextBox 14"/>
          <p:cNvSpPr txBox="1"/>
          <p:nvPr/>
        </p:nvSpPr>
        <p:spPr>
          <a:xfrm>
            <a:off x="1463040" y="3935760"/>
            <a:ext cx="9601200" cy="548640"/>
          </a:xfrm>
          <a:prstGeom prst="rect">
            <a:avLst/>
          </a:prstGeom>
          <a:noFill/>
        </p:spPr>
        <p:txBody>
          <a:bodyPr wrap="square" anchor="ctr">
            <a:spAutoFit/>
          </a:bodyPr>
          <a:lstStyle/>
          <a:p>
            <a:pPr algn="l"/>
            <a:r>
              <a:rPr sz="1400" b="0" i="0" dirty="0">
                <a:solidFill>
                  <a:srgbClr val="3A4750"/>
                </a:solidFill>
                <a:latin typeface="Aharoni"/>
              </a:rPr>
              <a:t>random vs. text-pretrained </a:t>
            </a:r>
            <a:r>
              <a:rPr sz="1400" b="0" i="0" dirty="0" err="1">
                <a:solidFill>
                  <a:srgbClr val="3A4750"/>
                </a:solidFill>
                <a:latin typeface="Aharoni"/>
              </a:rPr>
              <a:t>init</a:t>
            </a:r>
            <a:r>
              <a:rPr sz="1400" b="0" i="0" dirty="0">
                <a:solidFill>
                  <a:srgbClr val="3A4750"/>
                </a:solidFill>
                <a:latin typeface="Aharoni"/>
              </a:rPr>
              <a:t>, pooled vs. patch features, or frozen vs. trainable decoder -- bring a loss curve.</a:t>
            </a:r>
          </a:p>
        </p:txBody>
      </p:sp>
      <p:sp>
        <p:nvSpPr>
          <p:cNvPr id="16" name="TextBox 15"/>
          <p:cNvSpPr txBox="1"/>
          <p:nvPr/>
        </p:nvSpPr>
        <p:spPr>
          <a:xfrm>
            <a:off x="11150000" y="6500000"/>
            <a:ext cx="800000" cy="274320"/>
          </a:xfrm>
          <a:prstGeom prst="rect">
            <a:avLst/>
          </a:prstGeom>
          <a:noFill/>
        </p:spPr>
        <p:txBody>
          <a:bodyPr wrap="square" anchor="ctr">
            <a:spAutoFit/>
          </a:bodyPr>
          <a:lstStyle/>
          <a:p>
            <a:pPr algn="r"/>
            <a:r>
              <a:rPr sz="1100" b="1" i="0">
                <a:solidFill>
                  <a:srgbClr val="E7E6E6"/>
                </a:solidFill>
                <a:latin typeface="Aharoni"/>
              </a:rPr>
              <a:t>19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2" name="Oval 1"/>
          <p:cNvSpPr/>
          <p:nvPr/>
        </p:nvSpPr>
        <p:spPr>
          <a:xfrm>
            <a:off x="6096000" y="0"/>
            <a:ext cx="5943600" cy="5943600"/>
          </a:xfrm>
          <a:prstGeom prst="ellipse">
            <a:avLst/>
          </a:prstGeom>
          <a:solidFill>
            <a:srgbClr val="065A82">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024343" y="2651760"/>
            <a:ext cx="4114800" cy="4114800"/>
          </a:xfrm>
          <a:prstGeom prst="ellipse">
            <a:avLst/>
          </a:prstGeom>
          <a:solidFill>
            <a:srgbClr val="1C7293">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48640"/>
            <a:ext cx="8229600" cy="320040"/>
          </a:xfrm>
          <a:prstGeom prst="rect">
            <a:avLst/>
          </a:prstGeom>
          <a:noFill/>
        </p:spPr>
        <p:txBody>
          <a:bodyPr wrap="square" anchor="ctr">
            <a:spAutoFit/>
          </a:bodyPr>
          <a:lstStyle/>
          <a:p>
            <a:pPr algn="l"/>
            <a:r>
              <a:rPr sz="1300" b="1" i="0">
                <a:solidFill>
                  <a:srgbClr val="F2A541"/>
                </a:solidFill>
                <a:latin typeface="Aharoni"/>
              </a:rPr>
              <a:t>BACK TO THAT TERMINAL, ONE LAST TIME</a:t>
            </a:r>
          </a:p>
        </p:txBody>
      </p:sp>
      <p:sp>
        <p:nvSpPr>
          <p:cNvPr id="5" name="TextBox 4"/>
          <p:cNvSpPr txBox="1"/>
          <p:nvPr/>
        </p:nvSpPr>
        <p:spPr>
          <a:xfrm>
            <a:off x="731520" y="914400"/>
            <a:ext cx="9601200" cy="700000"/>
          </a:xfrm>
          <a:prstGeom prst="rect">
            <a:avLst/>
          </a:prstGeom>
          <a:noFill/>
        </p:spPr>
        <p:txBody>
          <a:bodyPr wrap="square" anchor="ctr">
            <a:spAutoFit/>
          </a:bodyPr>
          <a:lstStyle/>
          <a:p>
            <a:pPr algn="l"/>
            <a:r>
              <a:rPr sz="2800" b="1" i="0">
                <a:solidFill>
                  <a:srgbClr val="FFFFFF"/>
                </a:solidFill>
                <a:latin typeface="Aharoni"/>
              </a:rPr>
              <a:t>Is it done? Take it home and break it.</a:t>
            </a:r>
          </a:p>
        </p:txBody>
      </p:sp>
      <p:sp>
        <p:nvSpPr>
          <p:cNvPr id="6" name="Rounded Rectangle 5"/>
          <p:cNvSpPr/>
          <p:nvPr/>
        </p:nvSpPr>
        <p:spPr>
          <a:xfrm>
            <a:off x="731520" y="1900000"/>
            <a:ext cx="10628142" cy="1900000"/>
          </a:xfrm>
          <a:prstGeom prst="roundRect">
            <a:avLst>
              <a:gd name="adj" fmla="val 3000"/>
            </a:avLst>
          </a:prstGeom>
          <a:solidFill>
            <a:srgbClr val="14182E"/>
          </a:solidFill>
          <a:ln w="12700">
            <a:solidFill>
              <a:srgbClr val="1C7293"/>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r>
              <a:rPr sz="1400" dirty="0">
                <a:solidFill>
                  <a:srgbClr val="FFFFFF"/>
                </a:solidFill>
                <a:latin typeface="Consolas"/>
              </a:rPr>
              <a:t>[train] done. final checkpoint: checkpoints/</a:t>
            </a:r>
            <a:r>
              <a:rPr sz="1400" dirty="0" err="1">
                <a:solidFill>
                  <a:srgbClr val="FFFFFF"/>
                </a:solidFill>
                <a:latin typeface="Consolas"/>
              </a:rPr>
              <a:t>last.pt</a:t>
            </a:r>
            <a:endParaRPr sz="1400" dirty="0">
              <a:solidFill>
                <a:srgbClr val="FFFFFF"/>
              </a:solidFill>
              <a:latin typeface="Consolas"/>
            </a:endParaRPr>
          </a:p>
          <a:p>
            <a:r>
              <a:rPr sz="1400" dirty="0">
                <a:solidFill>
                  <a:srgbClr val="FFFFFF"/>
                </a:solidFill>
                <a:latin typeface="Consolas"/>
              </a:rPr>
              <a:t>        best </a:t>
            </a:r>
            <a:r>
              <a:rPr sz="1400" dirty="0" err="1">
                <a:solidFill>
                  <a:srgbClr val="FFFFFF"/>
                </a:solidFill>
                <a:latin typeface="Consolas"/>
              </a:rPr>
              <a:t>val_loss</a:t>
            </a:r>
            <a:r>
              <a:rPr sz="1400" dirty="0">
                <a:solidFill>
                  <a:srgbClr val="FFFFFF"/>
                </a:solidFill>
                <a:latin typeface="Consolas"/>
              </a:rPr>
              <a:t> checkpoint: checkpoints/</a:t>
            </a:r>
            <a:r>
              <a:rPr sz="1400" dirty="0" err="1">
                <a:solidFill>
                  <a:srgbClr val="FFFFFF"/>
                </a:solidFill>
                <a:latin typeface="Consolas"/>
              </a:rPr>
              <a:t>best.pt</a:t>
            </a:r>
            <a:endParaRPr sz="1400" dirty="0">
              <a:solidFill>
                <a:srgbClr val="FFFFFF"/>
              </a:solidFill>
              <a:latin typeface="Consolas"/>
            </a:endParaRPr>
          </a:p>
          <a:p>
            <a:endParaRPr sz="1400" dirty="0">
              <a:solidFill>
                <a:srgbClr val="FFFFFF"/>
              </a:solidFill>
              <a:latin typeface="Consolas"/>
            </a:endParaRPr>
          </a:p>
          <a:p>
            <a:r>
              <a:rPr sz="1400" dirty="0">
                <a:solidFill>
                  <a:srgbClr val="00B050"/>
                </a:solidFill>
                <a:latin typeface="Consolas"/>
              </a:rPr>
              <a:t>$ python</a:t>
            </a:r>
            <a:r>
              <a:rPr lang="en-US" sz="1400" dirty="0">
                <a:solidFill>
                  <a:srgbClr val="00B050"/>
                </a:solidFill>
                <a:latin typeface="Consolas"/>
              </a:rPr>
              <a:t>3</a:t>
            </a:r>
            <a:r>
              <a:rPr sz="1400" dirty="0">
                <a:solidFill>
                  <a:srgbClr val="00B050"/>
                </a:solidFill>
                <a:latin typeface="Consolas"/>
              </a:rPr>
              <a:t> </a:t>
            </a:r>
            <a:r>
              <a:rPr sz="1400" dirty="0" err="1">
                <a:solidFill>
                  <a:srgbClr val="00B050"/>
                </a:solidFill>
                <a:latin typeface="Consolas"/>
              </a:rPr>
              <a:t>trainVLM.py</a:t>
            </a:r>
            <a:r>
              <a:rPr sz="1400" dirty="0">
                <a:solidFill>
                  <a:srgbClr val="00B050"/>
                </a:solidFill>
                <a:latin typeface="Consolas"/>
              </a:rPr>
              <a:t> --config </a:t>
            </a:r>
            <a:r>
              <a:rPr sz="1400" dirty="0" err="1">
                <a:solidFill>
                  <a:srgbClr val="00B050"/>
                </a:solidFill>
                <a:latin typeface="Consolas"/>
              </a:rPr>
              <a:t>config.demo.yaml</a:t>
            </a:r>
            <a:r>
              <a:rPr sz="1400" dirty="0">
                <a:solidFill>
                  <a:srgbClr val="00B050"/>
                </a:solidFill>
                <a:latin typeface="Consolas"/>
              </a:rPr>
              <a:t> --smoke-test</a:t>
            </a:r>
          </a:p>
          <a:p>
            <a:r>
              <a:rPr sz="1400" dirty="0">
                <a:solidFill>
                  <a:srgbClr val="00B050"/>
                </a:solidFill>
                <a:latin typeface="Consolas"/>
              </a:rPr>
              <a:t>$ python</a:t>
            </a:r>
            <a:r>
              <a:rPr lang="en-US" sz="1400" dirty="0">
                <a:solidFill>
                  <a:srgbClr val="00B050"/>
                </a:solidFill>
                <a:latin typeface="Consolas"/>
              </a:rPr>
              <a:t>3</a:t>
            </a:r>
            <a:r>
              <a:rPr sz="1400" dirty="0">
                <a:solidFill>
                  <a:srgbClr val="00B050"/>
                </a:solidFill>
                <a:latin typeface="Consolas"/>
              </a:rPr>
              <a:t> </a:t>
            </a:r>
            <a:r>
              <a:rPr sz="1400" dirty="0" err="1">
                <a:solidFill>
                  <a:srgbClr val="00B050"/>
                </a:solidFill>
                <a:latin typeface="Consolas"/>
              </a:rPr>
              <a:t>inferVLM.py</a:t>
            </a:r>
            <a:r>
              <a:rPr sz="1400" dirty="0">
                <a:solidFill>
                  <a:srgbClr val="00B050"/>
                </a:solidFill>
                <a:latin typeface="Consolas"/>
              </a:rPr>
              <a:t> --config </a:t>
            </a:r>
            <a:r>
              <a:rPr sz="1400" dirty="0" err="1">
                <a:solidFill>
                  <a:srgbClr val="00B050"/>
                </a:solidFill>
                <a:latin typeface="Consolas"/>
              </a:rPr>
              <a:t>config.demo.yaml</a:t>
            </a:r>
            <a:r>
              <a:rPr sz="1400" dirty="0">
                <a:solidFill>
                  <a:srgbClr val="00B050"/>
                </a:solidFill>
                <a:latin typeface="Consolas"/>
              </a:rPr>
              <a:t> --checkpoint checkpoints/</a:t>
            </a:r>
            <a:r>
              <a:rPr sz="1400" dirty="0" err="1">
                <a:solidFill>
                  <a:srgbClr val="00B050"/>
                </a:solidFill>
                <a:latin typeface="Consolas"/>
              </a:rPr>
              <a:t>best.pt</a:t>
            </a:r>
            <a:r>
              <a:rPr sz="1400" dirty="0">
                <a:solidFill>
                  <a:srgbClr val="00B050"/>
                </a:solidFill>
                <a:latin typeface="Consolas"/>
              </a:rPr>
              <a:t> --holdout-index 0</a:t>
            </a:r>
          </a:p>
        </p:txBody>
      </p:sp>
      <p:sp>
        <p:nvSpPr>
          <p:cNvPr id="8" name="TextBox 7"/>
          <p:cNvSpPr txBox="1"/>
          <p:nvPr/>
        </p:nvSpPr>
        <p:spPr>
          <a:xfrm>
            <a:off x="11150000" y="6500000"/>
            <a:ext cx="800000" cy="274320"/>
          </a:xfrm>
          <a:prstGeom prst="rect">
            <a:avLst/>
          </a:prstGeom>
          <a:noFill/>
        </p:spPr>
        <p:txBody>
          <a:bodyPr wrap="square" anchor="ctr">
            <a:spAutoFit/>
          </a:bodyPr>
          <a:lstStyle/>
          <a:p>
            <a:pPr algn="r"/>
            <a:r>
              <a:rPr sz="1100" b="1" i="0">
                <a:solidFill>
                  <a:srgbClr val="E7E6E6"/>
                </a:solidFill>
                <a:latin typeface="Aharoni"/>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1018</TotalTime>
  <Words>2795</Words>
  <Application>Microsoft Macintosh PowerPoint</Application>
  <PresentationFormat>Widescreen</PresentationFormat>
  <Paragraphs>341</Paragraphs>
  <Slides>22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Aharoni</vt: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Subhabrata Bhattacharya</cp:lastModifiedBy>
  <cp:revision>32</cp:revision>
  <dcterms:created xsi:type="dcterms:W3CDTF">2013-01-27T09:14:16Z</dcterms:created>
  <dcterms:modified xsi:type="dcterms:W3CDTF">2026-09-12T11:28:44Z</dcterms:modified>
  <cp:category/>
</cp:coreProperties>
</file>